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6"/>
  </p:notesMasterIdLst>
  <p:sldIdLst>
    <p:sldId id="256" r:id="rId2"/>
    <p:sldId id="257" r:id="rId3"/>
    <p:sldId id="343" r:id="rId4"/>
    <p:sldId id="260" r:id="rId5"/>
    <p:sldId id="261" r:id="rId6"/>
    <p:sldId id="345" r:id="rId7"/>
    <p:sldId id="347" r:id="rId8"/>
    <p:sldId id="348" r:id="rId9"/>
    <p:sldId id="349" r:id="rId10"/>
    <p:sldId id="346" r:id="rId11"/>
    <p:sldId id="274" r:id="rId12"/>
    <p:sldId id="275" r:id="rId13"/>
    <p:sldId id="276" r:id="rId14"/>
    <p:sldId id="277" r:id="rId15"/>
    <p:sldId id="279" r:id="rId16"/>
    <p:sldId id="281" r:id="rId17"/>
    <p:sldId id="282" r:id="rId18"/>
    <p:sldId id="283" r:id="rId19"/>
    <p:sldId id="284" r:id="rId20"/>
    <p:sldId id="286" r:id="rId21"/>
    <p:sldId id="288" r:id="rId22"/>
    <p:sldId id="344" r:id="rId23"/>
    <p:sldId id="290" r:id="rId24"/>
    <p:sldId id="292" r:id="rId25"/>
    <p:sldId id="294" r:id="rId26"/>
    <p:sldId id="295" r:id="rId27"/>
    <p:sldId id="296" r:id="rId28"/>
    <p:sldId id="297" r:id="rId29"/>
    <p:sldId id="298" r:id="rId30"/>
    <p:sldId id="299" r:id="rId31"/>
    <p:sldId id="300" r:id="rId32"/>
    <p:sldId id="301" r:id="rId33"/>
    <p:sldId id="302" r:id="rId34"/>
    <p:sldId id="303" r:id="rId35"/>
    <p:sldId id="304" r:id="rId36"/>
    <p:sldId id="305" r:id="rId37"/>
    <p:sldId id="306" r:id="rId38"/>
    <p:sldId id="307" r:id="rId39"/>
    <p:sldId id="308" r:id="rId40"/>
    <p:sldId id="309" r:id="rId41"/>
    <p:sldId id="310" r:id="rId42"/>
    <p:sldId id="311" r:id="rId43"/>
    <p:sldId id="312" r:id="rId44"/>
    <p:sldId id="313" r:id="rId45"/>
    <p:sldId id="314" r:id="rId46"/>
    <p:sldId id="315" r:id="rId47"/>
    <p:sldId id="316" r:id="rId48"/>
    <p:sldId id="317" r:id="rId49"/>
    <p:sldId id="352" r:id="rId50"/>
    <p:sldId id="350" r:id="rId51"/>
    <p:sldId id="319" r:id="rId52"/>
    <p:sldId id="321" r:id="rId53"/>
    <p:sldId id="353" r:id="rId54"/>
    <p:sldId id="351" r:id="rId55"/>
    <p:sldId id="323" r:id="rId56"/>
    <p:sldId id="324" r:id="rId57"/>
    <p:sldId id="325" r:id="rId58"/>
    <p:sldId id="326" r:id="rId59"/>
    <p:sldId id="327" r:id="rId60"/>
    <p:sldId id="328" r:id="rId61"/>
    <p:sldId id="329" r:id="rId62"/>
    <p:sldId id="330" r:id="rId63"/>
    <p:sldId id="331" r:id="rId64"/>
    <p:sldId id="332" r:id="rId65"/>
    <p:sldId id="333" r:id="rId66"/>
    <p:sldId id="334" r:id="rId67"/>
    <p:sldId id="335" r:id="rId68"/>
    <p:sldId id="336" r:id="rId69"/>
    <p:sldId id="337" r:id="rId70"/>
    <p:sldId id="338" r:id="rId71"/>
    <p:sldId id="339" r:id="rId72"/>
    <p:sldId id="340" r:id="rId73"/>
    <p:sldId id="341" r:id="rId74"/>
    <p:sldId id="342" r:id="rId75"/>
  </p:sldIdLst>
  <p:sldSz cx="12192000" cy="6858000"/>
  <p:notesSz cx="6858000" cy="9144000"/>
  <p:embeddedFontLst>
    <p:embeddedFont>
      <p:font typeface="Century Gothic" panose="020B0502020202020204" pitchFamily="34" charset="0"/>
      <p:regular r:id="rId77"/>
      <p:bold r:id="rId78"/>
      <p:italic r:id="rId79"/>
      <p:boldItalic r:id="rId80"/>
    </p:embeddedFont>
    <p:embeddedFont>
      <p:font typeface="Noto Sans Symbols" panose="020B0604020202020204" charset="0"/>
      <p:regular r:id="rId81"/>
      <p:bold r:id="rId82"/>
    </p:embeddedFont>
    <p:embeddedFont>
      <p:font typeface="Constantia" panose="02030602050306030303" pitchFamily="18" charset="0"/>
      <p:regular r:id="rId83"/>
      <p:bold r:id="rId84"/>
      <p:italic r:id="rId85"/>
      <p:boldItalic r:id="rId86"/>
    </p:embeddedFont>
    <p:embeddedFont>
      <p:font typeface="Calibri" panose="020F0502020204030204" pitchFamily="34" charset="0"/>
      <p:regular r:id="rId87"/>
      <p:bold r:id="rId88"/>
      <p:italic r:id="rId89"/>
      <p:boldItalic r:id="rId90"/>
    </p:embeddedFont>
    <p:embeddedFont>
      <p:font typeface="Consolas" panose="020B0609020204030204" pitchFamily="49" charset="0"/>
      <p:regular r:id="rId91"/>
      <p:bold r:id="rId92"/>
      <p:italic r:id="rId93"/>
      <p:boldItalic r:id="rId94"/>
    </p:embeddedFont>
    <p:embeddedFont>
      <p:font typeface="Verdana" panose="020B0604030504040204" pitchFamily="34" charset="0"/>
      <p:regular r:id="rId95"/>
      <p:bold r:id="rId96"/>
      <p:italic r:id="rId97"/>
      <p:boldItalic r:id="rId98"/>
    </p:embeddedFont>
    <p:embeddedFont>
      <p:font typeface="Nunito" panose="020B0604020202020204" charset="0"/>
      <p:regular r:id="rId99"/>
      <p:bold r:id="rId100"/>
      <p:italic r:id="rId101"/>
      <p:boldItalic r:id="rId10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1" roundtripDataSignature="AMtx7mh+HvwY1YK8Lyp/HVcxb6vFrvFTV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6DCE0E3-F7EA-4585-BB5F-C700E1D9A5F3}">
  <a:tblStyle styleId="{E6DCE0E3-F7EA-4585-BB5F-C700E1D9A5F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8.fntdata"/><Relationship Id="rId89" Type="http://schemas.openxmlformats.org/officeDocument/2006/relationships/font" Target="fonts/font13.fntdata"/><Relationship Id="rId112"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3.fntdata"/><Relationship Id="rId102" Type="http://schemas.openxmlformats.org/officeDocument/2006/relationships/font" Target="fonts/font26.fntdata"/><Relationship Id="rId5" Type="http://schemas.openxmlformats.org/officeDocument/2006/relationships/slide" Target="slides/slide4.xml"/><Relationship Id="rId90" Type="http://schemas.openxmlformats.org/officeDocument/2006/relationships/font" Target="fonts/font14.fntdata"/><Relationship Id="rId95" Type="http://schemas.openxmlformats.org/officeDocument/2006/relationships/font" Target="fonts/font19.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font" Target="fonts/font4.fntdata"/><Relationship Id="rId85" Type="http://schemas.openxmlformats.org/officeDocument/2006/relationships/font" Target="fonts/font9.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font" Target="fonts/font15.fntdata"/><Relationship Id="rId96" Type="http://schemas.openxmlformats.org/officeDocument/2006/relationships/font" Target="fonts/font20.fntdata"/><Relationship Id="rId11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94" Type="http://schemas.openxmlformats.org/officeDocument/2006/relationships/font" Target="fonts/font18.fntdata"/><Relationship Id="rId99" Type="http://schemas.openxmlformats.org/officeDocument/2006/relationships/font" Target="fonts/font23.fntdata"/><Relationship Id="rId101" Type="http://schemas.openxmlformats.org/officeDocument/2006/relationships/font" Target="fonts/font2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97" Type="http://schemas.openxmlformats.org/officeDocument/2006/relationships/font" Target="fonts/font21.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1.fntdata"/><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1.fntdata"/><Relationship Id="rId100" Type="http://schemas.openxmlformats.org/officeDocument/2006/relationships/font" Target="fonts/font2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7.fntdata"/><Relationship Id="rId98" Type="http://schemas.openxmlformats.org/officeDocument/2006/relationships/font" Target="fonts/font22.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
        <p:nvSpPr>
          <p:cNvPr id="136" name="Google Shape;13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37" name="Google Shape;137;p1: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8" name="Google Shape;13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18204942e01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18204942e01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g18204942e01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
        <p:nvSpPr>
          <p:cNvPr id="277" name="Google Shape;27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78" name="Google Shape;278;p16: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9" name="Google Shape;27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
        <p:nvSpPr>
          <p:cNvPr id="288" name="Google Shape;28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89" name="Google Shape;289;p17: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0" name="Google Shape;290;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
        <p:nvSpPr>
          <p:cNvPr id="299" name="Google Shape;299;p18:notes"/>
          <p:cNvSpPr>
            <a:spLocks noGrp="1" noRot="1" noChangeAspect="1"/>
          </p:cNvSpPr>
          <p:nvPr>
            <p:ph type="sldImg" idx="2"/>
          </p:nvPr>
        </p:nvSpPr>
        <p:spPr>
          <a:xfrm>
            <a:off x="385763" y="685800"/>
            <a:ext cx="6076950" cy="341947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00" name="Google Shape;300;p18:notes"/>
          <p:cNvSpPr txBox="1">
            <a:spLocks noGrp="1"/>
          </p:cNvSpPr>
          <p:nvPr>
            <p:ph type="body" idx="1"/>
          </p:nvPr>
        </p:nvSpPr>
        <p:spPr>
          <a:xfrm>
            <a:off x="685188" y="4342868"/>
            <a:ext cx="5478429" cy="41073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
        <p:nvSpPr>
          <p:cNvPr id="305" name="Google Shape;30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06" name="Google Shape;306;p19: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7" name="Google Shape;307;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
        <p:nvSpPr>
          <p:cNvPr id="327" name="Google Shape;32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28" name="Google Shape;328;p21: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9" name="Google Shape;329;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
        <p:nvSpPr>
          <p:cNvPr id="349" name="Google Shape;34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50" name="Google Shape;350;p23: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1" name="Google Shape;351;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
        <p:nvSpPr>
          <p:cNvPr id="360" name="Google Shape;36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61" name="Google Shape;361;p24: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2" name="Google Shape;36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
        <p:nvSpPr>
          <p:cNvPr id="371" name="Google Shape;371;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72" name="Google Shape;372;p25: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3" name="Google Shape;373;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
        <p:nvSpPr>
          <p:cNvPr id="382" name="Google Shape;38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83" name="Google Shape;383;p26: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4" name="Google Shape;38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
        <p:nvSpPr>
          <p:cNvPr id="404" name="Google Shape;404;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405" name="Google Shape;405;p28: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6" name="Google Shape;406;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
        <p:nvSpPr>
          <p:cNvPr id="426" name="Google Shape;426;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427" name="Google Shape;427;p30: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28" name="Google Shape;428;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
        <p:nvSpPr>
          <p:cNvPr id="448" name="Google Shape;448;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449" name="Google Shape;449;p32: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50" name="Google Shape;450;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
        <p:nvSpPr>
          <p:cNvPr id="470" name="Google Shape;470;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471" name="Google Shape;471;p34: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2" name="Google Shape;472;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
        <p:nvSpPr>
          <p:cNvPr id="492" name="Google Shape;492;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493" name="Google Shape;493;p36: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4" name="Google Shape;494;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
        <p:nvSpPr>
          <p:cNvPr id="503" name="Google Shape;503;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04" name="Google Shape;504;p37: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5" name="Google Shape;505;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
        <p:nvSpPr>
          <p:cNvPr id="511" name="Google Shape;511;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12" name="Google Shape;512;p38: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3" name="Google Shape;513;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
        <p:nvSpPr>
          <p:cNvPr id="520" name="Google Shape;520;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21" name="Google Shape;521;p39: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22" name="Google Shape;522;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
        <p:nvSpPr>
          <p:cNvPr id="529" name="Google Shape;529;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30" name="Google Shape;530;p40: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1" name="Google Shape;531;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
        <p:nvSpPr>
          <p:cNvPr id="538" name="Google Shape;53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39" name="Google Shape;539;p41: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40" name="Google Shape;540;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
        <p:nvSpPr>
          <p:cNvPr id="547" name="Google Shape;547;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48" name="Google Shape;548;p42: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49" name="Google Shape;549;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
        <p:nvSpPr>
          <p:cNvPr id="556" name="Google Shape;556;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57" name="Google Shape;557;p43: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58" name="Google Shape;558;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
        <p:nvSpPr>
          <p:cNvPr id="565" name="Google Shape;56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66" name="Google Shape;566;p44: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67" name="Google Shape;567;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
        <p:nvSpPr>
          <p:cNvPr id="574" name="Google Shape;574;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75" name="Google Shape;575;p45: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76" name="Google Shape;576;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
        <p:nvSpPr>
          <p:cNvPr id="583" name="Google Shape;583;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84" name="Google Shape;584;p46: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85" name="Google Shape;585;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
        <p:nvSpPr>
          <p:cNvPr id="592" name="Google Shape;592;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93" name="Google Shape;593;p47: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94" name="Google Shape;594;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
        <p:nvSpPr>
          <p:cNvPr id="601" name="Google Shape;601;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02" name="Google Shape;602;p48: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03" name="Google Shape;603;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
        <p:nvSpPr>
          <p:cNvPr id="610" name="Google Shape;610;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11" name="Google Shape;611;p49: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12" name="Google Shape;612;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
        <p:nvSpPr>
          <p:cNvPr id="619" name="Google Shape;619;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20" name="Google Shape;620;p50: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21" name="Google Shape;621;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
        <p:nvSpPr>
          <p:cNvPr id="628" name="Google Shape;628;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29" name="Google Shape;629;p51: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0" name="Google Shape;630;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
        <p:nvSpPr>
          <p:cNvPr id="637" name="Google Shape;637;p52:notes"/>
          <p:cNvSpPr>
            <a:spLocks noGrp="1" noRot="1" noChangeAspect="1"/>
          </p:cNvSpPr>
          <p:nvPr>
            <p:ph type="sldImg" idx="2"/>
          </p:nvPr>
        </p:nvSpPr>
        <p:spPr>
          <a:xfrm>
            <a:off x="385763" y="685800"/>
            <a:ext cx="6076950" cy="341947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38" name="Google Shape;638;p52:notes"/>
          <p:cNvSpPr txBox="1">
            <a:spLocks noGrp="1"/>
          </p:cNvSpPr>
          <p:nvPr>
            <p:ph type="body" idx="1"/>
          </p:nvPr>
        </p:nvSpPr>
        <p:spPr>
          <a:xfrm>
            <a:off x="685188" y="4342868"/>
            <a:ext cx="5478429" cy="41073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
        <p:nvSpPr>
          <p:cNvPr id="643" name="Google Shape;643;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44" name="Google Shape;644;p53: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5" name="Google Shape;645;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43</a:t>
            </a:fld>
            <a:endParaRPr/>
          </a:p>
        </p:txBody>
      </p:sp>
      <p:sp>
        <p:nvSpPr>
          <p:cNvPr id="654" name="Google Shape;654;p54:notes"/>
          <p:cNvSpPr>
            <a:spLocks noGrp="1" noRot="1" noChangeAspect="1"/>
          </p:cNvSpPr>
          <p:nvPr>
            <p:ph type="sldImg" idx="2"/>
          </p:nvPr>
        </p:nvSpPr>
        <p:spPr>
          <a:xfrm>
            <a:off x="385763" y="685800"/>
            <a:ext cx="6076950" cy="341947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55" name="Google Shape;655;p54:notes"/>
          <p:cNvSpPr txBox="1">
            <a:spLocks noGrp="1"/>
          </p:cNvSpPr>
          <p:nvPr>
            <p:ph type="body" idx="1"/>
          </p:nvPr>
        </p:nvSpPr>
        <p:spPr>
          <a:xfrm>
            <a:off x="685188" y="4342868"/>
            <a:ext cx="5478429" cy="41073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44</a:t>
            </a:fld>
            <a:endParaRPr/>
          </a:p>
        </p:txBody>
      </p:sp>
      <p:sp>
        <p:nvSpPr>
          <p:cNvPr id="660" name="Google Shape;660;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61" name="Google Shape;661;p55: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62" name="Google Shape;662;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45</a:t>
            </a:fld>
            <a:endParaRPr/>
          </a:p>
        </p:txBody>
      </p:sp>
      <p:sp>
        <p:nvSpPr>
          <p:cNvPr id="669" name="Google Shape;669;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70" name="Google Shape;670;p56: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1" name="Google Shape;671;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46</a:t>
            </a:fld>
            <a:endParaRPr/>
          </a:p>
        </p:txBody>
      </p:sp>
      <p:sp>
        <p:nvSpPr>
          <p:cNvPr id="678" name="Google Shape;678;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79" name="Google Shape;679;p57: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80" name="Google Shape;680;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47</a:t>
            </a:fld>
            <a:endParaRPr/>
          </a:p>
        </p:txBody>
      </p:sp>
      <p:sp>
        <p:nvSpPr>
          <p:cNvPr id="689" name="Google Shape;689;p58:notes"/>
          <p:cNvSpPr>
            <a:spLocks noGrp="1" noRot="1" noChangeAspect="1"/>
          </p:cNvSpPr>
          <p:nvPr>
            <p:ph type="sldImg" idx="2"/>
          </p:nvPr>
        </p:nvSpPr>
        <p:spPr>
          <a:xfrm>
            <a:off x="385763" y="685800"/>
            <a:ext cx="6076950" cy="341947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90" name="Google Shape;690;p58:notes"/>
          <p:cNvSpPr txBox="1">
            <a:spLocks noGrp="1"/>
          </p:cNvSpPr>
          <p:nvPr>
            <p:ph type="body" idx="1"/>
          </p:nvPr>
        </p:nvSpPr>
        <p:spPr>
          <a:xfrm>
            <a:off x="685188" y="4342868"/>
            <a:ext cx="5478429" cy="41073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48</a:t>
            </a:fld>
            <a:endParaRPr/>
          </a:p>
        </p:txBody>
      </p:sp>
      <p:sp>
        <p:nvSpPr>
          <p:cNvPr id="695" name="Google Shape;695;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96" name="Google Shape;696;p59: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97" name="Google Shape;697;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51</a:t>
            </a:fld>
            <a:endParaRPr/>
          </a:p>
        </p:txBody>
      </p:sp>
      <p:sp>
        <p:nvSpPr>
          <p:cNvPr id="713" name="Google Shape;713;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714" name="Google Shape;714;p61: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15" name="Google Shape;715;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52</a:t>
            </a:fld>
            <a:endParaRPr/>
          </a:p>
        </p:txBody>
      </p:sp>
      <p:sp>
        <p:nvSpPr>
          <p:cNvPr id="733" name="Google Shape;733;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734" name="Google Shape;734;p63: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35" name="Google Shape;735;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6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55</a:t>
            </a:fld>
            <a:endParaRPr/>
          </a:p>
        </p:txBody>
      </p:sp>
      <p:sp>
        <p:nvSpPr>
          <p:cNvPr id="751" name="Google Shape;751;p65:notes"/>
          <p:cNvSpPr>
            <a:spLocks noGrp="1" noRot="1" noChangeAspect="1"/>
          </p:cNvSpPr>
          <p:nvPr>
            <p:ph type="sldImg" idx="2"/>
          </p:nvPr>
        </p:nvSpPr>
        <p:spPr>
          <a:xfrm>
            <a:off x="385763" y="685800"/>
            <a:ext cx="6076950" cy="341947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752" name="Google Shape;752;p65:notes"/>
          <p:cNvSpPr txBox="1">
            <a:spLocks noGrp="1"/>
          </p:cNvSpPr>
          <p:nvPr>
            <p:ph type="body" idx="1"/>
          </p:nvPr>
        </p:nvSpPr>
        <p:spPr>
          <a:xfrm>
            <a:off x="685188" y="4342868"/>
            <a:ext cx="5478429" cy="410735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6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56</a:t>
            </a:fld>
            <a:endParaRPr/>
          </a:p>
        </p:txBody>
      </p:sp>
      <p:sp>
        <p:nvSpPr>
          <p:cNvPr id="757" name="Google Shape;757;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758" name="Google Shape;758;p66: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59" name="Google Shape;759;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p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57</a:t>
            </a:fld>
            <a:endParaRPr/>
          </a:p>
        </p:txBody>
      </p:sp>
      <p:sp>
        <p:nvSpPr>
          <p:cNvPr id="766" name="Google Shape;766;p67:notes"/>
          <p:cNvSpPr>
            <a:spLocks noGrp="1" noRot="1" noChangeAspect="1"/>
          </p:cNvSpPr>
          <p:nvPr>
            <p:ph type="sldImg" idx="2"/>
          </p:nvPr>
        </p:nvSpPr>
        <p:spPr>
          <a:xfrm>
            <a:off x="385763" y="685800"/>
            <a:ext cx="6076950" cy="341947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767" name="Google Shape;767;p67:notes"/>
          <p:cNvSpPr txBox="1"/>
          <p:nvPr/>
        </p:nvSpPr>
        <p:spPr>
          <a:xfrm>
            <a:off x="685188" y="4342868"/>
            <a:ext cx="5478429" cy="4107351"/>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8" name="Google Shape;768;p67:notes"/>
          <p:cNvSpPr txBox="1"/>
          <p:nvPr/>
        </p:nvSpPr>
        <p:spPr>
          <a:xfrm>
            <a:off x="3884258" y="8684317"/>
            <a:ext cx="2963012" cy="448333"/>
          </a:xfrm>
          <a:prstGeom prst="rect">
            <a:avLst/>
          </a:prstGeom>
          <a:noFill/>
          <a:ln>
            <a:noFill/>
          </a:ln>
        </p:spPr>
        <p:txBody>
          <a:bodyPr spcFirstLastPara="1" wrap="square" lIns="91375" tIns="45850" rIns="91375" bIns="458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57</a:t>
            </a:fld>
            <a:endParaRPr sz="1200" b="0" i="0" u="none" strike="noStrike" cap="none">
              <a:solidFill>
                <a:srgbClr val="000000"/>
              </a:solidFill>
              <a:latin typeface="Calibri"/>
              <a:ea typeface="Calibri"/>
              <a:cs typeface="Calibri"/>
              <a:sym typeface="Calibri"/>
            </a:endParaRPr>
          </a:p>
        </p:txBody>
      </p:sp>
      <p:sp>
        <p:nvSpPr>
          <p:cNvPr id="769" name="Google Shape;769;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6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58</a:t>
            </a:fld>
            <a:endParaRPr/>
          </a:p>
        </p:txBody>
      </p:sp>
      <p:sp>
        <p:nvSpPr>
          <p:cNvPr id="777" name="Google Shape;777;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778" name="Google Shape;778;p68: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79" name="Google Shape;779;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6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59</a:t>
            </a:fld>
            <a:endParaRPr/>
          </a:p>
        </p:txBody>
      </p:sp>
      <p:sp>
        <p:nvSpPr>
          <p:cNvPr id="786" name="Google Shape;786;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787" name="Google Shape;787;p69: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88" name="Google Shape;788;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p7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60</a:t>
            </a:fld>
            <a:endParaRPr/>
          </a:p>
        </p:txBody>
      </p:sp>
      <p:sp>
        <p:nvSpPr>
          <p:cNvPr id="795" name="Google Shape;795;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796" name="Google Shape;796;p70: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97" name="Google Shape;797;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7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61</a:t>
            </a:fld>
            <a:endParaRPr/>
          </a:p>
        </p:txBody>
      </p:sp>
      <p:sp>
        <p:nvSpPr>
          <p:cNvPr id="804" name="Google Shape;804;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805" name="Google Shape;805;p71: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06" name="Google Shape;806;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7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62</a:t>
            </a:fld>
            <a:endParaRPr/>
          </a:p>
        </p:txBody>
      </p:sp>
      <p:sp>
        <p:nvSpPr>
          <p:cNvPr id="813" name="Google Shape;813;p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814" name="Google Shape;814;p72: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5" name="Google Shape;815;p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7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63</a:t>
            </a:fld>
            <a:endParaRPr/>
          </a:p>
        </p:txBody>
      </p:sp>
      <p:sp>
        <p:nvSpPr>
          <p:cNvPr id="822" name="Google Shape;822;p73:notes"/>
          <p:cNvSpPr>
            <a:spLocks noGrp="1" noRot="1" noChangeAspect="1"/>
          </p:cNvSpPr>
          <p:nvPr>
            <p:ph type="sldImg" idx="2"/>
          </p:nvPr>
        </p:nvSpPr>
        <p:spPr>
          <a:xfrm>
            <a:off x="385763" y="685800"/>
            <a:ext cx="6076950" cy="341947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823" name="Google Shape;823;p73:notes"/>
          <p:cNvSpPr txBox="1"/>
          <p:nvPr/>
        </p:nvSpPr>
        <p:spPr>
          <a:xfrm>
            <a:off x="685188" y="4342868"/>
            <a:ext cx="5478429" cy="4107351"/>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24" name="Google Shape;824;p73:notes"/>
          <p:cNvSpPr txBox="1"/>
          <p:nvPr/>
        </p:nvSpPr>
        <p:spPr>
          <a:xfrm>
            <a:off x="3884258" y="8684317"/>
            <a:ext cx="2963012" cy="448333"/>
          </a:xfrm>
          <a:prstGeom prst="rect">
            <a:avLst/>
          </a:prstGeom>
          <a:noFill/>
          <a:ln>
            <a:noFill/>
          </a:ln>
        </p:spPr>
        <p:txBody>
          <a:bodyPr spcFirstLastPara="1" wrap="square" lIns="91375" tIns="45850" rIns="91375" bIns="4585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63</a:t>
            </a:fld>
            <a:endParaRPr sz="1200" b="0" i="0" u="none" strike="noStrike" cap="none">
              <a:solidFill>
                <a:srgbClr val="000000"/>
              </a:solidFill>
              <a:latin typeface="Calibri"/>
              <a:ea typeface="Calibri"/>
              <a:cs typeface="Calibri"/>
              <a:sym typeface="Calibri"/>
            </a:endParaRPr>
          </a:p>
        </p:txBody>
      </p:sp>
      <p:sp>
        <p:nvSpPr>
          <p:cNvPr id="825" name="Google Shape;825;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0277cbed0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0277cbed0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0277cbed0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64</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20277cbed06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9" name="Google Shape;839;g20277cbed06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0" name="Google Shape;840;g20277cbed06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65</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20277cbed06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5" name="Google Shape;845;g20277cbed06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6" name="Google Shape;846;g20277cbed06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66</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1f26eaa0d76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1" name="Google Shape;851;g1f26eaa0d76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2" name="Google Shape;852;g1f26eaa0d76_0_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67</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20c27cafcce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7" name="Google Shape;857;g20c27cafcce_0_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8" name="Google Shape;858;g20c27cafcce_0_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68</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0c27cafcce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20c27cafcce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4" name="Google Shape;864;g20c27cafcce_0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69</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1f26eaa0d76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1" name="Google Shape;871;g1f26eaa0d76_0_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2" name="Google Shape;872;g1f26eaa0d76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70</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1f26eaa0d76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7" name="Google Shape;877;g1f26eaa0d76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8" name="Google Shape;878;g1f26eaa0d76_0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71</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0f3346b9df_0_7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5" name="Google Shape;885;g20f3346b9df_0_78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6" name="Google Shape;886;g20f3346b9df_0_78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72</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20fbd10533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1" name="Google Shape;891;g20fbd105335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2" name="Google Shape;892;g20fbd105335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73</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7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74</a:t>
            </a:fld>
            <a:endParaRPr/>
          </a:p>
        </p:txBody>
      </p:sp>
      <p:sp>
        <p:nvSpPr>
          <p:cNvPr id="897" name="Google Shape;897;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898" name="Google Shape;898;p74:notes"/>
          <p:cNvSpPr txBox="1"/>
          <p:nvPr/>
        </p:nvSpPr>
        <p:spPr>
          <a:xfrm>
            <a:off x="685187" y="4342869"/>
            <a:ext cx="5487626" cy="4115863"/>
          </a:xfrm>
          <a:prstGeom prst="rect">
            <a:avLst/>
          </a:prstGeom>
          <a:noFill/>
          <a:ln>
            <a:noFill/>
          </a:ln>
        </p:spPr>
        <p:txBody>
          <a:bodyPr spcFirstLastPara="1" wrap="square" lIns="84400" tIns="42200" rIns="84400" bIns="422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99" name="Google Shape;899;p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13"/>
        <p:cNvGrpSpPr/>
        <p:nvPr/>
      </p:nvGrpSpPr>
      <p:grpSpPr>
        <a:xfrm>
          <a:off x="0" y="0"/>
          <a:ext cx="0" cy="0"/>
          <a:chOff x="0" y="0"/>
          <a:chExt cx="0" cy="0"/>
        </a:xfrm>
      </p:grpSpPr>
      <p:sp>
        <p:nvSpPr>
          <p:cNvPr id="14" name="Google Shape;14;g20f3346b9df_0_653"/>
          <p:cNvSpPr/>
          <p:nvPr/>
        </p:nvSpPr>
        <p:spPr>
          <a:xfrm>
            <a:off x="41" y="3766000"/>
            <a:ext cx="9827100" cy="30921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5" name="Google Shape;15;g20f3346b9df_0_653"/>
          <p:cNvSpPr/>
          <p:nvPr/>
        </p:nvSpPr>
        <p:spPr>
          <a:xfrm flipH="1">
            <a:off x="4776900" y="2067600"/>
            <a:ext cx="7415100" cy="4790400"/>
          </a:xfrm>
          <a:prstGeom prst="rtTriangl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 name="Google Shape;16;g20f3346b9df_0_653"/>
          <p:cNvSpPr/>
          <p:nvPr/>
        </p:nvSpPr>
        <p:spPr>
          <a:xfrm rot="10800000">
            <a:off x="6745206" y="-100"/>
            <a:ext cx="5446800" cy="2736900"/>
          </a:xfrm>
          <a:prstGeom prst="rtTriangl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 name="Google Shape;17;g20f3346b9df_0_653"/>
          <p:cNvSpPr/>
          <p:nvPr/>
        </p:nvSpPr>
        <p:spPr>
          <a:xfrm>
            <a:off x="271033" y="275000"/>
            <a:ext cx="116499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18" name="Google Shape;18;g20f3346b9df_0_653"/>
          <p:cNvGrpSpPr/>
          <p:nvPr/>
        </p:nvGrpSpPr>
        <p:grpSpPr>
          <a:xfrm>
            <a:off x="340259" y="790"/>
            <a:ext cx="3000409" cy="1392365"/>
            <a:chOff x="255200" y="592"/>
            <a:chExt cx="2250363" cy="1044300"/>
          </a:xfrm>
        </p:grpSpPr>
        <p:sp>
          <p:nvSpPr>
            <p:cNvPr id="19" name="Google Shape;19;g20f3346b9df_0_653"/>
            <p:cNvSpPr/>
            <p:nvPr/>
          </p:nvSpPr>
          <p:spPr>
            <a:xfrm>
              <a:off x="764063" y="592"/>
              <a:ext cx="1741500" cy="1044300"/>
            </a:xfrm>
            <a:prstGeom prst="parallelogram">
              <a:avLst>
                <a:gd name="adj" fmla="val 153193"/>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0" name="Google Shape;20;g20f3346b9df_0_653"/>
            <p:cNvSpPr/>
            <p:nvPr/>
          </p:nvSpPr>
          <p:spPr>
            <a:xfrm>
              <a:off x="509632" y="592"/>
              <a:ext cx="1741500" cy="1044300"/>
            </a:xfrm>
            <a:prstGeom prst="parallelogram">
              <a:avLst>
                <a:gd name="adj" fmla="val 153193"/>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1" name="Google Shape;21;g20f3346b9df_0_653"/>
            <p:cNvSpPr/>
            <p:nvPr/>
          </p:nvSpPr>
          <p:spPr>
            <a:xfrm>
              <a:off x="255200" y="592"/>
              <a:ext cx="1741500" cy="1044300"/>
            </a:xfrm>
            <a:prstGeom prst="parallelogram">
              <a:avLst>
                <a:gd name="adj" fmla="val 153193"/>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2" name="Google Shape;22;g20f3346b9df_0_653"/>
          <p:cNvGrpSpPr/>
          <p:nvPr/>
        </p:nvGrpSpPr>
        <p:grpSpPr>
          <a:xfrm>
            <a:off x="1207163" y="790"/>
            <a:ext cx="3000409" cy="1392365"/>
            <a:chOff x="905395" y="592"/>
            <a:chExt cx="2250363" cy="1044300"/>
          </a:xfrm>
        </p:grpSpPr>
        <p:sp>
          <p:nvSpPr>
            <p:cNvPr id="23" name="Google Shape;23;g20f3346b9df_0_653"/>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 name="Google Shape;24;g20f3346b9df_0_653"/>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 name="Google Shape;25;g20f3346b9df_0_653"/>
            <p:cNvSpPr/>
            <p:nvPr/>
          </p:nvSpPr>
          <p:spPr>
            <a:xfrm>
              <a:off x="905395" y="592"/>
              <a:ext cx="1741500" cy="1044300"/>
            </a:xfrm>
            <a:prstGeom prst="parallelogram">
              <a:avLst>
                <a:gd name="adj" fmla="val 153193"/>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6" name="Google Shape;26;g20f3346b9df_0_653"/>
          <p:cNvGrpSpPr/>
          <p:nvPr/>
        </p:nvGrpSpPr>
        <p:grpSpPr>
          <a:xfrm>
            <a:off x="9409957" y="6784"/>
            <a:ext cx="2468376" cy="1002839"/>
            <a:chOff x="6917201" y="0"/>
            <a:chExt cx="2227777" cy="863400"/>
          </a:xfrm>
        </p:grpSpPr>
        <p:sp>
          <p:nvSpPr>
            <p:cNvPr id="27" name="Google Shape;27;g20f3346b9df_0_653"/>
            <p:cNvSpPr/>
            <p:nvPr/>
          </p:nvSpPr>
          <p:spPr>
            <a:xfrm>
              <a:off x="7641677"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8" name="Google Shape;28;g20f3346b9df_0_653"/>
            <p:cNvSpPr/>
            <p:nvPr/>
          </p:nvSpPr>
          <p:spPr>
            <a:xfrm>
              <a:off x="7279439"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9" name="Google Shape;29;g20f3346b9df_0_653"/>
            <p:cNvSpPr/>
            <p:nvPr/>
          </p:nvSpPr>
          <p:spPr>
            <a:xfrm>
              <a:off x="6917201"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30" name="Google Shape;30;g20f3346b9df_0_653"/>
          <p:cNvGrpSpPr/>
          <p:nvPr/>
        </p:nvGrpSpPr>
        <p:grpSpPr>
          <a:xfrm>
            <a:off x="8737606" y="5623802"/>
            <a:ext cx="3185498" cy="1234317"/>
            <a:chOff x="6917201" y="0"/>
            <a:chExt cx="2227777" cy="863400"/>
          </a:xfrm>
        </p:grpSpPr>
        <p:sp>
          <p:nvSpPr>
            <p:cNvPr id="31" name="Google Shape;31;g20f3346b9df_0_653"/>
            <p:cNvSpPr/>
            <p:nvPr/>
          </p:nvSpPr>
          <p:spPr>
            <a:xfrm>
              <a:off x="7641677" y="0"/>
              <a:ext cx="1503300" cy="863400"/>
            </a:xfrm>
            <a:prstGeom prst="parallelogram">
              <a:avLst>
                <a:gd name="adj" fmla="val 158024"/>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2" name="Google Shape;32;g20f3346b9df_0_653"/>
            <p:cNvSpPr/>
            <p:nvPr/>
          </p:nvSpPr>
          <p:spPr>
            <a:xfrm>
              <a:off x="7279439" y="0"/>
              <a:ext cx="1503300" cy="863400"/>
            </a:xfrm>
            <a:prstGeom prst="parallelogram">
              <a:avLst>
                <a:gd name="adj" fmla="val 158024"/>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3" name="Google Shape;33;g20f3346b9df_0_653"/>
            <p:cNvSpPr/>
            <p:nvPr/>
          </p:nvSpPr>
          <p:spPr>
            <a:xfrm>
              <a:off x="6917201" y="0"/>
              <a:ext cx="1503300" cy="863400"/>
            </a:xfrm>
            <a:prstGeom prst="parallelogram">
              <a:avLst>
                <a:gd name="adj" fmla="val 158024"/>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34" name="Google Shape;34;g20f3346b9df_0_653"/>
          <p:cNvGrpSpPr/>
          <p:nvPr/>
        </p:nvGrpSpPr>
        <p:grpSpPr>
          <a:xfrm>
            <a:off x="265762" y="5407536"/>
            <a:ext cx="3727293" cy="1444382"/>
            <a:chOff x="6917201" y="0"/>
            <a:chExt cx="2227777" cy="863400"/>
          </a:xfrm>
        </p:grpSpPr>
        <p:sp>
          <p:nvSpPr>
            <p:cNvPr id="35" name="Google Shape;35;g20f3346b9df_0_653"/>
            <p:cNvSpPr/>
            <p:nvPr/>
          </p:nvSpPr>
          <p:spPr>
            <a:xfrm>
              <a:off x="7641677" y="0"/>
              <a:ext cx="1503300" cy="863400"/>
            </a:xfrm>
            <a:prstGeom prst="parallelogram">
              <a:avLst>
                <a:gd name="adj" fmla="val 158024"/>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6" name="Google Shape;36;g20f3346b9df_0_653"/>
            <p:cNvSpPr/>
            <p:nvPr/>
          </p:nvSpPr>
          <p:spPr>
            <a:xfrm>
              <a:off x="7279439" y="0"/>
              <a:ext cx="1503300" cy="863400"/>
            </a:xfrm>
            <a:prstGeom prst="parallelogram">
              <a:avLst>
                <a:gd name="adj" fmla="val 158024"/>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7" name="Google Shape;37;g20f3346b9df_0_653"/>
            <p:cNvSpPr/>
            <p:nvPr/>
          </p:nvSpPr>
          <p:spPr>
            <a:xfrm>
              <a:off x="6917201" y="0"/>
              <a:ext cx="1503300" cy="863400"/>
            </a:xfrm>
            <a:prstGeom prst="parallelogram">
              <a:avLst>
                <a:gd name="adj" fmla="val 158024"/>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38" name="Google Shape;38;g20f3346b9df_0_653"/>
          <p:cNvSpPr txBox="1">
            <a:spLocks noGrp="1"/>
          </p:cNvSpPr>
          <p:nvPr>
            <p:ph type="ctrTitle"/>
          </p:nvPr>
        </p:nvSpPr>
        <p:spPr>
          <a:xfrm>
            <a:off x="2478271" y="2430444"/>
            <a:ext cx="7148400" cy="1930800"/>
          </a:xfrm>
          <a:prstGeom prst="rect">
            <a:avLst/>
          </a:prstGeom>
        </p:spPr>
        <p:txBody>
          <a:bodyPr spcFirstLastPara="1" wrap="square" lIns="121900" tIns="121900" rIns="121900" bIns="121900" anchor="ctr" anchorCtr="0">
            <a:normAutofit/>
          </a:bodyPr>
          <a:lstStyle>
            <a:lvl1pPr lvl="0" algn="ctr">
              <a:spcBef>
                <a:spcPts val="0"/>
              </a:spcBef>
              <a:spcAft>
                <a:spcPts val="0"/>
              </a:spcAft>
              <a:buSzPts val="5100"/>
              <a:buNone/>
              <a:defRPr sz="5100"/>
            </a:lvl1pPr>
            <a:lvl2pPr lvl="1" algn="ctr">
              <a:spcBef>
                <a:spcPts val="0"/>
              </a:spcBef>
              <a:spcAft>
                <a:spcPts val="0"/>
              </a:spcAft>
              <a:buSzPts val="5100"/>
              <a:buNone/>
              <a:defRPr sz="5100"/>
            </a:lvl2pPr>
            <a:lvl3pPr lvl="2" algn="ctr">
              <a:spcBef>
                <a:spcPts val="0"/>
              </a:spcBef>
              <a:spcAft>
                <a:spcPts val="0"/>
              </a:spcAft>
              <a:buSzPts val="5100"/>
              <a:buNone/>
              <a:defRPr sz="5100"/>
            </a:lvl3pPr>
            <a:lvl4pPr lvl="3" algn="ctr">
              <a:spcBef>
                <a:spcPts val="0"/>
              </a:spcBef>
              <a:spcAft>
                <a:spcPts val="0"/>
              </a:spcAft>
              <a:buSzPts val="5100"/>
              <a:buNone/>
              <a:defRPr sz="5100"/>
            </a:lvl4pPr>
            <a:lvl5pPr lvl="4" algn="ctr">
              <a:spcBef>
                <a:spcPts val="0"/>
              </a:spcBef>
              <a:spcAft>
                <a:spcPts val="0"/>
              </a:spcAft>
              <a:buSzPts val="5100"/>
              <a:buNone/>
              <a:defRPr sz="5100"/>
            </a:lvl5pPr>
            <a:lvl6pPr lvl="5" algn="ctr">
              <a:spcBef>
                <a:spcPts val="0"/>
              </a:spcBef>
              <a:spcAft>
                <a:spcPts val="0"/>
              </a:spcAft>
              <a:buSzPts val="5100"/>
              <a:buNone/>
              <a:defRPr sz="5100"/>
            </a:lvl6pPr>
            <a:lvl7pPr lvl="6" algn="ctr">
              <a:spcBef>
                <a:spcPts val="0"/>
              </a:spcBef>
              <a:spcAft>
                <a:spcPts val="0"/>
              </a:spcAft>
              <a:buSzPts val="5100"/>
              <a:buNone/>
              <a:defRPr sz="5100"/>
            </a:lvl7pPr>
            <a:lvl8pPr lvl="7" algn="ctr">
              <a:spcBef>
                <a:spcPts val="0"/>
              </a:spcBef>
              <a:spcAft>
                <a:spcPts val="0"/>
              </a:spcAft>
              <a:buSzPts val="5100"/>
              <a:buNone/>
              <a:defRPr sz="5100"/>
            </a:lvl8pPr>
            <a:lvl9pPr lvl="8" algn="ctr">
              <a:spcBef>
                <a:spcPts val="0"/>
              </a:spcBef>
              <a:spcAft>
                <a:spcPts val="0"/>
              </a:spcAft>
              <a:buSzPts val="5100"/>
              <a:buNone/>
              <a:defRPr sz="5100"/>
            </a:lvl9pPr>
          </a:lstStyle>
          <a:p>
            <a:endParaRPr/>
          </a:p>
        </p:txBody>
      </p:sp>
      <p:sp>
        <p:nvSpPr>
          <p:cNvPr id="39" name="Google Shape;39;g20f3346b9df_0_653"/>
          <p:cNvSpPr txBox="1">
            <a:spLocks noGrp="1"/>
          </p:cNvSpPr>
          <p:nvPr>
            <p:ph type="subTitle" idx="1"/>
          </p:nvPr>
        </p:nvSpPr>
        <p:spPr>
          <a:xfrm>
            <a:off x="2478267" y="4550878"/>
            <a:ext cx="7148400" cy="6969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Clr>
                <a:schemeClr val="lt1"/>
              </a:buClr>
              <a:buSzPts val="2100"/>
              <a:buNone/>
              <a:defRPr sz="2100">
                <a:solidFill>
                  <a:schemeClr val="lt1"/>
                </a:solidFill>
              </a:defRPr>
            </a:lvl2pPr>
            <a:lvl3pPr lvl="2" algn="ctr">
              <a:lnSpc>
                <a:spcPct val="100000"/>
              </a:lnSpc>
              <a:spcBef>
                <a:spcPts val="0"/>
              </a:spcBef>
              <a:spcAft>
                <a:spcPts val="0"/>
              </a:spcAft>
              <a:buClr>
                <a:schemeClr val="lt1"/>
              </a:buClr>
              <a:buSzPts val="2100"/>
              <a:buNone/>
              <a:defRPr sz="2100">
                <a:solidFill>
                  <a:schemeClr val="lt1"/>
                </a:solidFill>
              </a:defRPr>
            </a:lvl3pPr>
            <a:lvl4pPr lvl="3" algn="ctr">
              <a:lnSpc>
                <a:spcPct val="100000"/>
              </a:lnSpc>
              <a:spcBef>
                <a:spcPts val="0"/>
              </a:spcBef>
              <a:spcAft>
                <a:spcPts val="0"/>
              </a:spcAft>
              <a:buClr>
                <a:schemeClr val="lt1"/>
              </a:buClr>
              <a:buSzPts val="2100"/>
              <a:buNone/>
              <a:defRPr sz="2100">
                <a:solidFill>
                  <a:schemeClr val="lt1"/>
                </a:solidFill>
              </a:defRPr>
            </a:lvl4pPr>
            <a:lvl5pPr lvl="4" algn="ctr">
              <a:lnSpc>
                <a:spcPct val="100000"/>
              </a:lnSpc>
              <a:spcBef>
                <a:spcPts val="0"/>
              </a:spcBef>
              <a:spcAft>
                <a:spcPts val="0"/>
              </a:spcAft>
              <a:buClr>
                <a:schemeClr val="lt1"/>
              </a:buClr>
              <a:buSzPts val="2100"/>
              <a:buNone/>
              <a:defRPr sz="2100">
                <a:solidFill>
                  <a:schemeClr val="lt1"/>
                </a:solidFill>
              </a:defRPr>
            </a:lvl5pPr>
            <a:lvl6pPr lvl="5" algn="ctr">
              <a:lnSpc>
                <a:spcPct val="100000"/>
              </a:lnSpc>
              <a:spcBef>
                <a:spcPts val="0"/>
              </a:spcBef>
              <a:spcAft>
                <a:spcPts val="0"/>
              </a:spcAft>
              <a:buClr>
                <a:schemeClr val="lt1"/>
              </a:buClr>
              <a:buSzPts val="2100"/>
              <a:buNone/>
              <a:defRPr sz="2100">
                <a:solidFill>
                  <a:schemeClr val="lt1"/>
                </a:solidFill>
              </a:defRPr>
            </a:lvl6pPr>
            <a:lvl7pPr lvl="6" algn="ctr">
              <a:lnSpc>
                <a:spcPct val="100000"/>
              </a:lnSpc>
              <a:spcBef>
                <a:spcPts val="0"/>
              </a:spcBef>
              <a:spcAft>
                <a:spcPts val="0"/>
              </a:spcAft>
              <a:buClr>
                <a:schemeClr val="lt1"/>
              </a:buClr>
              <a:buSzPts val="2100"/>
              <a:buNone/>
              <a:defRPr sz="2100">
                <a:solidFill>
                  <a:schemeClr val="lt1"/>
                </a:solidFill>
              </a:defRPr>
            </a:lvl7pPr>
            <a:lvl8pPr lvl="7" algn="ctr">
              <a:lnSpc>
                <a:spcPct val="100000"/>
              </a:lnSpc>
              <a:spcBef>
                <a:spcPts val="0"/>
              </a:spcBef>
              <a:spcAft>
                <a:spcPts val="0"/>
              </a:spcAft>
              <a:buClr>
                <a:schemeClr val="lt1"/>
              </a:buClr>
              <a:buSzPts val="2100"/>
              <a:buNone/>
              <a:defRPr sz="2100">
                <a:solidFill>
                  <a:schemeClr val="lt1"/>
                </a:solidFill>
              </a:defRPr>
            </a:lvl8pPr>
            <a:lvl9pPr lvl="8" algn="ctr">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40" name="Google Shape;40;g20f3346b9df_0_653"/>
          <p:cNvSpPr txBox="1">
            <a:spLocks noGrp="1"/>
          </p:cNvSpPr>
          <p:nvPr>
            <p:ph type="sldNum" idx="12"/>
          </p:nvPr>
        </p:nvSpPr>
        <p:spPr>
          <a:xfrm>
            <a:off x="11187645" y="605822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41"/>
        <p:cNvGrpSpPr/>
        <p:nvPr/>
      </p:nvGrpSpPr>
      <p:grpSpPr>
        <a:xfrm>
          <a:off x="0" y="0"/>
          <a:ext cx="0" cy="0"/>
          <a:chOff x="0" y="0"/>
          <a:chExt cx="0" cy="0"/>
        </a:xfrm>
      </p:grpSpPr>
      <p:sp>
        <p:nvSpPr>
          <p:cNvPr id="42" name="Google Shape;42;g20f3346b9df_0_681"/>
          <p:cNvSpPr/>
          <p:nvPr/>
        </p:nvSpPr>
        <p:spPr>
          <a:xfrm flipH="1">
            <a:off x="6342900" y="3079200"/>
            <a:ext cx="5849100" cy="3778800"/>
          </a:xfrm>
          <a:prstGeom prst="rtTriangl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43" name="Google Shape;43;g20f3346b9df_0_681"/>
          <p:cNvGrpSpPr/>
          <p:nvPr/>
        </p:nvGrpSpPr>
        <p:grpSpPr>
          <a:xfrm>
            <a:off x="7458691" y="5281486"/>
            <a:ext cx="3880118" cy="1576482"/>
            <a:chOff x="6917201" y="0"/>
            <a:chExt cx="2227777" cy="863400"/>
          </a:xfrm>
        </p:grpSpPr>
        <p:sp>
          <p:nvSpPr>
            <p:cNvPr id="44" name="Google Shape;44;g20f3346b9df_0_681"/>
            <p:cNvSpPr/>
            <p:nvPr/>
          </p:nvSpPr>
          <p:spPr>
            <a:xfrm>
              <a:off x="7641677" y="0"/>
              <a:ext cx="1503300" cy="863400"/>
            </a:xfrm>
            <a:prstGeom prst="parallelogram">
              <a:avLst>
                <a:gd name="adj" fmla="val 158024"/>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5" name="Google Shape;45;g20f3346b9df_0_681"/>
            <p:cNvSpPr/>
            <p:nvPr/>
          </p:nvSpPr>
          <p:spPr>
            <a:xfrm>
              <a:off x="7279439" y="0"/>
              <a:ext cx="1503300" cy="863400"/>
            </a:xfrm>
            <a:prstGeom prst="parallelogram">
              <a:avLst>
                <a:gd name="adj" fmla="val 158024"/>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6" name="Google Shape;46;g20f3346b9df_0_681"/>
            <p:cNvSpPr/>
            <p:nvPr/>
          </p:nvSpPr>
          <p:spPr>
            <a:xfrm>
              <a:off x="6917201" y="0"/>
              <a:ext cx="1503300" cy="863400"/>
            </a:xfrm>
            <a:prstGeom prst="parallelogram">
              <a:avLst>
                <a:gd name="adj" fmla="val 158024"/>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47" name="Google Shape;47;g20f3346b9df_0_681"/>
          <p:cNvGrpSpPr/>
          <p:nvPr/>
        </p:nvGrpSpPr>
        <p:grpSpPr>
          <a:xfrm>
            <a:off x="265762" y="3"/>
            <a:ext cx="3727293" cy="1444382"/>
            <a:chOff x="6917201" y="0"/>
            <a:chExt cx="2227777" cy="863400"/>
          </a:xfrm>
        </p:grpSpPr>
        <p:sp>
          <p:nvSpPr>
            <p:cNvPr id="48" name="Google Shape;48;g20f3346b9df_0_681"/>
            <p:cNvSpPr/>
            <p:nvPr/>
          </p:nvSpPr>
          <p:spPr>
            <a:xfrm>
              <a:off x="7641677"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9" name="Google Shape;49;g20f3346b9df_0_681"/>
            <p:cNvSpPr/>
            <p:nvPr/>
          </p:nvSpPr>
          <p:spPr>
            <a:xfrm>
              <a:off x="7279439"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0" name="Google Shape;50;g20f3346b9df_0_681"/>
            <p:cNvSpPr/>
            <p:nvPr/>
          </p:nvSpPr>
          <p:spPr>
            <a:xfrm>
              <a:off x="6917201"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51" name="Google Shape;51;g20f3346b9df_0_681"/>
          <p:cNvSpPr txBox="1">
            <a:spLocks noGrp="1"/>
          </p:cNvSpPr>
          <p:nvPr>
            <p:ph type="title"/>
          </p:nvPr>
        </p:nvSpPr>
        <p:spPr>
          <a:xfrm>
            <a:off x="2518245" y="2328133"/>
            <a:ext cx="7170000" cy="2194800"/>
          </a:xfrm>
          <a:prstGeom prst="rect">
            <a:avLst/>
          </a:prstGeom>
        </p:spPr>
        <p:txBody>
          <a:bodyPr spcFirstLastPara="1" wrap="square" lIns="121900" tIns="121900" rIns="121900" bIns="121900" anchor="ctr" anchorCtr="0">
            <a:normAutofit/>
          </a:bodyPr>
          <a:lstStyle>
            <a:lvl1pPr lvl="0" algn="ctr">
              <a:spcBef>
                <a:spcPts val="0"/>
              </a:spcBef>
              <a:spcAft>
                <a:spcPts val="0"/>
              </a:spcAft>
              <a:buClr>
                <a:schemeClr val="dk2"/>
              </a:buClr>
              <a:buSzPts val="4300"/>
              <a:buNone/>
              <a:defRPr sz="4300">
                <a:solidFill>
                  <a:schemeClr val="dk2"/>
                </a:solidFill>
              </a:defRPr>
            </a:lvl1pPr>
            <a:lvl2pPr lvl="1" algn="ctr">
              <a:spcBef>
                <a:spcPts val="0"/>
              </a:spcBef>
              <a:spcAft>
                <a:spcPts val="0"/>
              </a:spcAft>
              <a:buClr>
                <a:schemeClr val="dk2"/>
              </a:buClr>
              <a:buSzPts val="4300"/>
              <a:buNone/>
              <a:defRPr sz="4300">
                <a:solidFill>
                  <a:schemeClr val="dk2"/>
                </a:solidFill>
              </a:defRPr>
            </a:lvl2pPr>
            <a:lvl3pPr lvl="2" algn="ctr">
              <a:spcBef>
                <a:spcPts val="0"/>
              </a:spcBef>
              <a:spcAft>
                <a:spcPts val="0"/>
              </a:spcAft>
              <a:buClr>
                <a:schemeClr val="dk2"/>
              </a:buClr>
              <a:buSzPts val="4300"/>
              <a:buNone/>
              <a:defRPr sz="4300">
                <a:solidFill>
                  <a:schemeClr val="dk2"/>
                </a:solidFill>
              </a:defRPr>
            </a:lvl3pPr>
            <a:lvl4pPr lvl="3" algn="ctr">
              <a:spcBef>
                <a:spcPts val="0"/>
              </a:spcBef>
              <a:spcAft>
                <a:spcPts val="0"/>
              </a:spcAft>
              <a:buClr>
                <a:schemeClr val="dk2"/>
              </a:buClr>
              <a:buSzPts val="4300"/>
              <a:buNone/>
              <a:defRPr sz="4300">
                <a:solidFill>
                  <a:schemeClr val="dk2"/>
                </a:solidFill>
              </a:defRPr>
            </a:lvl4pPr>
            <a:lvl5pPr lvl="4" algn="ctr">
              <a:spcBef>
                <a:spcPts val="0"/>
              </a:spcBef>
              <a:spcAft>
                <a:spcPts val="0"/>
              </a:spcAft>
              <a:buClr>
                <a:schemeClr val="dk2"/>
              </a:buClr>
              <a:buSzPts val="4300"/>
              <a:buNone/>
              <a:defRPr sz="4300">
                <a:solidFill>
                  <a:schemeClr val="dk2"/>
                </a:solidFill>
              </a:defRPr>
            </a:lvl5pPr>
            <a:lvl6pPr lvl="5" algn="ctr">
              <a:spcBef>
                <a:spcPts val="0"/>
              </a:spcBef>
              <a:spcAft>
                <a:spcPts val="0"/>
              </a:spcAft>
              <a:buClr>
                <a:schemeClr val="dk2"/>
              </a:buClr>
              <a:buSzPts val="4300"/>
              <a:buNone/>
              <a:defRPr sz="4300">
                <a:solidFill>
                  <a:schemeClr val="dk2"/>
                </a:solidFill>
              </a:defRPr>
            </a:lvl6pPr>
            <a:lvl7pPr lvl="6" algn="ctr">
              <a:spcBef>
                <a:spcPts val="0"/>
              </a:spcBef>
              <a:spcAft>
                <a:spcPts val="0"/>
              </a:spcAft>
              <a:buClr>
                <a:schemeClr val="dk2"/>
              </a:buClr>
              <a:buSzPts val="4300"/>
              <a:buNone/>
              <a:defRPr sz="4300">
                <a:solidFill>
                  <a:schemeClr val="dk2"/>
                </a:solidFill>
              </a:defRPr>
            </a:lvl7pPr>
            <a:lvl8pPr lvl="7" algn="ctr">
              <a:spcBef>
                <a:spcPts val="0"/>
              </a:spcBef>
              <a:spcAft>
                <a:spcPts val="0"/>
              </a:spcAft>
              <a:buClr>
                <a:schemeClr val="dk2"/>
              </a:buClr>
              <a:buSzPts val="4300"/>
              <a:buNone/>
              <a:defRPr sz="4300">
                <a:solidFill>
                  <a:schemeClr val="dk2"/>
                </a:solidFill>
              </a:defRPr>
            </a:lvl8pPr>
            <a:lvl9pPr lvl="8" algn="ctr">
              <a:spcBef>
                <a:spcPts val="0"/>
              </a:spcBef>
              <a:spcAft>
                <a:spcPts val="0"/>
              </a:spcAft>
              <a:buClr>
                <a:schemeClr val="dk2"/>
              </a:buClr>
              <a:buSzPts val="4300"/>
              <a:buNone/>
              <a:defRPr sz="4300">
                <a:solidFill>
                  <a:schemeClr val="dk2"/>
                </a:solidFill>
              </a:defRPr>
            </a:lvl9pPr>
          </a:lstStyle>
          <a:p>
            <a:endParaRPr/>
          </a:p>
        </p:txBody>
      </p:sp>
      <p:sp>
        <p:nvSpPr>
          <p:cNvPr id="52" name="Google Shape;52;g20f3346b9df_0_681"/>
          <p:cNvSpPr txBox="1">
            <a:spLocks noGrp="1"/>
          </p:cNvSpPr>
          <p:nvPr>
            <p:ph type="sldNum" idx="12"/>
          </p:nvPr>
        </p:nvSpPr>
        <p:spPr>
          <a:xfrm>
            <a:off x="11187645" y="605822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53"/>
        <p:cNvGrpSpPr/>
        <p:nvPr/>
      </p:nvGrpSpPr>
      <p:grpSpPr>
        <a:xfrm>
          <a:off x="0" y="0"/>
          <a:ext cx="0" cy="0"/>
          <a:chOff x="0" y="0"/>
          <a:chExt cx="0" cy="0"/>
        </a:xfrm>
      </p:grpSpPr>
      <p:sp>
        <p:nvSpPr>
          <p:cNvPr id="54" name="Google Shape;54;g20f3346b9df_0_693"/>
          <p:cNvSpPr/>
          <p:nvPr/>
        </p:nvSpPr>
        <p:spPr>
          <a:xfrm flipH="1">
            <a:off x="4776900" y="2067600"/>
            <a:ext cx="7415100" cy="47904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5" name="Google Shape;55;g20f3346b9df_0_693"/>
          <p:cNvSpPr/>
          <p:nvPr/>
        </p:nvSpPr>
        <p:spPr>
          <a:xfrm>
            <a:off x="41" y="3766000"/>
            <a:ext cx="9827100" cy="3092100"/>
          </a:xfrm>
          <a:prstGeom prst="rtTriangl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6" name="Google Shape;56;g20f3346b9df_0_693"/>
          <p:cNvSpPr/>
          <p:nvPr/>
        </p:nvSpPr>
        <p:spPr>
          <a:xfrm>
            <a:off x="270967" y="275000"/>
            <a:ext cx="116499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7" name="Google Shape;57;g20f3346b9df_0_693"/>
          <p:cNvSpPr txBox="1">
            <a:spLocks noGrp="1"/>
          </p:cNvSpPr>
          <p:nvPr>
            <p:ph type="title"/>
          </p:nvPr>
        </p:nvSpPr>
        <p:spPr>
          <a:xfrm>
            <a:off x="1092200" y="1127467"/>
            <a:ext cx="10007700" cy="1272900"/>
          </a:xfrm>
          <a:prstGeom prst="rect">
            <a:avLst/>
          </a:prstGeom>
        </p:spPr>
        <p:txBody>
          <a:bodyPr spcFirstLastPara="1" wrap="square" lIns="121900" tIns="121900" rIns="121900" bIns="121900"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58" name="Google Shape;58;g20f3346b9df_0_693"/>
          <p:cNvSpPr txBox="1">
            <a:spLocks noGrp="1"/>
          </p:cNvSpPr>
          <p:nvPr>
            <p:ph type="body" idx="1"/>
          </p:nvPr>
        </p:nvSpPr>
        <p:spPr>
          <a:xfrm>
            <a:off x="1092200" y="2654300"/>
            <a:ext cx="10007700" cy="32640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59" name="Google Shape;59;g20f3346b9df_0_693"/>
          <p:cNvSpPr txBox="1">
            <a:spLocks noGrp="1"/>
          </p:cNvSpPr>
          <p:nvPr>
            <p:ph type="sldNum" idx="12"/>
          </p:nvPr>
        </p:nvSpPr>
        <p:spPr>
          <a:xfrm>
            <a:off x="11187645" y="605822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60"/>
        <p:cNvGrpSpPr/>
        <p:nvPr/>
      </p:nvGrpSpPr>
      <p:grpSpPr>
        <a:xfrm>
          <a:off x="0" y="0"/>
          <a:ext cx="0" cy="0"/>
          <a:chOff x="0" y="0"/>
          <a:chExt cx="0" cy="0"/>
        </a:xfrm>
      </p:grpSpPr>
      <p:sp>
        <p:nvSpPr>
          <p:cNvPr id="61" name="Google Shape;61;g20f3346b9df_0_700"/>
          <p:cNvSpPr/>
          <p:nvPr/>
        </p:nvSpPr>
        <p:spPr>
          <a:xfrm flipH="1">
            <a:off x="4776900" y="2067600"/>
            <a:ext cx="7415100" cy="47904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62" name="Google Shape;62;g20f3346b9df_0_700"/>
          <p:cNvSpPr/>
          <p:nvPr/>
        </p:nvSpPr>
        <p:spPr>
          <a:xfrm>
            <a:off x="41" y="3766000"/>
            <a:ext cx="9827100" cy="3092100"/>
          </a:xfrm>
          <a:prstGeom prst="rtTriangl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63" name="Google Shape;63;g20f3346b9df_0_700"/>
          <p:cNvSpPr/>
          <p:nvPr/>
        </p:nvSpPr>
        <p:spPr>
          <a:xfrm>
            <a:off x="270967" y="275000"/>
            <a:ext cx="116499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64" name="Google Shape;64;g20f3346b9df_0_700"/>
          <p:cNvSpPr txBox="1">
            <a:spLocks noGrp="1"/>
          </p:cNvSpPr>
          <p:nvPr>
            <p:ph type="title"/>
          </p:nvPr>
        </p:nvSpPr>
        <p:spPr>
          <a:xfrm>
            <a:off x="1092200" y="1127467"/>
            <a:ext cx="10007700" cy="1272900"/>
          </a:xfrm>
          <a:prstGeom prst="rect">
            <a:avLst/>
          </a:prstGeom>
        </p:spPr>
        <p:txBody>
          <a:bodyPr spcFirstLastPara="1" wrap="square" lIns="121900" tIns="121900" rIns="121900" bIns="121900"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65" name="Google Shape;65;g20f3346b9df_0_700"/>
          <p:cNvSpPr txBox="1">
            <a:spLocks noGrp="1"/>
          </p:cNvSpPr>
          <p:nvPr>
            <p:ph type="body" idx="1"/>
          </p:nvPr>
        </p:nvSpPr>
        <p:spPr>
          <a:xfrm>
            <a:off x="1092200" y="2654300"/>
            <a:ext cx="4914900" cy="32640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66" name="Google Shape;66;g20f3346b9df_0_700"/>
          <p:cNvSpPr txBox="1">
            <a:spLocks noGrp="1"/>
          </p:cNvSpPr>
          <p:nvPr>
            <p:ph type="body" idx="2"/>
          </p:nvPr>
        </p:nvSpPr>
        <p:spPr>
          <a:xfrm>
            <a:off x="6184900" y="2654300"/>
            <a:ext cx="4914900" cy="32640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67" name="Google Shape;67;g20f3346b9df_0_700"/>
          <p:cNvSpPr txBox="1">
            <a:spLocks noGrp="1"/>
          </p:cNvSpPr>
          <p:nvPr>
            <p:ph type="sldNum" idx="12"/>
          </p:nvPr>
        </p:nvSpPr>
        <p:spPr>
          <a:xfrm>
            <a:off x="11187645" y="605822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8"/>
        <p:cNvGrpSpPr/>
        <p:nvPr/>
      </p:nvGrpSpPr>
      <p:grpSpPr>
        <a:xfrm>
          <a:off x="0" y="0"/>
          <a:ext cx="0" cy="0"/>
          <a:chOff x="0" y="0"/>
          <a:chExt cx="0" cy="0"/>
        </a:xfrm>
      </p:grpSpPr>
      <p:sp>
        <p:nvSpPr>
          <p:cNvPr id="69" name="Google Shape;69;g20f3346b9df_0_708"/>
          <p:cNvSpPr/>
          <p:nvPr/>
        </p:nvSpPr>
        <p:spPr>
          <a:xfrm flipH="1">
            <a:off x="4776900" y="2067600"/>
            <a:ext cx="7415100" cy="47904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70" name="Google Shape;70;g20f3346b9df_0_708"/>
          <p:cNvSpPr/>
          <p:nvPr/>
        </p:nvSpPr>
        <p:spPr>
          <a:xfrm>
            <a:off x="41" y="3766000"/>
            <a:ext cx="9827100" cy="3092100"/>
          </a:xfrm>
          <a:prstGeom prst="rtTriangl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71" name="Google Shape;71;g20f3346b9df_0_708"/>
          <p:cNvSpPr/>
          <p:nvPr/>
        </p:nvSpPr>
        <p:spPr>
          <a:xfrm>
            <a:off x="270967" y="275000"/>
            <a:ext cx="116499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72" name="Google Shape;72;g20f3346b9df_0_708"/>
          <p:cNvSpPr txBox="1">
            <a:spLocks noGrp="1"/>
          </p:cNvSpPr>
          <p:nvPr>
            <p:ph type="title"/>
          </p:nvPr>
        </p:nvSpPr>
        <p:spPr>
          <a:xfrm>
            <a:off x="1092200" y="1127467"/>
            <a:ext cx="10007700" cy="1272900"/>
          </a:xfrm>
          <a:prstGeom prst="rect">
            <a:avLst/>
          </a:prstGeom>
        </p:spPr>
        <p:txBody>
          <a:bodyPr spcFirstLastPara="1" wrap="square" lIns="121900" tIns="121900" rIns="121900" bIns="121900"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73" name="Google Shape;73;g20f3346b9df_0_708"/>
          <p:cNvSpPr txBox="1">
            <a:spLocks noGrp="1"/>
          </p:cNvSpPr>
          <p:nvPr>
            <p:ph type="sldNum" idx="12"/>
          </p:nvPr>
        </p:nvSpPr>
        <p:spPr>
          <a:xfrm>
            <a:off x="11187645" y="605822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4"/>
        <p:cNvGrpSpPr/>
        <p:nvPr/>
      </p:nvGrpSpPr>
      <p:grpSpPr>
        <a:xfrm>
          <a:off x="0" y="0"/>
          <a:ext cx="0" cy="0"/>
          <a:chOff x="0" y="0"/>
          <a:chExt cx="0" cy="0"/>
        </a:xfrm>
      </p:grpSpPr>
      <p:sp>
        <p:nvSpPr>
          <p:cNvPr id="75" name="Google Shape;75;g20f3346b9df_0_714"/>
          <p:cNvSpPr/>
          <p:nvPr/>
        </p:nvSpPr>
        <p:spPr>
          <a:xfrm flipH="1">
            <a:off x="4776900" y="2067600"/>
            <a:ext cx="7415100" cy="47904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76" name="Google Shape;76;g20f3346b9df_0_714"/>
          <p:cNvSpPr/>
          <p:nvPr/>
        </p:nvSpPr>
        <p:spPr>
          <a:xfrm>
            <a:off x="41" y="3766000"/>
            <a:ext cx="9827100" cy="3092100"/>
          </a:xfrm>
          <a:prstGeom prst="rtTriangl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77" name="Google Shape;77;g20f3346b9df_0_714"/>
          <p:cNvSpPr/>
          <p:nvPr/>
        </p:nvSpPr>
        <p:spPr>
          <a:xfrm>
            <a:off x="270967" y="275000"/>
            <a:ext cx="116499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78" name="Google Shape;78;g20f3346b9df_0_714"/>
          <p:cNvSpPr txBox="1">
            <a:spLocks noGrp="1"/>
          </p:cNvSpPr>
          <p:nvPr>
            <p:ph type="title"/>
          </p:nvPr>
        </p:nvSpPr>
        <p:spPr>
          <a:xfrm>
            <a:off x="1092200" y="1127467"/>
            <a:ext cx="4945500" cy="1844100"/>
          </a:xfrm>
          <a:prstGeom prst="rect">
            <a:avLst/>
          </a:prstGeom>
        </p:spPr>
        <p:txBody>
          <a:bodyPr spcFirstLastPara="1" wrap="square" lIns="121900" tIns="121900" rIns="121900" bIns="121900"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79" name="Google Shape;79;g20f3346b9df_0_714"/>
          <p:cNvSpPr txBox="1">
            <a:spLocks noGrp="1"/>
          </p:cNvSpPr>
          <p:nvPr>
            <p:ph type="body" idx="1"/>
          </p:nvPr>
        </p:nvSpPr>
        <p:spPr>
          <a:xfrm>
            <a:off x="1107600" y="3092067"/>
            <a:ext cx="4945500" cy="28263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80" name="Google Shape;80;g20f3346b9df_0_714"/>
          <p:cNvSpPr txBox="1">
            <a:spLocks noGrp="1"/>
          </p:cNvSpPr>
          <p:nvPr>
            <p:ph type="sldNum" idx="12"/>
          </p:nvPr>
        </p:nvSpPr>
        <p:spPr>
          <a:xfrm>
            <a:off x="11187645" y="605822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81"/>
        <p:cNvGrpSpPr/>
        <p:nvPr/>
      </p:nvGrpSpPr>
      <p:grpSpPr>
        <a:xfrm>
          <a:off x="0" y="0"/>
          <a:ext cx="0" cy="0"/>
          <a:chOff x="0" y="0"/>
          <a:chExt cx="0" cy="0"/>
        </a:xfrm>
      </p:grpSpPr>
      <p:sp>
        <p:nvSpPr>
          <p:cNvPr id="82" name="Google Shape;82;g20f3346b9df_0_721"/>
          <p:cNvSpPr/>
          <p:nvPr/>
        </p:nvSpPr>
        <p:spPr>
          <a:xfrm>
            <a:off x="0" y="3764192"/>
            <a:ext cx="9825600" cy="3089100"/>
          </a:xfrm>
          <a:prstGeom prst="rtTriangle">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83" name="Google Shape;83;g20f3346b9df_0_721"/>
          <p:cNvSpPr/>
          <p:nvPr/>
        </p:nvSpPr>
        <p:spPr>
          <a:xfrm flipH="1">
            <a:off x="4777714" y="2072150"/>
            <a:ext cx="7413900" cy="47859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84" name="Google Shape;84;g20f3346b9df_0_721"/>
          <p:cNvGrpSpPr/>
          <p:nvPr/>
        </p:nvGrpSpPr>
        <p:grpSpPr>
          <a:xfrm>
            <a:off x="341189" y="-11"/>
            <a:ext cx="3001758" cy="1391229"/>
            <a:chOff x="3961956" y="4383950"/>
            <a:chExt cx="1160548" cy="548700"/>
          </a:xfrm>
        </p:grpSpPr>
        <p:sp>
          <p:nvSpPr>
            <p:cNvPr id="85" name="Google Shape;85;g20f3346b9df_0_721"/>
            <p:cNvSpPr/>
            <p:nvPr/>
          </p:nvSpPr>
          <p:spPr>
            <a:xfrm>
              <a:off x="4224904" y="4383950"/>
              <a:ext cx="897600" cy="548700"/>
            </a:xfrm>
            <a:prstGeom prst="parallelogram">
              <a:avLst>
                <a:gd name="adj" fmla="val 153193"/>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86" name="Google Shape;86;g20f3346b9df_0_721"/>
            <p:cNvSpPr/>
            <p:nvPr/>
          </p:nvSpPr>
          <p:spPr>
            <a:xfrm>
              <a:off x="4093430" y="4383950"/>
              <a:ext cx="897600" cy="548700"/>
            </a:xfrm>
            <a:prstGeom prst="parallelogram">
              <a:avLst>
                <a:gd name="adj" fmla="val 153193"/>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87" name="Google Shape;87;g20f3346b9df_0_721"/>
            <p:cNvSpPr/>
            <p:nvPr/>
          </p:nvSpPr>
          <p:spPr>
            <a:xfrm>
              <a:off x="3961956" y="4383950"/>
              <a:ext cx="897600" cy="548700"/>
            </a:xfrm>
            <a:prstGeom prst="parallelogram">
              <a:avLst>
                <a:gd name="adj" fmla="val 153193"/>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88" name="Google Shape;88;g20f3346b9df_0_721"/>
          <p:cNvSpPr/>
          <p:nvPr/>
        </p:nvSpPr>
        <p:spPr>
          <a:xfrm>
            <a:off x="270967" y="275000"/>
            <a:ext cx="116499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89" name="Google Shape;89;g20f3346b9df_0_721"/>
          <p:cNvGrpSpPr/>
          <p:nvPr/>
        </p:nvGrpSpPr>
        <p:grpSpPr>
          <a:xfrm>
            <a:off x="46579" y="6029501"/>
            <a:ext cx="2124408" cy="822734"/>
            <a:chOff x="6917201" y="0"/>
            <a:chExt cx="2227777" cy="863400"/>
          </a:xfrm>
        </p:grpSpPr>
        <p:sp>
          <p:nvSpPr>
            <p:cNvPr id="90" name="Google Shape;90;g20f3346b9df_0_721"/>
            <p:cNvSpPr/>
            <p:nvPr/>
          </p:nvSpPr>
          <p:spPr>
            <a:xfrm>
              <a:off x="7641677" y="0"/>
              <a:ext cx="1503300" cy="863400"/>
            </a:xfrm>
            <a:prstGeom prst="parallelogram">
              <a:avLst>
                <a:gd name="adj" fmla="val 158024"/>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91" name="Google Shape;91;g20f3346b9df_0_721"/>
            <p:cNvSpPr/>
            <p:nvPr/>
          </p:nvSpPr>
          <p:spPr>
            <a:xfrm>
              <a:off x="7279439" y="0"/>
              <a:ext cx="1503300" cy="863400"/>
            </a:xfrm>
            <a:prstGeom prst="parallelogram">
              <a:avLst>
                <a:gd name="adj" fmla="val 158024"/>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92" name="Google Shape;92;g20f3346b9df_0_721"/>
            <p:cNvSpPr/>
            <p:nvPr/>
          </p:nvSpPr>
          <p:spPr>
            <a:xfrm>
              <a:off x="6917201" y="0"/>
              <a:ext cx="1503300" cy="863400"/>
            </a:xfrm>
            <a:prstGeom prst="parallelogram">
              <a:avLst>
                <a:gd name="adj" fmla="val 158024"/>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93" name="Google Shape;93;g20f3346b9df_0_721"/>
          <p:cNvGrpSpPr/>
          <p:nvPr/>
        </p:nvGrpSpPr>
        <p:grpSpPr>
          <a:xfrm>
            <a:off x="7848470" y="1657"/>
            <a:ext cx="4343273" cy="1681990"/>
            <a:chOff x="6917201" y="0"/>
            <a:chExt cx="2227777" cy="863400"/>
          </a:xfrm>
        </p:grpSpPr>
        <p:sp>
          <p:nvSpPr>
            <p:cNvPr id="94" name="Google Shape;94;g20f3346b9df_0_721"/>
            <p:cNvSpPr/>
            <p:nvPr/>
          </p:nvSpPr>
          <p:spPr>
            <a:xfrm>
              <a:off x="7641677" y="0"/>
              <a:ext cx="1503300" cy="863400"/>
            </a:xfrm>
            <a:prstGeom prst="parallelogram">
              <a:avLst>
                <a:gd name="adj" fmla="val 158024"/>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95" name="Google Shape;95;g20f3346b9df_0_721"/>
            <p:cNvSpPr/>
            <p:nvPr/>
          </p:nvSpPr>
          <p:spPr>
            <a:xfrm>
              <a:off x="7279439" y="0"/>
              <a:ext cx="1503300" cy="863400"/>
            </a:xfrm>
            <a:prstGeom prst="parallelogram">
              <a:avLst>
                <a:gd name="adj" fmla="val 158024"/>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96" name="Google Shape;96;g20f3346b9df_0_721"/>
            <p:cNvSpPr/>
            <p:nvPr/>
          </p:nvSpPr>
          <p:spPr>
            <a:xfrm>
              <a:off x="6917201" y="0"/>
              <a:ext cx="1503300" cy="863400"/>
            </a:xfrm>
            <a:prstGeom prst="parallelogram">
              <a:avLst>
                <a:gd name="adj" fmla="val 158024"/>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97" name="Google Shape;97;g20f3346b9df_0_721"/>
          <p:cNvSpPr txBox="1">
            <a:spLocks noGrp="1"/>
          </p:cNvSpPr>
          <p:nvPr>
            <p:ph type="title"/>
          </p:nvPr>
        </p:nvSpPr>
        <p:spPr>
          <a:xfrm>
            <a:off x="1858572" y="1734861"/>
            <a:ext cx="8489100" cy="3385500"/>
          </a:xfrm>
          <a:prstGeom prst="rect">
            <a:avLst/>
          </a:prstGeom>
        </p:spPr>
        <p:txBody>
          <a:bodyPr spcFirstLastPara="1" wrap="square" lIns="121900" tIns="121900" rIns="121900" bIns="121900" anchor="ctr" anchorCtr="0">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a:endParaRPr/>
          </a:p>
        </p:txBody>
      </p:sp>
      <p:sp>
        <p:nvSpPr>
          <p:cNvPr id="98" name="Google Shape;98;g20f3346b9df_0_721"/>
          <p:cNvSpPr txBox="1">
            <a:spLocks noGrp="1"/>
          </p:cNvSpPr>
          <p:nvPr>
            <p:ph type="sldNum" idx="12"/>
          </p:nvPr>
        </p:nvSpPr>
        <p:spPr>
          <a:xfrm>
            <a:off x="11187645" y="605822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9"/>
        <p:cNvGrpSpPr/>
        <p:nvPr/>
      </p:nvGrpSpPr>
      <p:grpSpPr>
        <a:xfrm>
          <a:off x="0" y="0"/>
          <a:ext cx="0" cy="0"/>
          <a:chOff x="0" y="0"/>
          <a:chExt cx="0" cy="0"/>
        </a:xfrm>
      </p:grpSpPr>
      <p:sp>
        <p:nvSpPr>
          <p:cNvPr id="100" name="Google Shape;100;g20f3346b9df_0_739"/>
          <p:cNvSpPr/>
          <p:nvPr/>
        </p:nvSpPr>
        <p:spPr>
          <a:xfrm flipH="1">
            <a:off x="4776900" y="2067600"/>
            <a:ext cx="7415100" cy="47904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01" name="Google Shape;101;g20f3346b9df_0_739"/>
          <p:cNvSpPr/>
          <p:nvPr/>
        </p:nvSpPr>
        <p:spPr>
          <a:xfrm>
            <a:off x="41" y="3766000"/>
            <a:ext cx="9827100" cy="3092100"/>
          </a:xfrm>
          <a:prstGeom prst="rtTriangl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02" name="Google Shape;102;g20f3346b9df_0_739"/>
          <p:cNvSpPr/>
          <p:nvPr/>
        </p:nvSpPr>
        <p:spPr>
          <a:xfrm>
            <a:off x="270967" y="275000"/>
            <a:ext cx="116499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03" name="Google Shape;103;g20f3346b9df_0_739"/>
          <p:cNvSpPr txBox="1">
            <a:spLocks noGrp="1"/>
          </p:cNvSpPr>
          <p:nvPr>
            <p:ph type="title"/>
          </p:nvPr>
        </p:nvSpPr>
        <p:spPr>
          <a:xfrm>
            <a:off x="1092200" y="1127467"/>
            <a:ext cx="8565600" cy="939900"/>
          </a:xfrm>
          <a:prstGeom prst="rect">
            <a:avLst/>
          </a:prstGeom>
        </p:spPr>
        <p:txBody>
          <a:bodyPr spcFirstLastPara="1" wrap="square" lIns="121900" tIns="121900" rIns="121900" bIns="121900"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04" name="Google Shape;104;g20f3346b9df_0_739"/>
          <p:cNvSpPr txBox="1">
            <a:spLocks noGrp="1"/>
          </p:cNvSpPr>
          <p:nvPr>
            <p:ph type="subTitle" idx="1"/>
          </p:nvPr>
        </p:nvSpPr>
        <p:spPr>
          <a:xfrm>
            <a:off x="1092200" y="2067600"/>
            <a:ext cx="7813200" cy="524700"/>
          </a:xfrm>
          <a:prstGeom prst="rect">
            <a:avLst/>
          </a:prstGeom>
        </p:spPr>
        <p:txBody>
          <a:bodyPr spcFirstLastPara="1" wrap="square" lIns="121900" tIns="121900" rIns="121900" bIns="121900"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05" name="Google Shape;105;g20f3346b9df_0_739"/>
          <p:cNvSpPr txBox="1">
            <a:spLocks noGrp="1"/>
          </p:cNvSpPr>
          <p:nvPr>
            <p:ph type="body" idx="2"/>
          </p:nvPr>
        </p:nvSpPr>
        <p:spPr>
          <a:xfrm>
            <a:off x="1092200" y="3289400"/>
            <a:ext cx="7813200" cy="27939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106" name="Google Shape;106;g20f3346b9df_0_739"/>
          <p:cNvSpPr txBox="1">
            <a:spLocks noGrp="1"/>
          </p:cNvSpPr>
          <p:nvPr>
            <p:ph type="sldNum" idx="12"/>
          </p:nvPr>
        </p:nvSpPr>
        <p:spPr>
          <a:xfrm>
            <a:off x="11187645" y="605822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7"/>
        <p:cNvGrpSpPr/>
        <p:nvPr/>
      </p:nvGrpSpPr>
      <p:grpSpPr>
        <a:xfrm>
          <a:off x="0" y="0"/>
          <a:ext cx="0" cy="0"/>
          <a:chOff x="0" y="0"/>
          <a:chExt cx="0" cy="0"/>
        </a:xfrm>
      </p:grpSpPr>
      <p:sp>
        <p:nvSpPr>
          <p:cNvPr id="108" name="Google Shape;108;g20f3346b9df_0_747"/>
          <p:cNvSpPr/>
          <p:nvPr/>
        </p:nvSpPr>
        <p:spPr>
          <a:xfrm>
            <a:off x="41" y="3766000"/>
            <a:ext cx="9827100" cy="30921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09" name="Google Shape;109;g20f3346b9df_0_747"/>
          <p:cNvSpPr/>
          <p:nvPr/>
        </p:nvSpPr>
        <p:spPr>
          <a:xfrm flipH="1">
            <a:off x="4776900" y="2067600"/>
            <a:ext cx="7415100" cy="4790400"/>
          </a:xfrm>
          <a:prstGeom prst="rtTriangl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10" name="Google Shape;110;g20f3346b9df_0_747"/>
          <p:cNvSpPr/>
          <p:nvPr/>
        </p:nvSpPr>
        <p:spPr>
          <a:xfrm>
            <a:off x="270967" y="275000"/>
            <a:ext cx="11649900" cy="63081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11" name="Google Shape;111;g20f3346b9df_0_747"/>
          <p:cNvSpPr txBox="1">
            <a:spLocks noGrp="1"/>
          </p:cNvSpPr>
          <p:nvPr>
            <p:ph type="body" idx="1"/>
          </p:nvPr>
        </p:nvSpPr>
        <p:spPr>
          <a:xfrm>
            <a:off x="437367" y="5551333"/>
            <a:ext cx="9886800" cy="806700"/>
          </a:xfrm>
          <a:prstGeom prst="rect">
            <a:avLst/>
          </a:prstGeom>
        </p:spPr>
        <p:txBody>
          <a:bodyPr spcFirstLastPara="1" wrap="square" lIns="121900" tIns="121900" rIns="121900" bIns="121900" anchor="b" anchorCtr="0">
            <a:normAutofit/>
          </a:bodyPr>
          <a:lstStyle>
            <a:lvl1pPr marL="457200" lvl="0" indent="-228600">
              <a:lnSpc>
                <a:spcPct val="100000"/>
              </a:lnSpc>
              <a:spcBef>
                <a:spcPts val="0"/>
              </a:spcBef>
              <a:spcAft>
                <a:spcPts val="0"/>
              </a:spcAft>
              <a:buSzPts val="1700"/>
              <a:buNone/>
              <a:defRPr/>
            </a:lvl1pPr>
          </a:lstStyle>
          <a:p>
            <a:endParaRPr/>
          </a:p>
        </p:txBody>
      </p:sp>
      <p:sp>
        <p:nvSpPr>
          <p:cNvPr id="112" name="Google Shape;112;g20f3346b9df_0_747"/>
          <p:cNvSpPr txBox="1">
            <a:spLocks noGrp="1"/>
          </p:cNvSpPr>
          <p:nvPr>
            <p:ph type="sldNum" idx="12"/>
          </p:nvPr>
        </p:nvSpPr>
        <p:spPr>
          <a:xfrm>
            <a:off x="11187645" y="605822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13"/>
        <p:cNvGrpSpPr/>
        <p:nvPr/>
      </p:nvGrpSpPr>
      <p:grpSpPr>
        <a:xfrm>
          <a:off x="0" y="0"/>
          <a:ext cx="0" cy="0"/>
          <a:chOff x="0" y="0"/>
          <a:chExt cx="0" cy="0"/>
        </a:xfrm>
      </p:grpSpPr>
      <p:sp>
        <p:nvSpPr>
          <p:cNvPr id="114" name="Google Shape;114;g20f3346b9df_0_753"/>
          <p:cNvSpPr/>
          <p:nvPr/>
        </p:nvSpPr>
        <p:spPr>
          <a:xfrm flipH="1">
            <a:off x="7425600" y="3778767"/>
            <a:ext cx="4766400" cy="3079200"/>
          </a:xfrm>
          <a:prstGeom prst="rtTriangl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115" name="Google Shape;115;g20f3346b9df_0_753"/>
          <p:cNvGrpSpPr/>
          <p:nvPr/>
        </p:nvGrpSpPr>
        <p:grpSpPr>
          <a:xfrm>
            <a:off x="7945629" y="5492768"/>
            <a:ext cx="3361269" cy="1365553"/>
            <a:chOff x="6917201" y="0"/>
            <a:chExt cx="2227777" cy="863400"/>
          </a:xfrm>
        </p:grpSpPr>
        <p:sp>
          <p:nvSpPr>
            <p:cNvPr id="116" name="Google Shape;116;g20f3346b9df_0_753"/>
            <p:cNvSpPr/>
            <p:nvPr/>
          </p:nvSpPr>
          <p:spPr>
            <a:xfrm>
              <a:off x="7641677" y="0"/>
              <a:ext cx="1503300" cy="863400"/>
            </a:xfrm>
            <a:prstGeom prst="parallelogram">
              <a:avLst>
                <a:gd name="adj" fmla="val 158024"/>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17" name="Google Shape;117;g20f3346b9df_0_753"/>
            <p:cNvSpPr/>
            <p:nvPr/>
          </p:nvSpPr>
          <p:spPr>
            <a:xfrm>
              <a:off x="7279439" y="0"/>
              <a:ext cx="1503300" cy="863400"/>
            </a:xfrm>
            <a:prstGeom prst="parallelogram">
              <a:avLst>
                <a:gd name="adj" fmla="val 158024"/>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18" name="Google Shape;118;g20f3346b9df_0_753"/>
            <p:cNvSpPr/>
            <p:nvPr/>
          </p:nvSpPr>
          <p:spPr>
            <a:xfrm>
              <a:off x="6917201" y="0"/>
              <a:ext cx="1503300" cy="863400"/>
            </a:xfrm>
            <a:prstGeom prst="parallelogram">
              <a:avLst>
                <a:gd name="adj" fmla="val 158024"/>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19" name="Google Shape;119;g20f3346b9df_0_753"/>
          <p:cNvGrpSpPr/>
          <p:nvPr/>
        </p:nvGrpSpPr>
        <p:grpSpPr>
          <a:xfrm>
            <a:off x="265762" y="3"/>
            <a:ext cx="3727293" cy="1444382"/>
            <a:chOff x="6917201" y="0"/>
            <a:chExt cx="2227777" cy="863400"/>
          </a:xfrm>
        </p:grpSpPr>
        <p:sp>
          <p:nvSpPr>
            <p:cNvPr id="120" name="Google Shape;120;g20f3346b9df_0_753"/>
            <p:cNvSpPr/>
            <p:nvPr/>
          </p:nvSpPr>
          <p:spPr>
            <a:xfrm>
              <a:off x="7641677"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21" name="Google Shape;121;g20f3346b9df_0_753"/>
            <p:cNvSpPr/>
            <p:nvPr/>
          </p:nvSpPr>
          <p:spPr>
            <a:xfrm>
              <a:off x="7279439"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22" name="Google Shape;122;g20f3346b9df_0_753"/>
            <p:cNvSpPr/>
            <p:nvPr/>
          </p:nvSpPr>
          <p:spPr>
            <a:xfrm>
              <a:off x="6917201"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123" name="Google Shape;123;g20f3346b9df_0_753"/>
          <p:cNvSpPr txBox="1">
            <a:spLocks noGrp="1"/>
          </p:cNvSpPr>
          <p:nvPr>
            <p:ph type="title" hasCustomPrompt="1"/>
          </p:nvPr>
        </p:nvSpPr>
        <p:spPr>
          <a:xfrm>
            <a:off x="1847800" y="1845133"/>
            <a:ext cx="8496300" cy="1839600"/>
          </a:xfrm>
          <a:prstGeom prst="rect">
            <a:avLst/>
          </a:prstGeom>
        </p:spPr>
        <p:txBody>
          <a:bodyPr spcFirstLastPara="1" wrap="square" lIns="121900" tIns="121900" rIns="121900" bIns="121900" anchor="ctr" anchorCtr="0">
            <a:normAutofit/>
          </a:bodyPr>
          <a:lstStyle>
            <a:lvl1pPr lvl="0" algn="ctr">
              <a:spcBef>
                <a:spcPts val="0"/>
              </a:spcBef>
              <a:spcAft>
                <a:spcPts val="0"/>
              </a:spcAft>
              <a:buClr>
                <a:schemeClr val="dk2"/>
              </a:buClr>
              <a:buSzPts val="11500"/>
              <a:buNone/>
              <a:defRPr sz="11500">
                <a:solidFill>
                  <a:schemeClr val="dk2"/>
                </a:solidFill>
              </a:defRPr>
            </a:lvl1pPr>
            <a:lvl2pPr lvl="1" algn="ctr">
              <a:spcBef>
                <a:spcPts val="0"/>
              </a:spcBef>
              <a:spcAft>
                <a:spcPts val="0"/>
              </a:spcAft>
              <a:buClr>
                <a:schemeClr val="dk2"/>
              </a:buClr>
              <a:buSzPts val="11500"/>
              <a:buNone/>
              <a:defRPr sz="11500">
                <a:solidFill>
                  <a:schemeClr val="dk2"/>
                </a:solidFill>
              </a:defRPr>
            </a:lvl2pPr>
            <a:lvl3pPr lvl="2" algn="ctr">
              <a:spcBef>
                <a:spcPts val="0"/>
              </a:spcBef>
              <a:spcAft>
                <a:spcPts val="0"/>
              </a:spcAft>
              <a:buClr>
                <a:schemeClr val="dk2"/>
              </a:buClr>
              <a:buSzPts val="11500"/>
              <a:buNone/>
              <a:defRPr sz="11500">
                <a:solidFill>
                  <a:schemeClr val="dk2"/>
                </a:solidFill>
              </a:defRPr>
            </a:lvl3pPr>
            <a:lvl4pPr lvl="3" algn="ctr">
              <a:spcBef>
                <a:spcPts val="0"/>
              </a:spcBef>
              <a:spcAft>
                <a:spcPts val="0"/>
              </a:spcAft>
              <a:buClr>
                <a:schemeClr val="dk2"/>
              </a:buClr>
              <a:buSzPts val="11500"/>
              <a:buNone/>
              <a:defRPr sz="11500">
                <a:solidFill>
                  <a:schemeClr val="dk2"/>
                </a:solidFill>
              </a:defRPr>
            </a:lvl4pPr>
            <a:lvl5pPr lvl="4" algn="ctr">
              <a:spcBef>
                <a:spcPts val="0"/>
              </a:spcBef>
              <a:spcAft>
                <a:spcPts val="0"/>
              </a:spcAft>
              <a:buClr>
                <a:schemeClr val="dk2"/>
              </a:buClr>
              <a:buSzPts val="11500"/>
              <a:buNone/>
              <a:defRPr sz="11500">
                <a:solidFill>
                  <a:schemeClr val="dk2"/>
                </a:solidFill>
              </a:defRPr>
            </a:lvl5pPr>
            <a:lvl6pPr lvl="5" algn="ctr">
              <a:spcBef>
                <a:spcPts val="0"/>
              </a:spcBef>
              <a:spcAft>
                <a:spcPts val="0"/>
              </a:spcAft>
              <a:buClr>
                <a:schemeClr val="dk2"/>
              </a:buClr>
              <a:buSzPts val="11500"/>
              <a:buNone/>
              <a:defRPr sz="11500">
                <a:solidFill>
                  <a:schemeClr val="dk2"/>
                </a:solidFill>
              </a:defRPr>
            </a:lvl6pPr>
            <a:lvl7pPr lvl="6" algn="ctr">
              <a:spcBef>
                <a:spcPts val="0"/>
              </a:spcBef>
              <a:spcAft>
                <a:spcPts val="0"/>
              </a:spcAft>
              <a:buClr>
                <a:schemeClr val="dk2"/>
              </a:buClr>
              <a:buSzPts val="11500"/>
              <a:buNone/>
              <a:defRPr sz="11500">
                <a:solidFill>
                  <a:schemeClr val="dk2"/>
                </a:solidFill>
              </a:defRPr>
            </a:lvl7pPr>
            <a:lvl8pPr lvl="7" algn="ctr">
              <a:spcBef>
                <a:spcPts val="0"/>
              </a:spcBef>
              <a:spcAft>
                <a:spcPts val="0"/>
              </a:spcAft>
              <a:buClr>
                <a:schemeClr val="dk2"/>
              </a:buClr>
              <a:buSzPts val="11500"/>
              <a:buNone/>
              <a:defRPr sz="11500">
                <a:solidFill>
                  <a:schemeClr val="dk2"/>
                </a:solidFill>
              </a:defRPr>
            </a:lvl8pPr>
            <a:lvl9pPr lvl="8" algn="ctr">
              <a:spcBef>
                <a:spcPts val="0"/>
              </a:spcBef>
              <a:spcAft>
                <a:spcPts val="0"/>
              </a:spcAft>
              <a:buClr>
                <a:schemeClr val="dk2"/>
              </a:buClr>
              <a:buSzPts val="11500"/>
              <a:buNone/>
              <a:defRPr sz="11500">
                <a:solidFill>
                  <a:schemeClr val="dk2"/>
                </a:solidFill>
              </a:defRPr>
            </a:lvl9pPr>
          </a:lstStyle>
          <a:p>
            <a:r>
              <a:t>xx%</a:t>
            </a:r>
          </a:p>
        </p:txBody>
      </p:sp>
      <p:sp>
        <p:nvSpPr>
          <p:cNvPr id="124" name="Google Shape;124;g20f3346b9df_0_753"/>
          <p:cNvSpPr txBox="1">
            <a:spLocks noGrp="1"/>
          </p:cNvSpPr>
          <p:nvPr>
            <p:ph type="body" idx="1"/>
          </p:nvPr>
        </p:nvSpPr>
        <p:spPr>
          <a:xfrm>
            <a:off x="1847800" y="3818467"/>
            <a:ext cx="8496300" cy="854700"/>
          </a:xfrm>
          <a:prstGeom prst="rect">
            <a:avLst/>
          </a:prstGeom>
        </p:spPr>
        <p:txBody>
          <a:bodyPr spcFirstLastPara="1" wrap="square" lIns="121900" tIns="121900" rIns="121900" bIns="121900" anchor="t" anchorCtr="0">
            <a:normAutofit/>
          </a:bodyPr>
          <a:lstStyle>
            <a:lvl1pPr marL="457200" lvl="0" indent="-336550" algn="ctr">
              <a:spcBef>
                <a:spcPts val="0"/>
              </a:spcBef>
              <a:spcAft>
                <a:spcPts val="0"/>
              </a:spcAft>
              <a:buSzPts val="1700"/>
              <a:buChar char="●"/>
              <a:defRPr/>
            </a:lvl1pPr>
            <a:lvl2pPr marL="914400" lvl="1" indent="-323850" algn="ctr">
              <a:spcBef>
                <a:spcPts val="0"/>
              </a:spcBef>
              <a:spcAft>
                <a:spcPts val="0"/>
              </a:spcAft>
              <a:buSzPts val="1500"/>
              <a:buChar char="○"/>
              <a:defRPr/>
            </a:lvl2pPr>
            <a:lvl3pPr marL="1371600" lvl="2" indent="-323850" algn="ctr">
              <a:spcBef>
                <a:spcPts val="0"/>
              </a:spcBef>
              <a:spcAft>
                <a:spcPts val="0"/>
              </a:spcAft>
              <a:buSzPts val="1500"/>
              <a:buChar char="■"/>
              <a:defRPr/>
            </a:lvl3pPr>
            <a:lvl4pPr marL="1828800" lvl="3" indent="-323850" algn="ctr">
              <a:spcBef>
                <a:spcPts val="0"/>
              </a:spcBef>
              <a:spcAft>
                <a:spcPts val="0"/>
              </a:spcAft>
              <a:buSzPts val="1500"/>
              <a:buChar char="●"/>
              <a:defRPr/>
            </a:lvl4pPr>
            <a:lvl5pPr marL="2286000" lvl="4" indent="-323850" algn="ctr">
              <a:spcBef>
                <a:spcPts val="0"/>
              </a:spcBef>
              <a:spcAft>
                <a:spcPts val="0"/>
              </a:spcAft>
              <a:buSzPts val="1500"/>
              <a:buChar char="○"/>
              <a:defRPr/>
            </a:lvl5pPr>
            <a:lvl6pPr marL="2743200" lvl="5" indent="-323850" algn="ctr">
              <a:spcBef>
                <a:spcPts val="0"/>
              </a:spcBef>
              <a:spcAft>
                <a:spcPts val="0"/>
              </a:spcAft>
              <a:buSzPts val="1500"/>
              <a:buChar char="■"/>
              <a:defRPr/>
            </a:lvl6pPr>
            <a:lvl7pPr marL="3200400" lvl="6" indent="-323850" algn="ctr">
              <a:spcBef>
                <a:spcPts val="0"/>
              </a:spcBef>
              <a:spcAft>
                <a:spcPts val="0"/>
              </a:spcAft>
              <a:buSzPts val="1500"/>
              <a:buChar char="●"/>
              <a:defRPr/>
            </a:lvl7pPr>
            <a:lvl8pPr marL="3657600" lvl="7" indent="-323850" algn="ctr">
              <a:spcBef>
                <a:spcPts val="0"/>
              </a:spcBef>
              <a:spcAft>
                <a:spcPts val="0"/>
              </a:spcAft>
              <a:buSzPts val="1500"/>
              <a:buChar char="○"/>
              <a:defRPr/>
            </a:lvl8pPr>
            <a:lvl9pPr marL="4114800" lvl="8" indent="-323850" algn="ctr">
              <a:spcBef>
                <a:spcPts val="0"/>
              </a:spcBef>
              <a:spcAft>
                <a:spcPts val="0"/>
              </a:spcAft>
              <a:buSzPts val="1500"/>
              <a:buChar char="■"/>
              <a:defRPr/>
            </a:lvl9pPr>
          </a:lstStyle>
          <a:p>
            <a:endParaRPr/>
          </a:p>
        </p:txBody>
      </p:sp>
      <p:sp>
        <p:nvSpPr>
          <p:cNvPr id="125" name="Google Shape;125;g20f3346b9df_0_753"/>
          <p:cNvSpPr txBox="1">
            <a:spLocks noGrp="1"/>
          </p:cNvSpPr>
          <p:nvPr>
            <p:ph type="sldNum" idx="12"/>
          </p:nvPr>
        </p:nvSpPr>
        <p:spPr>
          <a:xfrm>
            <a:off x="11187645" y="605822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6"/>
        <p:cNvGrpSpPr/>
        <p:nvPr/>
      </p:nvGrpSpPr>
      <p:grpSpPr>
        <a:xfrm>
          <a:off x="0" y="0"/>
          <a:ext cx="0" cy="0"/>
          <a:chOff x="0" y="0"/>
          <a:chExt cx="0" cy="0"/>
        </a:xfrm>
      </p:grpSpPr>
      <p:sp>
        <p:nvSpPr>
          <p:cNvPr id="127" name="Google Shape;127;g20f3346b9df_0_766"/>
          <p:cNvSpPr txBox="1">
            <a:spLocks noGrp="1"/>
          </p:cNvSpPr>
          <p:nvPr>
            <p:ph type="sldNum" idx="12"/>
          </p:nvPr>
        </p:nvSpPr>
        <p:spPr>
          <a:xfrm>
            <a:off x="11187645" y="605822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8"/>
        <p:cNvGrpSpPr/>
        <p:nvPr/>
      </p:nvGrpSpPr>
      <p:grpSpPr>
        <a:xfrm>
          <a:off x="0" y="0"/>
          <a:ext cx="0" cy="0"/>
          <a:chOff x="0" y="0"/>
          <a:chExt cx="0" cy="0"/>
        </a:xfrm>
      </p:grpSpPr>
      <p:sp>
        <p:nvSpPr>
          <p:cNvPr id="129" name="Google Shape;129;g20f3346b9df_0_768"/>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lvl1pPr lvl="0" algn="l" rtl="0">
              <a:lnSpc>
                <a:spcPct val="100000"/>
              </a:lnSpc>
              <a:spcBef>
                <a:spcPts val="0"/>
              </a:spcBef>
              <a:spcAft>
                <a:spcPts val="0"/>
              </a:spcAft>
              <a:buClr>
                <a:schemeClr val="lt2"/>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0" name="Google Shape;130;g20f3346b9df_0_768"/>
          <p:cNvSpPr txBox="1">
            <a:spLocks noGrp="1"/>
          </p:cNvSpPr>
          <p:nvPr>
            <p:ph type="body" idx="1"/>
          </p:nvPr>
        </p:nvSpPr>
        <p:spPr>
          <a:xfrm>
            <a:off x="1103312" y="2052918"/>
            <a:ext cx="8946600" cy="4195500"/>
          </a:xfrm>
          <a:prstGeom prst="rect">
            <a:avLst/>
          </a:prstGeom>
          <a:noFill/>
          <a:ln>
            <a:noFill/>
          </a:ln>
        </p:spPr>
        <p:txBody>
          <a:bodyPr spcFirstLastPara="1" wrap="square" lIns="91425" tIns="45700" rIns="91425" bIns="45700" anchor="t" anchorCtr="0">
            <a:normAutofit/>
          </a:bodyPr>
          <a:lstStyle>
            <a:lvl1pPr marL="457200" lvl="0" indent="-320040" algn="l" rtl="0">
              <a:lnSpc>
                <a:spcPct val="100000"/>
              </a:lnSpc>
              <a:spcBef>
                <a:spcPts val="1000"/>
              </a:spcBef>
              <a:spcAft>
                <a:spcPts val="0"/>
              </a:spcAft>
              <a:buSzPts val="1440"/>
              <a:buChar char="►"/>
              <a:defRPr/>
            </a:lvl1pPr>
            <a:lvl2pPr marL="914400" lvl="1" indent="-320040" algn="l" rtl="0">
              <a:lnSpc>
                <a:spcPct val="100000"/>
              </a:lnSpc>
              <a:spcBef>
                <a:spcPts val="1000"/>
              </a:spcBef>
              <a:spcAft>
                <a:spcPts val="0"/>
              </a:spcAft>
              <a:buSzPts val="1440"/>
              <a:buChar char="►"/>
              <a:defRPr/>
            </a:lvl2pPr>
            <a:lvl3pPr marL="1371600" lvl="2" indent="-320039" algn="l" rtl="0">
              <a:lnSpc>
                <a:spcPct val="100000"/>
              </a:lnSpc>
              <a:spcBef>
                <a:spcPts val="1000"/>
              </a:spcBef>
              <a:spcAft>
                <a:spcPts val="0"/>
              </a:spcAft>
              <a:buSzPts val="1440"/>
              <a:buChar char="►"/>
              <a:defRPr/>
            </a:lvl3pPr>
            <a:lvl4pPr marL="1828800" lvl="3" indent="-320039" algn="l" rtl="0">
              <a:lnSpc>
                <a:spcPct val="100000"/>
              </a:lnSpc>
              <a:spcBef>
                <a:spcPts val="1000"/>
              </a:spcBef>
              <a:spcAft>
                <a:spcPts val="0"/>
              </a:spcAft>
              <a:buSzPts val="1440"/>
              <a:buChar char="►"/>
              <a:defRPr/>
            </a:lvl4pPr>
            <a:lvl5pPr marL="2286000" lvl="4" indent="-320039" algn="l" rtl="0">
              <a:lnSpc>
                <a:spcPct val="100000"/>
              </a:lnSpc>
              <a:spcBef>
                <a:spcPts val="1000"/>
              </a:spcBef>
              <a:spcAft>
                <a:spcPts val="0"/>
              </a:spcAft>
              <a:buSzPts val="1440"/>
              <a:buChar char="►"/>
              <a:defRPr/>
            </a:lvl5pPr>
            <a:lvl6pPr marL="2743200" lvl="5" indent="-320039" algn="l" rtl="0">
              <a:lnSpc>
                <a:spcPct val="100000"/>
              </a:lnSpc>
              <a:spcBef>
                <a:spcPts val="1000"/>
              </a:spcBef>
              <a:spcAft>
                <a:spcPts val="0"/>
              </a:spcAft>
              <a:buSzPts val="1440"/>
              <a:buChar char="►"/>
              <a:defRPr/>
            </a:lvl6pPr>
            <a:lvl7pPr marL="3200400" lvl="6" indent="-320039" algn="l" rtl="0">
              <a:lnSpc>
                <a:spcPct val="100000"/>
              </a:lnSpc>
              <a:spcBef>
                <a:spcPts val="1000"/>
              </a:spcBef>
              <a:spcAft>
                <a:spcPts val="0"/>
              </a:spcAft>
              <a:buSzPts val="1440"/>
              <a:buChar char="►"/>
              <a:defRPr/>
            </a:lvl7pPr>
            <a:lvl8pPr marL="3657600" lvl="7" indent="-320040" algn="l" rtl="0">
              <a:lnSpc>
                <a:spcPct val="100000"/>
              </a:lnSpc>
              <a:spcBef>
                <a:spcPts val="1000"/>
              </a:spcBef>
              <a:spcAft>
                <a:spcPts val="0"/>
              </a:spcAft>
              <a:buSzPts val="1440"/>
              <a:buChar char="►"/>
              <a:defRPr/>
            </a:lvl8pPr>
            <a:lvl9pPr marL="4114800" lvl="8" indent="-320040" algn="l" rtl="0">
              <a:lnSpc>
                <a:spcPct val="100000"/>
              </a:lnSpc>
              <a:spcBef>
                <a:spcPts val="1000"/>
              </a:spcBef>
              <a:spcAft>
                <a:spcPts val="0"/>
              </a:spcAft>
              <a:buSzPts val="1440"/>
              <a:buChar char="►"/>
              <a:defRPr/>
            </a:lvl9pPr>
          </a:lstStyle>
          <a:p>
            <a:endParaRPr/>
          </a:p>
        </p:txBody>
      </p:sp>
      <p:sp>
        <p:nvSpPr>
          <p:cNvPr id="131" name="Google Shape;131;g20f3346b9df_0_768"/>
          <p:cNvSpPr txBox="1">
            <a:spLocks noGrp="1"/>
          </p:cNvSpPr>
          <p:nvPr>
            <p:ph type="dt" idx="10"/>
          </p:nvPr>
        </p:nvSpPr>
        <p:spPr>
          <a:xfrm rot="5400000">
            <a:off x="10155638" y="1790701"/>
            <a:ext cx="990600" cy="304800"/>
          </a:xfrm>
          <a:prstGeom prst="rect">
            <a:avLst/>
          </a:prstGeom>
          <a:noFill/>
          <a:ln>
            <a:noFill/>
          </a:ln>
        </p:spPr>
        <p:txBody>
          <a:bodyPr spcFirstLastPara="1" wrap="square" lIns="91425" tIns="45700" rIns="91425" bIns="45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2" name="Google Shape;132;g20f3346b9df_0_768"/>
          <p:cNvSpPr txBox="1">
            <a:spLocks noGrp="1"/>
          </p:cNvSpPr>
          <p:nvPr>
            <p:ph type="ftr" idx="11"/>
          </p:nvPr>
        </p:nvSpPr>
        <p:spPr>
          <a:xfrm rot="5400000">
            <a:off x="8951571" y="3225300"/>
            <a:ext cx="3859800" cy="3048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3" name="Google Shape;133;g20f3346b9df_0_768"/>
          <p:cNvSpPr txBox="1">
            <a:spLocks noGrp="1"/>
          </p:cNvSpPr>
          <p:nvPr>
            <p:ph type="sldNum" idx="12"/>
          </p:nvPr>
        </p:nvSpPr>
        <p:spPr>
          <a:xfrm>
            <a:off x="10352540" y="295729"/>
            <a:ext cx="838200" cy="767700"/>
          </a:xfrm>
          <a:prstGeom prst="rect">
            <a:avLst/>
          </a:prstGeom>
          <a:noFill/>
          <a:ln>
            <a:noFill/>
          </a:ln>
        </p:spPr>
        <p:txBody>
          <a:bodyPr spcFirstLastPara="1" wrap="square" lIns="91425" tIns="45700" rIns="91425" bIns="45700" anchor="b" anchorCtr="0">
            <a:noAutofit/>
          </a:bodyPr>
          <a:lstStyle>
            <a:lvl1pPr marL="0" marR="0" lvl="0" indent="0" algn="ctr" rtl="0">
              <a:lnSpc>
                <a:spcPct val="100000"/>
              </a:lnSpc>
              <a:spcBef>
                <a:spcPts val="0"/>
              </a:spcBef>
              <a:spcAft>
                <a:spcPts val="0"/>
              </a:spcAft>
              <a:buClr>
                <a:srgbClr val="000000"/>
              </a:buClr>
              <a:buSzPts val="2800"/>
              <a:buFont typeface="Arial"/>
              <a:buNone/>
              <a:defRPr sz="2800" b="0" i="0" u="none" strike="noStrike" cap="none">
                <a:solidFill>
                  <a:schemeClr val="lt1"/>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rgbClr val="000000"/>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rgbClr val="000000"/>
              </a:buClr>
              <a:buSzPts val="2800"/>
              <a:buFont typeface="Arial"/>
              <a:buNone/>
              <a:defRPr sz="2800" b="0" i="0" u="none" strike="noStrike" cap="none">
                <a:solidFill>
                  <a:schemeClr val="lt1"/>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rgbClr val="000000"/>
              </a:buClr>
              <a:buSzPts val="2800"/>
              <a:buFont typeface="Arial"/>
              <a:buNone/>
              <a:defRPr sz="2800" b="0" i="0" u="none" strike="noStrike" cap="none">
                <a:solidFill>
                  <a:schemeClr val="lt1"/>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rgbClr val="000000"/>
              </a:buClr>
              <a:buSzPts val="2800"/>
              <a:buFont typeface="Arial"/>
              <a:buNone/>
              <a:defRPr sz="2800" b="0" i="0" u="none" strike="noStrike" cap="none">
                <a:solidFill>
                  <a:schemeClr val="lt1"/>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rgbClr val="000000"/>
              </a:buClr>
              <a:buSzPts val="2800"/>
              <a:buFont typeface="Arial"/>
              <a:buNone/>
              <a:defRPr sz="2800" b="0" i="0" u="none" strike="noStrike" cap="none">
                <a:solidFill>
                  <a:schemeClr val="lt1"/>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rgbClr val="000000"/>
              </a:buClr>
              <a:buSzPts val="2800"/>
              <a:buFont typeface="Arial"/>
              <a:buNone/>
              <a:defRPr sz="2800" b="0" i="0" u="none" strike="noStrike" cap="none">
                <a:solidFill>
                  <a:schemeClr val="lt1"/>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rgbClr val="000000"/>
              </a:buClr>
              <a:buSzPts val="2800"/>
              <a:buFont typeface="Arial"/>
              <a:buNone/>
              <a:defRPr sz="2800" b="0" i="0" u="none" strike="noStrike" cap="none">
                <a:solidFill>
                  <a:schemeClr val="lt1"/>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rgbClr val="000000"/>
              </a:buClr>
              <a:buSzPts val="2800"/>
              <a:buFont typeface="Arial"/>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9"/>
        <p:cNvGrpSpPr/>
        <p:nvPr/>
      </p:nvGrpSpPr>
      <p:grpSpPr>
        <a:xfrm>
          <a:off x="0" y="0"/>
          <a:ext cx="0" cy="0"/>
          <a:chOff x="0" y="0"/>
          <a:chExt cx="0" cy="0"/>
        </a:xfrm>
      </p:grpSpPr>
      <p:sp>
        <p:nvSpPr>
          <p:cNvPr id="10" name="Google Shape;10;g20f3346b9df_0_649"/>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1pPr>
            <a:lvl2pPr lvl="1">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2pPr>
            <a:lvl3pPr lvl="2">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3pPr>
            <a:lvl4pPr lvl="3">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4pPr>
            <a:lvl5pPr lvl="4">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5pPr>
            <a:lvl6pPr lvl="5">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6pPr>
            <a:lvl7pPr lvl="6">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7pPr>
            <a:lvl8pPr lvl="7">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8pPr>
            <a:lvl9pPr lvl="8">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9pPr>
          </a:lstStyle>
          <a:p>
            <a:endParaRPr/>
          </a:p>
        </p:txBody>
      </p:sp>
      <p:sp>
        <p:nvSpPr>
          <p:cNvPr id="11" name="Google Shape;11;g20f3346b9df_0_649"/>
          <p:cNvSpPr txBox="1">
            <a:spLocks noGrp="1"/>
          </p:cNvSpPr>
          <p:nvPr>
            <p:ph type="body" idx="1"/>
          </p:nvPr>
        </p:nvSpPr>
        <p:spPr>
          <a:xfrm>
            <a:off x="415600" y="1536633"/>
            <a:ext cx="11360700" cy="4521600"/>
          </a:xfrm>
          <a:prstGeom prst="rect">
            <a:avLst/>
          </a:prstGeom>
          <a:noFill/>
          <a:ln>
            <a:noFill/>
          </a:ln>
        </p:spPr>
        <p:txBody>
          <a:bodyPr spcFirstLastPara="1" wrap="square" lIns="121900" tIns="121900" rIns="121900" bIns="121900" anchor="t" anchorCtr="0">
            <a:normAutofit/>
          </a:bodyPr>
          <a:lstStyle>
            <a:lvl1pPr marL="457200" lvl="0" indent="-336550">
              <a:lnSpc>
                <a:spcPct val="115000"/>
              </a:lnSpc>
              <a:spcBef>
                <a:spcPts val="0"/>
              </a:spcBef>
              <a:spcAft>
                <a:spcPts val="0"/>
              </a:spcAft>
              <a:buClr>
                <a:schemeClr val="dk2"/>
              </a:buClr>
              <a:buSzPts val="1700"/>
              <a:buFont typeface="Calibri"/>
              <a:buChar char="●"/>
              <a:defRPr sz="1700">
                <a:solidFill>
                  <a:schemeClr val="dk2"/>
                </a:solidFill>
                <a:latin typeface="Calibri"/>
                <a:ea typeface="Calibri"/>
                <a:cs typeface="Calibri"/>
                <a:sym typeface="Calibri"/>
              </a:defRPr>
            </a:lvl1pPr>
            <a:lvl2pPr marL="914400" lvl="1" indent="-323850">
              <a:lnSpc>
                <a:spcPct val="115000"/>
              </a:lnSpc>
              <a:spcBef>
                <a:spcPts val="0"/>
              </a:spcBef>
              <a:spcAft>
                <a:spcPts val="0"/>
              </a:spcAft>
              <a:buClr>
                <a:schemeClr val="dk2"/>
              </a:buClr>
              <a:buSzPts val="1500"/>
              <a:buFont typeface="Calibri"/>
              <a:buChar char="○"/>
              <a:defRPr sz="1500">
                <a:solidFill>
                  <a:schemeClr val="dk2"/>
                </a:solidFill>
                <a:latin typeface="Calibri"/>
                <a:ea typeface="Calibri"/>
                <a:cs typeface="Calibri"/>
                <a:sym typeface="Calibri"/>
              </a:defRPr>
            </a:lvl2pPr>
            <a:lvl3pPr marL="1371600" lvl="2" indent="-323850">
              <a:lnSpc>
                <a:spcPct val="115000"/>
              </a:lnSpc>
              <a:spcBef>
                <a:spcPts val="0"/>
              </a:spcBef>
              <a:spcAft>
                <a:spcPts val="0"/>
              </a:spcAft>
              <a:buClr>
                <a:schemeClr val="dk2"/>
              </a:buClr>
              <a:buSzPts val="1500"/>
              <a:buFont typeface="Calibri"/>
              <a:buChar char="■"/>
              <a:defRPr sz="1500">
                <a:solidFill>
                  <a:schemeClr val="dk2"/>
                </a:solidFill>
                <a:latin typeface="Calibri"/>
                <a:ea typeface="Calibri"/>
                <a:cs typeface="Calibri"/>
                <a:sym typeface="Calibri"/>
              </a:defRPr>
            </a:lvl3pPr>
            <a:lvl4pPr marL="1828800" lvl="3" indent="-323850">
              <a:lnSpc>
                <a:spcPct val="115000"/>
              </a:lnSpc>
              <a:spcBef>
                <a:spcPts val="0"/>
              </a:spcBef>
              <a:spcAft>
                <a:spcPts val="0"/>
              </a:spcAft>
              <a:buClr>
                <a:schemeClr val="dk2"/>
              </a:buClr>
              <a:buSzPts val="1500"/>
              <a:buFont typeface="Calibri"/>
              <a:buChar char="●"/>
              <a:defRPr sz="1500">
                <a:solidFill>
                  <a:schemeClr val="dk2"/>
                </a:solidFill>
                <a:latin typeface="Calibri"/>
                <a:ea typeface="Calibri"/>
                <a:cs typeface="Calibri"/>
                <a:sym typeface="Calibri"/>
              </a:defRPr>
            </a:lvl4pPr>
            <a:lvl5pPr marL="2286000" lvl="4" indent="-323850">
              <a:lnSpc>
                <a:spcPct val="115000"/>
              </a:lnSpc>
              <a:spcBef>
                <a:spcPts val="0"/>
              </a:spcBef>
              <a:spcAft>
                <a:spcPts val="0"/>
              </a:spcAft>
              <a:buClr>
                <a:schemeClr val="dk2"/>
              </a:buClr>
              <a:buSzPts val="1500"/>
              <a:buFont typeface="Calibri"/>
              <a:buChar char="○"/>
              <a:defRPr sz="1500">
                <a:solidFill>
                  <a:schemeClr val="dk2"/>
                </a:solidFill>
                <a:latin typeface="Calibri"/>
                <a:ea typeface="Calibri"/>
                <a:cs typeface="Calibri"/>
                <a:sym typeface="Calibri"/>
              </a:defRPr>
            </a:lvl5pPr>
            <a:lvl6pPr marL="2743200" lvl="5" indent="-323850">
              <a:lnSpc>
                <a:spcPct val="115000"/>
              </a:lnSpc>
              <a:spcBef>
                <a:spcPts val="0"/>
              </a:spcBef>
              <a:spcAft>
                <a:spcPts val="0"/>
              </a:spcAft>
              <a:buClr>
                <a:schemeClr val="dk2"/>
              </a:buClr>
              <a:buSzPts val="1500"/>
              <a:buFont typeface="Calibri"/>
              <a:buChar char="■"/>
              <a:defRPr sz="1500">
                <a:solidFill>
                  <a:schemeClr val="dk2"/>
                </a:solidFill>
                <a:latin typeface="Calibri"/>
                <a:ea typeface="Calibri"/>
                <a:cs typeface="Calibri"/>
                <a:sym typeface="Calibri"/>
              </a:defRPr>
            </a:lvl6pPr>
            <a:lvl7pPr marL="3200400" lvl="6" indent="-323850">
              <a:lnSpc>
                <a:spcPct val="115000"/>
              </a:lnSpc>
              <a:spcBef>
                <a:spcPts val="0"/>
              </a:spcBef>
              <a:spcAft>
                <a:spcPts val="0"/>
              </a:spcAft>
              <a:buClr>
                <a:schemeClr val="dk2"/>
              </a:buClr>
              <a:buSzPts val="1500"/>
              <a:buFont typeface="Calibri"/>
              <a:buChar char="●"/>
              <a:defRPr sz="1500">
                <a:solidFill>
                  <a:schemeClr val="dk2"/>
                </a:solidFill>
                <a:latin typeface="Calibri"/>
                <a:ea typeface="Calibri"/>
                <a:cs typeface="Calibri"/>
                <a:sym typeface="Calibri"/>
              </a:defRPr>
            </a:lvl7pPr>
            <a:lvl8pPr marL="3657600" lvl="7" indent="-323850">
              <a:lnSpc>
                <a:spcPct val="115000"/>
              </a:lnSpc>
              <a:spcBef>
                <a:spcPts val="0"/>
              </a:spcBef>
              <a:spcAft>
                <a:spcPts val="0"/>
              </a:spcAft>
              <a:buClr>
                <a:schemeClr val="dk2"/>
              </a:buClr>
              <a:buSzPts val="1500"/>
              <a:buFont typeface="Calibri"/>
              <a:buChar char="○"/>
              <a:defRPr sz="1500">
                <a:solidFill>
                  <a:schemeClr val="dk2"/>
                </a:solidFill>
                <a:latin typeface="Calibri"/>
                <a:ea typeface="Calibri"/>
                <a:cs typeface="Calibri"/>
                <a:sym typeface="Calibri"/>
              </a:defRPr>
            </a:lvl8pPr>
            <a:lvl9pPr marL="4114800" lvl="8" indent="-323850">
              <a:lnSpc>
                <a:spcPct val="115000"/>
              </a:lnSpc>
              <a:spcBef>
                <a:spcPts val="0"/>
              </a:spcBef>
              <a:spcAft>
                <a:spcPts val="0"/>
              </a:spcAft>
              <a:buClr>
                <a:schemeClr val="dk2"/>
              </a:buClr>
              <a:buSzPts val="1500"/>
              <a:buFont typeface="Calibri"/>
              <a:buChar char="■"/>
              <a:defRPr sz="1500">
                <a:solidFill>
                  <a:schemeClr val="dk2"/>
                </a:solidFill>
                <a:latin typeface="Calibri"/>
                <a:ea typeface="Calibri"/>
                <a:cs typeface="Calibri"/>
                <a:sym typeface="Calibri"/>
              </a:defRPr>
            </a:lvl9pPr>
          </a:lstStyle>
          <a:p>
            <a:endParaRPr/>
          </a:p>
        </p:txBody>
      </p:sp>
      <p:sp>
        <p:nvSpPr>
          <p:cNvPr id="12" name="Google Shape;12;g20f3346b9df_0_649"/>
          <p:cNvSpPr txBox="1">
            <a:spLocks noGrp="1"/>
          </p:cNvSpPr>
          <p:nvPr>
            <p:ph type="sldNum" idx="12"/>
          </p:nvPr>
        </p:nvSpPr>
        <p:spPr>
          <a:xfrm>
            <a:off x="11187645" y="6058224"/>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latin typeface="Nunito"/>
                <a:ea typeface="Nunito"/>
                <a:cs typeface="Nunito"/>
                <a:sym typeface="Nunito"/>
              </a:defRPr>
            </a:lvl1pPr>
            <a:lvl2pPr lvl="1" algn="r">
              <a:buNone/>
              <a:defRPr sz="1300">
                <a:solidFill>
                  <a:schemeClr val="dk2"/>
                </a:solidFill>
                <a:latin typeface="Nunito"/>
                <a:ea typeface="Nunito"/>
                <a:cs typeface="Nunito"/>
                <a:sym typeface="Nunito"/>
              </a:defRPr>
            </a:lvl2pPr>
            <a:lvl3pPr lvl="2" algn="r">
              <a:buNone/>
              <a:defRPr sz="1300">
                <a:solidFill>
                  <a:schemeClr val="dk2"/>
                </a:solidFill>
                <a:latin typeface="Nunito"/>
                <a:ea typeface="Nunito"/>
                <a:cs typeface="Nunito"/>
                <a:sym typeface="Nunito"/>
              </a:defRPr>
            </a:lvl3pPr>
            <a:lvl4pPr lvl="3" algn="r">
              <a:buNone/>
              <a:defRPr sz="1300">
                <a:solidFill>
                  <a:schemeClr val="dk2"/>
                </a:solidFill>
                <a:latin typeface="Nunito"/>
                <a:ea typeface="Nunito"/>
                <a:cs typeface="Nunito"/>
                <a:sym typeface="Nunito"/>
              </a:defRPr>
            </a:lvl4pPr>
            <a:lvl5pPr lvl="4" algn="r">
              <a:buNone/>
              <a:defRPr sz="1300">
                <a:solidFill>
                  <a:schemeClr val="dk2"/>
                </a:solidFill>
                <a:latin typeface="Nunito"/>
                <a:ea typeface="Nunito"/>
                <a:cs typeface="Nunito"/>
                <a:sym typeface="Nunito"/>
              </a:defRPr>
            </a:lvl5pPr>
            <a:lvl6pPr lvl="5" algn="r">
              <a:buNone/>
              <a:defRPr sz="1300">
                <a:solidFill>
                  <a:schemeClr val="dk2"/>
                </a:solidFill>
                <a:latin typeface="Nunito"/>
                <a:ea typeface="Nunito"/>
                <a:cs typeface="Nunito"/>
                <a:sym typeface="Nunito"/>
              </a:defRPr>
            </a:lvl6pPr>
            <a:lvl7pPr lvl="6" algn="r">
              <a:buNone/>
              <a:defRPr sz="1300">
                <a:solidFill>
                  <a:schemeClr val="dk2"/>
                </a:solidFill>
                <a:latin typeface="Nunito"/>
                <a:ea typeface="Nunito"/>
                <a:cs typeface="Nunito"/>
                <a:sym typeface="Nunito"/>
              </a:defRPr>
            </a:lvl7pPr>
            <a:lvl8pPr lvl="7" algn="r">
              <a:buNone/>
              <a:defRPr sz="1300">
                <a:solidFill>
                  <a:schemeClr val="dk2"/>
                </a:solidFill>
                <a:latin typeface="Nunito"/>
                <a:ea typeface="Nunito"/>
                <a:cs typeface="Nunito"/>
                <a:sym typeface="Nunito"/>
              </a:defRPr>
            </a:lvl8pPr>
            <a:lvl9pPr lvl="8" algn="r">
              <a:buNone/>
              <a:defRPr sz="13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1.xml"/><Relationship Id="rId5" Type="http://schemas.openxmlformats.org/officeDocument/2006/relationships/image" Target="../media/image18.png"/><Relationship Id="rId4" Type="http://schemas.openxmlformats.org/officeDocument/2006/relationships/image" Target="../media/image17.png"/></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hyperlink" Target="https://www.brainkart.com/article/Instruction-set-and-assembler-directives-of-8086-Microprocessor_7846/" TargetMode="External"/><Relationship Id="rId2" Type="http://schemas.openxmlformats.org/officeDocument/2006/relationships/notesSlide" Target="../notesSlides/notesSlide56.xml"/><Relationship Id="rId1" Type="http://schemas.openxmlformats.org/officeDocument/2006/relationships/slideLayout" Target="../slideLayouts/slideLayout11.xml"/><Relationship Id="rId4" Type="http://schemas.openxmlformats.org/officeDocument/2006/relationships/hyperlink" Target="https://www.includehelp.com/embedded-system/" TargetMode="Externa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63.xml"/><Relationship Id="rId1" Type="http://schemas.openxmlformats.org/officeDocument/2006/relationships/slideLayout" Target="../slideLayouts/slideLayout11.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
          <p:cNvSpPr txBox="1"/>
          <p:nvPr/>
        </p:nvSpPr>
        <p:spPr>
          <a:xfrm>
            <a:off x="1047751" y="642938"/>
            <a:ext cx="10473267" cy="1752600"/>
          </a:xfrm>
          <a:prstGeom prst="rect">
            <a:avLst/>
          </a:prstGeom>
          <a:noFill/>
          <a:ln>
            <a:noFill/>
          </a:ln>
        </p:spPr>
        <p:txBody>
          <a:bodyPr spcFirstLastPara="1" wrap="square" lIns="0" tIns="46800" rIns="18350" bIns="46800" anchor="t" anchorCtr="0">
            <a:noAutofit/>
          </a:bodyPr>
          <a:lstStyle/>
          <a:p>
            <a:pPr marL="0" marR="0" lvl="0" indent="0" algn="r" rtl="0">
              <a:lnSpc>
                <a:spcPct val="100000"/>
              </a:lnSpc>
              <a:spcBef>
                <a:spcPts val="0"/>
              </a:spcBef>
              <a:spcAft>
                <a:spcPts val="0"/>
              </a:spcAft>
              <a:buClr>
                <a:srgbClr val="FFFFFF"/>
              </a:buClr>
              <a:buSzPts val="2800"/>
              <a:buFont typeface="Constantia"/>
              <a:buNone/>
            </a:pPr>
            <a:r>
              <a:rPr lang="en-US" sz="2800" b="0" i="0" u="none" strike="noStrike" cap="none">
                <a:solidFill>
                  <a:srgbClr val="FFFFFF"/>
                </a:solidFill>
                <a:latin typeface="Constantia"/>
                <a:ea typeface="Constantia"/>
                <a:cs typeface="Constantia"/>
                <a:sym typeface="Constantia"/>
              </a:rPr>
              <a:t>Chapter 02</a:t>
            </a:r>
            <a:endParaRPr sz="2800" b="0" i="0" u="none" strike="noStrike" cap="none">
              <a:solidFill>
                <a:srgbClr val="FFFFFF"/>
              </a:solidFill>
              <a:latin typeface="Constantia"/>
              <a:ea typeface="Constantia"/>
              <a:cs typeface="Constantia"/>
              <a:sym typeface="Constantia"/>
            </a:endParaRPr>
          </a:p>
        </p:txBody>
      </p:sp>
      <p:sp>
        <p:nvSpPr>
          <p:cNvPr id="141" name="Google Shape;141;p1"/>
          <p:cNvSpPr txBox="1"/>
          <p:nvPr/>
        </p:nvSpPr>
        <p:spPr>
          <a:xfrm>
            <a:off x="609600" y="7102475"/>
            <a:ext cx="2844800" cy="365125"/>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F2EFC0"/>
              </a:buClr>
              <a:buSzPts val="1200"/>
              <a:buFont typeface="Constantia"/>
              <a:buNone/>
            </a:pPr>
            <a:r>
              <a:rPr lang="en-US" sz="1200" b="0" i="0" u="none" strike="noStrike" cap="none">
                <a:solidFill>
                  <a:srgbClr val="F2EFC0"/>
                </a:solidFill>
                <a:latin typeface="Constantia"/>
                <a:ea typeface="Constantia"/>
                <a:cs typeface="Constantia"/>
                <a:sym typeface="Constantia"/>
              </a:rPr>
              <a:t>21-Nov-2010</a:t>
            </a:r>
            <a:endParaRPr sz="1400" b="0" i="0" u="none" strike="noStrike" cap="none">
              <a:solidFill>
                <a:srgbClr val="000000"/>
              </a:solidFill>
              <a:latin typeface="Arial"/>
              <a:ea typeface="Arial"/>
              <a:cs typeface="Arial"/>
              <a:sym typeface="Arial"/>
            </a:endParaRPr>
          </a:p>
        </p:txBody>
      </p:sp>
      <p:sp>
        <p:nvSpPr>
          <p:cNvPr id="142" name="Google Shape;142;p1"/>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F2EFC0"/>
              </a:buClr>
              <a:buSzPts val="1200"/>
              <a:buFont typeface="Constantia"/>
              <a:buNone/>
            </a:pPr>
            <a:fld id="{00000000-1234-1234-1234-123412341234}" type="slidenum">
              <a:rPr lang="en-US" sz="1200" b="0" i="0" u="none" strike="noStrike" cap="none">
                <a:solidFill>
                  <a:srgbClr val="F2EFC0"/>
                </a:solidFill>
                <a:latin typeface="Constantia"/>
                <a:ea typeface="Constantia"/>
                <a:cs typeface="Constantia"/>
                <a:sym typeface="Constantia"/>
              </a:rPr>
              <a:t>1</a:t>
            </a:fld>
            <a:endParaRPr sz="1200" b="0" i="0" u="none" strike="noStrike" cap="none">
              <a:solidFill>
                <a:srgbClr val="F2EFC0"/>
              </a:solidFill>
              <a:latin typeface="Constantia"/>
              <a:ea typeface="Constantia"/>
              <a:cs typeface="Constantia"/>
              <a:sym typeface="Constantia"/>
            </a:endParaRPr>
          </a:p>
        </p:txBody>
      </p:sp>
      <p:sp>
        <p:nvSpPr>
          <p:cNvPr id="143" name="Google Shape;143;p1"/>
          <p:cNvSpPr txBox="1"/>
          <p:nvPr/>
        </p:nvSpPr>
        <p:spPr>
          <a:xfrm>
            <a:off x="3556000" y="7102475"/>
            <a:ext cx="4470400" cy="365125"/>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F2EFC0"/>
              </a:buClr>
              <a:buSzPts val="1200"/>
              <a:buFont typeface="Constantia"/>
              <a:buNone/>
            </a:pPr>
            <a:r>
              <a:rPr lang="en-US" sz="1200" b="0" i="0" u="none" strike="noStrike" cap="none">
                <a:solidFill>
                  <a:srgbClr val="F2EFC0"/>
                </a:solidFill>
                <a:latin typeface="Constantia"/>
                <a:ea typeface="Constantia"/>
                <a:cs typeface="Constantia"/>
                <a:sym typeface="Constantia"/>
              </a:rPr>
              <a:t>ohmshankar.ece@act.edu.in</a:t>
            </a:r>
            <a:endParaRPr sz="1400" b="0" i="0" u="none" strike="noStrike" cap="none">
              <a:solidFill>
                <a:srgbClr val="000000"/>
              </a:solidFill>
              <a:latin typeface="Arial"/>
              <a:ea typeface="Arial"/>
              <a:cs typeface="Arial"/>
              <a:sym typeface="Arial"/>
            </a:endParaRPr>
          </a:p>
        </p:txBody>
      </p:sp>
      <p:sp>
        <p:nvSpPr>
          <p:cNvPr id="144" name="Google Shape;144;p1"/>
          <p:cNvSpPr/>
          <p:nvPr/>
        </p:nvSpPr>
        <p:spPr>
          <a:xfrm>
            <a:off x="1714469" y="3244335"/>
            <a:ext cx="981081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C00000"/>
                </a:solidFill>
                <a:latin typeface="Century Gothic"/>
                <a:ea typeface="Century Gothic"/>
                <a:cs typeface="Century Gothic"/>
                <a:sym typeface="Century Gothic"/>
              </a:rPr>
              <a:t>Instruction Set </a:t>
            </a:r>
            <a:r>
              <a:rPr lang="en-US" sz="3600" b="1" i="0" u="none" strike="noStrike" cap="none">
                <a:solidFill>
                  <a:srgbClr val="C00000"/>
                </a:solidFill>
                <a:latin typeface="Times New Roman"/>
                <a:ea typeface="Times New Roman"/>
                <a:cs typeface="Times New Roman"/>
                <a:sym typeface="Times New Roman"/>
              </a:rPr>
              <a:t>and</a:t>
            </a:r>
            <a:r>
              <a:rPr lang="en-US" sz="3600" b="1" i="0" u="none" strike="noStrike" cap="none">
                <a:solidFill>
                  <a:srgbClr val="C00000"/>
                </a:solidFill>
                <a:latin typeface="Century Gothic"/>
                <a:ea typeface="Century Gothic"/>
                <a:cs typeface="Century Gothic"/>
                <a:sym typeface="Century Gothic"/>
              </a:rPr>
              <a:t> Programming </a:t>
            </a:r>
            <a:endParaRPr sz="3600" b="0" i="0" u="none" strike="noStrike" cap="none">
              <a:solidFill>
                <a:srgbClr val="C00000"/>
              </a:solidFill>
              <a:latin typeface="Century Gothic"/>
              <a:ea typeface="Century Gothic"/>
              <a:cs typeface="Century Gothic"/>
              <a:sym typeface="Century Gothic"/>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
          <p:cNvSpPr/>
          <p:nvPr/>
        </p:nvSpPr>
        <p:spPr>
          <a:xfrm>
            <a:off x="285709" y="1859340"/>
            <a:ext cx="11525331" cy="37856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chemeClr val="accent6">
                    <a:lumMod val="75000"/>
                  </a:schemeClr>
                </a:solidFill>
                <a:latin typeface="Century Gothic"/>
                <a:ea typeface="Century Gothic"/>
                <a:cs typeface="Century Gothic"/>
                <a:sym typeface="Century Gothic"/>
              </a:rPr>
              <a:t>2.1 Addressing Modes</a:t>
            </a:r>
            <a:endParaRPr sz="1400" b="1" i="0" u="none" strike="noStrike" cap="none" dirty="0">
              <a:solidFill>
                <a:schemeClr val="accent6">
                  <a:lumMod val="75000"/>
                </a:schemeClr>
              </a:solidFil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dirty="0">
              <a:solidFill>
                <a:schemeClr val="accent6">
                  <a:lumMod val="75000"/>
                </a:schemeClr>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chemeClr val="accent6">
                    <a:lumMod val="75000"/>
                  </a:schemeClr>
                </a:solidFill>
                <a:latin typeface="Century Gothic"/>
                <a:ea typeface="Century Gothic"/>
                <a:cs typeface="Century Gothic"/>
                <a:sym typeface="Century Gothic"/>
              </a:rPr>
              <a:t>2.2 Instruction set-Data Transfer Instructions, String Instructions, Logical Instructions, Arithmetic Instructions, Transfer of Control Instructions, Processor Control Instructions</a:t>
            </a:r>
            <a:endParaRPr sz="1400" b="1" i="0" u="none" strike="noStrike" cap="none" dirty="0">
              <a:solidFill>
                <a:schemeClr val="accent6">
                  <a:lumMod val="75000"/>
                </a:schemeClr>
              </a:solidFil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dirty="0">
              <a:solidFill>
                <a:schemeClr val="accent6">
                  <a:lumMod val="75000"/>
                </a:schemeClr>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chemeClr val="accent6">
                    <a:lumMod val="75000"/>
                  </a:schemeClr>
                </a:solidFill>
                <a:latin typeface="Century Gothic"/>
                <a:ea typeface="Century Gothic"/>
                <a:cs typeface="Century Gothic"/>
                <a:sym typeface="Century Gothic"/>
              </a:rPr>
              <a:t>2.3 Assembler Directives and Assembly Language Programming, Macros, Procedures</a:t>
            </a:r>
            <a:endParaRPr sz="2400" b="1" i="0" u="none" strike="noStrike" cap="none" dirty="0">
              <a:solidFill>
                <a:schemeClr val="accent6">
                  <a:lumMod val="75000"/>
                </a:schemeClr>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rgbClr val="FF0000"/>
                </a:solidFill>
                <a:latin typeface="Century Gothic"/>
                <a:ea typeface="Century Gothic"/>
                <a:cs typeface="Century Gothic"/>
                <a:sym typeface="Century Gothic"/>
              </a:rPr>
              <a:t/>
            </a:r>
            <a:br>
              <a:rPr lang="en-US" sz="2400" b="0" i="0" u="none" strike="noStrike" cap="none" dirty="0">
                <a:solidFill>
                  <a:srgbClr val="FF0000"/>
                </a:solidFill>
                <a:latin typeface="Century Gothic"/>
                <a:ea typeface="Century Gothic"/>
                <a:cs typeface="Century Gothic"/>
                <a:sym typeface="Century Gothic"/>
              </a:rPr>
            </a:br>
            <a:endParaRPr sz="2400" b="0" i="0" u="none" strike="noStrike" cap="none" dirty="0">
              <a:solidFill>
                <a:srgbClr val="FF0000"/>
              </a:solidFill>
              <a:latin typeface="Century Gothic"/>
              <a:ea typeface="Century Gothic"/>
              <a:cs typeface="Century Gothic"/>
              <a:sym typeface="Century Gothic"/>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734800" cy="6370975"/>
          </a:xfrm>
          <a:prstGeom prst="rect">
            <a:avLst/>
          </a:prstGeom>
        </p:spPr>
        <p:txBody>
          <a:bodyPr wrap="square">
            <a:spAutoFit/>
          </a:bodyPr>
          <a:lstStyle/>
          <a:p>
            <a:pPr algn="just" fontAlgn="base"/>
            <a:r>
              <a:rPr lang="en-US" sz="2400" b="1" dirty="0">
                <a:solidFill>
                  <a:srgbClr val="273239"/>
                </a:solidFill>
                <a:latin typeface="Times New Roman" panose="02020603050405020304" pitchFamily="18" charset="0"/>
                <a:cs typeface="Times New Roman" panose="02020603050405020304" pitchFamily="18" charset="0"/>
              </a:rPr>
              <a:t>Addressing modes</a:t>
            </a:r>
            <a:r>
              <a:rPr lang="en-US" sz="2400" dirty="0">
                <a:solidFill>
                  <a:srgbClr val="273239"/>
                </a:solidFill>
                <a:latin typeface="Times New Roman" panose="02020603050405020304" pitchFamily="18" charset="0"/>
                <a:cs typeface="Times New Roman" panose="02020603050405020304" pitchFamily="18" charset="0"/>
              </a:rPr>
              <a:t> are important in assembly language programming as they define how data is located and accessed by instructions. </a:t>
            </a:r>
            <a:endParaRPr lang="en-US" sz="2400" dirty="0" smtClean="0">
              <a:solidFill>
                <a:srgbClr val="273239"/>
              </a:solidFill>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400" dirty="0" smtClean="0">
                <a:solidFill>
                  <a:srgbClr val="273239"/>
                </a:solidFill>
                <a:latin typeface="Times New Roman" panose="02020603050405020304" pitchFamily="18" charset="0"/>
                <a:cs typeface="Times New Roman" panose="02020603050405020304" pitchFamily="18" charset="0"/>
              </a:rPr>
              <a:t>These </a:t>
            </a:r>
            <a:r>
              <a:rPr lang="en-US" sz="2400" dirty="0">
                <a:solidFill>
                  <a:srgbClr val="273239"/>
                </a:solidFill>
                <a:latin typeface="Times New Roman" panose="02020603050405020304" pitchFamily="18" charset="0"/>
                <a:cs typeface="Times New Roman" panose="02020603050405020304" pitchFamily="18" charset="0"/>
              </a:rPr>
              <a:t>modes describe how an instruction specifies its operands, whether they are immediate values, memory addresses, or registers. </a:t>
            </a:r>
            <a:endParaRPr lang="en-US" sz="2400" dirty="0" smtClean="0">
              <a:solidFill>
                <a:srgbClr val="273239"/>
              </a:solidFill>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400" b="1" dirty="0" smtClean="0">
                <a:solidFill>
                  <a:srgbClr val="273239"/>
                </a:solidFill>
                <a:latin typeface="Times New Roman" panose="02020603050405020304" pitchFamily="18" charset="0"/>
                <a:cs typeface="Times New Roman" panose="02020603050405020304" pitchFamily="18" charset="0"/>
              </a:rPr>
              <a:t>They </a:t>
            </a:r>
            <a:r>
              <a:rPr lang="en-US" sz="2400" b="1" dirty="0">
                <a:solidFill>
                  <a:srgbClr val="273239"/>
                </a:solidFill>
                <a:latin typeface="Times New Roman" panose="02020603050405020304" pitchFamily="18" charset="0"/>
                <a:cs typeface="Times New Roman" panose="02020603050405020304" pitchFamily="18" charset="0"/>
              </a:rPr>
              <a:t>play important role in processor to fetch or store data for an operation</a:t>
            </a:r>
            <a:r>
              <a:rPr lang="en-US" sz="2400" dirty="0">
                <a:solidFill>
                  <a:srgbClr val="273239"/>
                </a:solidFill>
                <a:latin typeface="Times New Roman" panose="02020603050405020304" pitchFamily="18" charset="0"/>
                <a:cs typeface="Times New Roman" panose="02020603050405020304" pitchFamily="18" charset="0"/>
              </a:rPr>
              <a:t>, allowing us to manage read/write operations during program execution</a:t>
            </a:r>
            <a:r>
              <a:rPr lang="en-US" sz="2400" dirty="0" smtClean="0">
                <a:solidFill>
                  <a:srgbClr val="273239"/>
                </a:solidFill>
                <a:latin typeface="Times New Roman" panose="02020603050405020304" pitchFamily="18" charset="0"/>
                <a:cs typeface="Times New Roman" panose="02020603050405020304" pitchFamily="18" charset="0"/>
              </a:rPr>
              <a:t>.</a:t>
            </a:r>
          </a:p>
          <a:p>
            <a:pPr marL="342900" indent="-342900" algn="just" fontAlgn="base">
              <a:buFont typeface="Arial" panose="020B0604020202020204" pitchFamily="34" charset="0"/>
              <a:buChar char="•"/>
            </a:pPr>
            <a:r>
              <a:rPr lang="en-US" sz="2400" dirty="0" smtClean="0">
                <a:solidFill>
                  <a:srgbClr val="273239"/>
                </a:solidFill>
                <a:latin typeface="Times New Roman" panose="02020603050405020304" pitchFamily="18" charset="0"/>
                <a:cs typeface="Times New Roman" panose="02020603050405020304" pitchFamily="18" charset="0"/>
              </a:rPr>
              <a:t> </a:t>
            </a:r>
            <a:r>
              <a:rPr lang="en-US" sz="2400" dirty="0">
                <a:solidFill>
                  <a:srgbClr val="273239"/>
                </a:solidFill>
                <a:latin typeface="Times New Roman" panose="02020603050405020304" pitchFamily="18" charset="0"/>
                <a:cs typeface="Times New Roman" panose="02020603050405020304" pitchFamily="18" charset="0"/>
              </a:rPr>
              <a:t>Effective use of addressing modes makes assembly language code more efficient and flexible, directly impacting performance</a:t>
            </a:r>
            <a:r>
              <a:rPr lang="en-US" sz="2400" dirty="0" smtClean="0">
                <a:solidFill>
                  <a:srgbClr val="273239"/>
                </a:solidFill>
                <a:latin typeface="Times New Roman" panose="02020603050405020304" pitchFamily="18" charset="0"/>
                <a:cs typeface="Times New Roman" panose="02020603050405020304" pitchFamily="18" charset="0"/>
              </a:rPr>
              <a:t>.</a:t>
            </a:r>
          </a:p>
          <a:p>
            <a:pPr marL="342900" indent="-342900" algn="just" fontAlgn="base">
              <a:buFont typeface="Arial" panose="020B0604020202020204" pitchFamily="34" charset="0"/>
              <a:buChar char="•"/>
            </a:pPr>
            <a:endParaRPr lang="en-US" sz="2400" dirty="0">
              <a:solidFill>
                <a:srgbClr val="273239"/>
              </a:solidFill>
              <a:latin typeface="Times New Roman" panose="02020603050405020304" pitchFamily="18" charset="0"/>
              <a:cs typeface="Times New Roman" panose="02020603050405020304" pitchFamily="18" charset="0"/>
            </a:endParaRPr>
          </a:p>
          <a:p>
            <a:pPr fontAlgn="base"/>
            <a:r>
              <a:rPr lang="en-US" sz="2400" b="1" dirty="0">
                <a:solidFill>
                  <a:srgbClr val="273239"/>
                </a:solidFill>
                <a:latin typeface="Times New Roman" panose="02020603050405020304" pitchFamily="18" charset="0"/>
                <a:cs typeface="Times New Roman" panose="02020603050405020304" pitchFamily="18" charset="0"/>
              </a:rPr>
              <a:t>What is Addressing Mode?</a:t>
            </a:r>
          </a:p>
          <a:p>
            <a:pPr algn="just" fontAlgn="base"/>
            <a:r>
              <a:rPr lang="en-US" sz="2400" b="1" dirty="0">
                <a:solidFill>
                  <a:srgbClr val="273239"/>
                </a:solidFill>
                <a:latin typeface="Times New Roman" panose="02020603050405020304" pitchFamily="18" charset="0"/>
                <a:cs typeface="Times New Roman" panose="02020603050405020304" pitchFamily="18" charset="0"/>
              </a:rPr>
              <a:t>Addressing modes</a:t>
            </a:r>
            <a:r>
              <a:rPr lang="en-US" sz="2400" dirty="0">
                <a:solidFill>
                  <a:srgbClr val="273239"/>
                </a:solidFill>
                <a:latin typeface="Times New Roman" panose="02020603050405020304" pitchFamily="18" charset="0"/>
                <a:cs typeface="Times New Roman" panose="02020603050405020304" pitchFamily="18" charset="0"/>
              </a:rPr>
              <a:t> specify how an instruction identifies the data, or operands. It operates on in assembly</a:t>
            </a:r>
            <a:r>
              <a:rPr lang="en-US" sz="2400" u="sng" dirty="0">
                <a:solidFill>
                  <a:srgbClr val="273239"/>
                </a:solidFill>
                <a:latin typeface="Times New Roman" panose="02020603050405020304" pitchFamily="18" charset="0"/>
                <a:cs typeface="Times New Roman" panose="02020603050405020304" pitchFamily="18" charset="0"/>
              </a:rPr>
              <a:t> </a:t>
            </a:r>
            <a:r>
              <a:rPr lang="en-US" sz="2400" dirty="0">
                <a:solidFill>
                  <a:srgbClr val="273239"/>
                </a:solidFill>
                <a:latin typeface="Times New Roman" panose="02020603050405020304" pitchFamily="18" charset="0"/>
                <a:cs typeface="Times New Roman" panose="02020603050405020304" pitchFamily="18" charset="0"/>
              </a:rPr>
              <a:t>language. </a:t>
            </a:r>
            <a:endParaRPr lang="en-US" sz="2400" dirty="0" smtClean="0">
              <a:solidFill>
                <a:srgbClr val="273239"/>
              </a:solidFill>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400" dirty="0" smtClean="0">
                <a:solidFill>
                  <a:srgbClr val="273239"/>
                </a:solidFill>
                <a:latin typeface="Times New Roman" panose="02020603050405020304" pitchFamily="18" charset="0"/>
                <a:cs typeface="Times New Roman" panose="02020603050405020304" pitchFamily="18" charset="0"/>
              </a:rPr>
              <a:t>This </a:t>
            </a:r>
            <a:r>
              <a:rPr lang="en-US" sz="2400" dirty="0">
                <a:solidFill>
                  <a:srgbClr val="273239"/>
                </a:solidFill>
                <a:latin typeface="Times New Roman" panose="02020603050405020304" pitchFamily="18" charset="0"/>
                <a:cs typeface="Times New Roman" panose="02020603050405020304" pitchFamily="18" charset="0"/>
              </a:rPr>
              <a:t>field indicates whether the operand is a direct value, a memory address, or stored in a register</a:t>
            </a:r>
            <a:r>
              <a:rPr lang="en-US" sz="2400" dirty="0" smtClean="0">
                <a:solidFill>
                  <a:srgbClr val="273239"/>
                </a:solidFill>
                <a:latin typeface="Times New Roman" panose="02020603050405020304" pitchFamily="18" charset="0"/>
                <a:cs typeface="Times New Roman" panose="02020603050405020304" pitchFamily="18" charset="0"/>
              </a:rPr>
              <a:t>.</a:t>
            </a:r>
          </a:p>
          <a:p>
            <a:pPr marL="342900" indent="-342900" algn="just" fontAlgn="base">
              <a:buFont typeface="Arial" panose="020B0604020202020204" pitchFamily="34" charset="0"/>
              <a:buChar char="•"/>
            </a:pPr>
            <a:r>
              <a:rPr lang="en-US" sz="2400" dirty="0" smtClean="0">
                <a:solidFill>
                  <a:srgbClr val="273239"/>
                </a:solidFill>
                <a:latin typeface="Times New Roman" panose="02020603050405020304" pitchFamily="18" charset="0"/>
                <a:cs typeface="Times New Roman" panose="02020603050405020304" pitchFamily="18" charset="0"/>
              </a:rPr>
              <a:t> </a:t>
            </a:r>
            <a:r>
              <a:rPr lang="en-US" sz="2400" dirty="0">
                <a:solidFill>
                  <a:srgbClr val="273239"/>
                </a:solidFill>
                <a:latin typeface="Times New Roman" panose="02020603050405020304" pitchFamily="18" charset="0"/>
                <a:cs typeface="Times New Roman" panose="02020603050405020304" pitchFamily="18" charset="0"/>
              </a:rPr>
              <a:t>Addressing modes are important during instruction execution, as they define the form of an operand and the way data is accessed, making sure proper data handling at the machine level</a:t>
            </a:r>
          </a:p>
        </p:txBody>
      </p:sp>
    </p:spTree>
    <p:extLst>
      <p:ext uri="{BB962C8B-B14F-4D97-AF65-F5344CB8AC3E}">
        <p14:creationId xmlns:p14="http://schemas.microsoft.com/office/powerpoint/2010/main" val="24408102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5"/>
          <p:cNvSpPr txBox="1">
            <a:spLocks noGrp="1"/>
          </p:cNvSpPr>
          <p:nvPr>
            <p:ph type="title"/>
          </p:nvPr>
        </p:nvSpPr>
        <p:spPr>
          <a:xfrm>
            <a:off x="395014" y="338321"/>
            <a:ext cx="10587548" cy="1018033"/>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FFFF99"/>
              </a:buClr>
              <a:buSzPts val="4267"/>
              <a:buFont typeface="Century Gothic"/>
              <a:buNone/>
            </a:pPr>
            <a:r>
              <a:rPr lang="en-US" sz="4267">
                <a:solidFill>
                  <a:srgbClr val="C00000"/>
                </a:solidFill>
              </a:rPr>
              <a:t>Types of addressing mode in 8086</a:t>
            </a:r>
            <a:endParaRPr>
              <a:solidFill>
                <a:srgbClr val="C00000"/>
              </a:solidFill>
            </a:endParaRPr>
          </a:p>
        </p:txBody>
      </p:sp>
      <p:sp>
        <p:nvSpPr>
          <p:cNvPr id="169" name="Google Shape;169;p5"/>
          <p:cNvSpPr txBox="1">
            <a:spLocks noGrp="1"/>
          </p:cNvSpPr>
          <p:nvPr>
            <p:ph type="body" idx="1"/>
          </p:nvPr>
        </p:nvSpPr>
        <p:spPr>
          <a:xfrm>
            <a:off x="802228" y="2175164"/>
            <a:ext cx="10994761" cy="4307935"/>
          </a:xfrm>
          <a:prstGeom prst="rect">
            <a:avLst/>
          </a:prstGeom>
          <a:noFill/>
          <a:ln>
            <a:noFill/>
          </a:ln>
        </p:spPr>
        <p:txBody>
          <a:bodyPr spcFirstLastPara="1" wrap="square" lIns="91425" tIns="45700" rIns="91425" bIns="45700" anchor="t" anchorCtr="0">
            <a:normAutofit fontScale="92500" lnSpcReduction="10000"/>
          </a:bodyPr>
          <a:lstStyle/>
          <a:p>
            <a:pPr marL="685783" lvl="0" indent="-685783" algn="l" rtl="0">
              <a:lnSpc>
                <a:spcPct val="150000"/>
              </a:lnSpc>
              <a:spcBef>
                <a:spcPts val="0"/>
              </a:spcBef>
              <a:spcAft>
                <a:spcPts val="0"/>
              </a:spcAft>
              <a:buSzPts val="1600"/>
              <a:buFont typeface="Century Gothic"/>
              <a:buAutoNum type="arabicPeriod"/>
            </a:pPr>
            <a:r>
              <a:rPr lang="en-US" sz="2000" b="1" dirty="0">
                <a:latin typeface="Times New Roman" panose="02020603050405020304" pitchFamily="18" charset="0"/>
                <a:cs typeface="Times New Roman" panose="02020603050405020304" pitchFamily="18" charset="0"/>
              </a:rPr>
              <a:t>Immediate addressing mode</a:t>
            </a:r>
            <a:endParaRPr sz="2000" b="1" dirty="0">
              <a:latin typeface="Times New Roman" panose="02020603050405020304" pitchFamily="18" charset="0"/>
              <a:cs typeface="Times New Roman" panose="02020603050405020304" pitchFamily="18" charset="0"/>
            </a:endParaRPr>
          </a:p>
          <a:p>
            <a:pPr marL="685783" lvl="0" indent="-685783" algn="l" rtl="0">
              <a:lnSpc>
                <a:spcPct val="150000"/>
              </a:lnSpc>
              <a:spcBef>
                <a:spcPts val="1000"/>
              </a:spcBef>
              <a:spcAft>
                <a:spcPts val="0"/>
              </a:spcAft>
              <a:buSzPts val="1600"/>
              <a:buFont typeface="Century Gothic"/>
              <a:buAutoNum type="arabicPeriod"/>
            </a:pPr>
            <a:r>
              <a:rPr lang="en-US" sz="2000" b="1" dirty="0">
                <a:latin typeface="Times New Roman" panose="02020603050405020304" pitchFamily="18" charset="0"/>
                <a:cs typeface="Times New Roman" panose="02020603050405020304" pitchFamily="18" charset="0"/>
              </a:rPr>
              <a:t>Direct addressing mode</a:t>
            </a:r>
            <a:endParaRPr sz="2000" b="1" dirty="0">
              <a:latin typeface="Times New Roman" panose="02020603050405020304" pitchFamily="18" charset="0"/>
              <a:cs typeface="Times New Roman" panose="02020603050405020304" pitchFamily="18" charset="0"/>
            </a:endParaRPr>
          </a:p>
          <a:p>
            <a:pPr marL="685783" lvl="0" indent="-685783" algn="l" rtl="0">
              <a:lnSpc>
                <a:spcPct val="150000"/>
              </a:lnSpc>
              <a:spcBef>
                <a:spcPts val="1000"/>
              </a:spcBef>
              <a:spcAft>
                <a:spcPts val="0"/>
              </a:spcAft>
              <a:buSzPts val="1600"/>
              <a:buFont typeface="Century Gothic"/>
              <a:buAutoNum type="arabicPeriod"/>
            </a:pPr>
            <a:r>
              <a:rPr lang="en-US" sz="2000" b="1" dirty="0">
                <a:latin typeface="Times New Roman" panose="02020603050405020304" pitchFamily="18" charset="0"/>
                <a:cs typeface="Times New Roman" panose="02020603050405020304" pitchFamily="18" charset="0"/>
              </a:rPr>
              <a:t>Register addressing mode</a:t>
            </a:r>
            <a:endParaRPr sz="2000" b="1" dirty="0">
              <a:latin typeface="Times New Roman" panose="02020603050405020304" pitchFamily="18" charset="0"/>
              <a:cs typeface="Times New Roman" panose="02020603050405020304" pitchFamily="18" charset="0"/>
            </a:endParaRPr>
          </a:p>
          <a:p>
            <a:pPr marL="685783" lvl="0" indent="-685783" algn="l" rtl="0">
              <a:lnSpc>
                <a:spcPct val="150000"/>
              </a:lnSpc>
              <a:spcBef>
                <a:spcPts val="1000"/>
              </a:spcBef>
              <a:spcAft>
                <a:spcPts val="0"/>
              </a:spcAft>
              <a:buSzPts val="1600"/>
              <a:buFont typeface="Century Gothic"/>
              <a:buAutoNum type="arabicPeriod"/>
            </a:pPr>
            <a:r>
              <a:rPr lang="en-US" sz="2000" b="1" dirty="0">
                <a:latin typeface="Times New Roman" panose="02020603050405020304" pitchFamily="18" charset="0"/>
                <a:cs typeface="Times New Roman" panose="02020603050405020304" pitchFamily="18" charset="0"/>
              </a:rPr>
              <a:t>Register Indirect addressing mode</a:t>
            </a:r>
            <a:endParaRPr sz="2000" b="1" dirty="0">
              <a:latin typeface="Times New Roman" panose="02020603050405020304" pitchFamily="18" charset="0"/>
              <a:cs typeface="Times New Roman" panose="02020603050405020304" pitchFamily="18" charset="0"/>
            </a:endParaRPr>
          </a:p>
          <a:p>
            <a:pPr marL="685783" lvl="0" indent="-685783" algn="l" rtl="0">
              <a:lnSpc>
                <a:spcPct val="150000"/>
              </a:lnSpc>
              <a:spcBef>
                <a:spcPts val="1000"/>
              </a:spcBef>
              <a:spcAft>
                <a:spcPts val="0"/>
              </a:spcAft>
              <a:buSzPts val="1600"/>
              <a:buFont typeface="Century Gothic"/>
              <a:buAutoNum type="arabicPeriod"/>
            </a:pPr>
            <a:r>
              <a:rPr lang="en-US" sz="2000" b="1" dirty="0">
                <a:latin typeface="Times New Roman" panose="02020603050405020304" pitchFamily="18" charset="0"/>
                <a:cs typeface="Times New Roman" panose="02020603050405020304" pitchFamily="18" charset="0"/>
              </a:rPr>
              <a:t>Indexed addressing mode</a:t>
            </a:r>
            <a:endParaRPr sz="2000" b="1" dirty="0">
              <a:latin typeface="Times New Roman" panose="02020603050405020304" pitchFamily="18" charset="0"/>
              <a:cs typeface="Times New Roman" panose="02020603050405020304" pitchFamily="18" charset="0"/>
            </a:endParaRPr>
          </a:p>
          <a:p>
            <a:pPr marL="685783" lvl="0" indent="-685783" algn="l" rtl="0">
              <a:lnSpc>
                <a:spcPct val="150000"/>
              </a:lnSpc>
              <a:spcBef>
                <a:spcPts val="1000"/>
              </a:spcBef>
              <a:spcAft>
                <a:spcPts val="0"/>
              </a:spcAft>
              <a:buSzPts val="1600"/>
              <a:buFont typeface="Century Gothic"/>
              <a:buAutoNum type="arabicPeriod"/>
            </a:pPr>
            <a:r>
              <a:rPr lang="en-US" sz="2000" b="1" dirty="0">
                <a:latin typeface="Times New Roman" panose="02020603050405020304" pitchFamily="18" charset="0"/>
                <a:cs typeface="Times New Roman" panose="02020603050405020304" pitchFamily="18" charset="0"/>
              </a:rPr>
              <a:t>Register relative addressing mode</a:t>
            </a:r>
            <a:endParaRPr sz="2000" b="1" dirty="0">
              <a:latin typeface="Times New Roman" panose="02020603050405020304" pitchFamily="18" charset="0"/>
              <a:cs typeface="Times New Roman" panose="02020603050405020304" pitchFamily="18" charset="0"/>
            </a:endParaRPr>
          </a:p>
          <a:p>
            <a:pPr marL="685783" lvl="0" indent="-685783" algn="l" rtl="0">
              <a:lnSpc>
                <a:spcPct val="150000"/>
              </a:lnSpc>
              <a:spcBef>
                <a:spcPts val="1000"/>
              </a:spcBef>
              <a:spcAft>
                <a:spcPts val="0"/>
              </a:spcAft>
              <a:buSzPts val="1600"/>
              <a:buFont typeface="Century Gothic"/>
              <a:buAutoNum type="arabicPeriod"/>
            </a:pPr>
            <a:r>
              <a:rPr lang="en-US" sz="2000" b="1" dirty="0">
                <a:latin typeface="Times New Roman" panose="02020603050405020304" pitchFamily="18" charset="0"/>
                <a:cs typeface="Times New Roman" panose="02020603050405020304" pitchFamily="18" charset="0"/>
              </a:rPr>
              <a:t>Base plus index addressing mode</a:t>
            </a:r>
            <a:endParaRPr sz="2000" b="1" dirty="0">
              <a:latin typeface="Times New Roman" panose="02020603050405020304" pitchFamily="18" charset="0"/>
              <a:cs typeface="Times New Roman" panose="02020603050405020304" pitchFamily="18" charset="0"/>
            </a:endParaRPr>
          </a:p>
          <a:p>
            <a:pPr marL="685783" lvl="0" indent="-685783" algn="l" rtl="0">
              <a:lnSpc>
                <a:spcPct val="150000"/>
              </a:lnSpc>
              <a:spcBef>
                <a:spcPts val="1000"/>
              </a:spcBef>
              <a:spcAft>
                <a:spcPts val="0"/>
              </a:spcAft>
              <a:buSzPts val="1600"/>
              <a:buFont typeface="Century Gothic"/>
              <a:buAutoNum type="arabicPeriod"/>
            </a:pPr>
            <a:r>
              <a:rPr lang="en-US" sz="2000" b="1" dirty="0">
                <a:latin typeface="Times New Roman" panose="02020603050405020304" pitchFamily="18" charset="0"/>
                <a:cs typeface="Times New Roman" panose="02020603050405020304" pitchFamily="18" charset="0"/>
              </a:rPr>
              <a:t>Base relative plus index addressing mode</a:t>
            </a:r>
            <a:endParaRPr sz="2000" b="1" dirty="0">
              <a:latin typeface="Times New Roman" panose="02020603050405020304" pitchFamily="18" charset="0"/>
              <a:cs typeface="Times New Roman" panose="02020603050405020304" pitchFamily="18" charset="0"/>
            </a:endParaRPr>
          </a:p>
        </p:txBody>
      </p:sp>
      <p:cxnSp>
        <p:nvCxnSpPr>
          <p:cNvPr id="170" name="Google Shape;170;p5"/>
          <p:cNvCxnSpPr/>
          <p:nvPr/>
        </p:nvCxnSpPr>
        <p:spPr>
          <a:xfrm>
            <a:off x="0" y="1392933"/>
            <a:ext cx="12192000" cy="0"/>
          </a:xfrm>
          <a:prstGeom prst="straightConnector1">
            <a:avLst/>
          </a:prstGeom>
          <a:noFill/>
          <a:ln w="28575" cap="rnd" cmpd="sng">
            <a:solidFill>
              <a:schemeClr val="accent3"/>
            </a:solidFill>
            <a:prstDash val="solid"/>
            <a:round/>
            <a:headEnd type="none" w="sm" len="sm"/>
            <a:tailEnd type="none" w="sm" len="sm"/>
          </a:ln>
          <a:effectLst>
            <a:outerShdw blurRad="38100" dist="25400" dir="5400000" rotWithShape="0">
              <a:srgbClr val="000000">
                <a:alpha val="44313"/>
              </a:srgbClr>
            </a:outerShdw>
          </a:effectLst>
        </p:spPr>
      </p:cxnSp>
      <p:sp>
        <p:nvSpPr>
          <p:cNvPr id="2" name="Rectangle 1"/>
          <p:cNvSpPr/>
          <p:nvPr/>
        </p:nvSpPr>
        <p:spPr>
          <a:xfrm>
            <a:off x="193964" y="1526967"/>
            <a:ext cx="11762509" cy="1051570"/>
          </a:xfrm>
          <a:prstGeom prst="rect">
            <a:avLst/>
          </a:prstGeom>
        </p:spPr>
        <p:txBody>
          <a:bodyPr wrap="square">
            <a:spAutoFit/>
          </a:bodyPr>
          <a:lstStyle/>
          <a:p>
            <a:pPr lvl="0" algn="just">
              <a:buSzPts val="2134"/>
            </a:pPr>
            <a:r>
              <a:rPr lang="en-US" sz="1800" b="1" dirty="0">
                <a:solidFill>
                  <a:schemeClr val="accent6">
                    <a:lumMod val="75000"/>
                  </a:schemeClr>
                </a:solidFill>
                <a:latin typeface="Times New Roman" panose="02020603050405020304" pitchFamily="18" charset="0"/>
                <a:cs typeface="Times New Roman" panose="02020603050405020304" pitchFamily="18" charset="0"/>
              </a:rPr>
              <a:t>Addressing modes help us to understand the types of operands and the way they are accessed while executing an instruction. </a:t>
            </a:r>
          </a:p>
          <a:p>
            <a:pPr marL="342900" lvl="0" indent="-207416">
              <a:spcBef>
                <a:spcPts val="1000"/>
              </a:spcBef>
              <a:buSzPts val="2134"/>
            </a:pPr>
            <a:endParaRPr lang="en-US" sz="1800" b="1" dirty="0">
              <a:solidFill>
                <a:schemeClr val="accent6">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8204942e01_0_0"/>
          <p:cNvSpPr txBox="1">
            <a:spLocks noGrp="1"/>
          </p:cNvSpPr>
          <p:nvPr>
            <p:ph type="title"/>
          </p:nvPr>
        </p:nvSpPr>
        <p:spPr>
          <a:xfrm>
            <a:off x="646111" y="452718"/>
            <a:ext cx="9404700" cy="1400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endParaRPr/>
          </a:p>
        </p:txBody>
      </p:sp>
      <p:sp>
        <p:nvSpPr>
          <p:cNvPr id="177" name="Google Shape;177;g18204942e01_0_0"/>
          <p:cNvSpPr txBox="1">
            <a:spLocks noGrp="1"/>
          </p:cNvSpPr>
          <p:nvPr>
            <p:ph type="body" idx="1"/>
          </p:nvPr>
        </p:nvSpPr>
        <p:spPr>
          <a:xfrm>
            <a:off x="1103312" y="2052918"/>
            <a:ext cx="8946600" cy="41955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440"/>
              <a:buNone/>
            </a:pPr>
            <a:endParaRPr/>
          </a:p>
        </p:txBody>
      </p:sp>
      <p:pic>
        <p:nvPicPr>
          <p:cNvPr id="178" name="Google Shape;178;g18204942e01_0_0"/>
          <p:cNvPicPr preferRelativeResize="0"/>
          <p:nvPr/>
        </p:nvPicPr>
        <p:blipFill rotWithShape="1">
          <a:blip r:embed="rId3">
            <a:alphaModFix/>
          </a:blip>
          <a:srcRect/>
          <a:stretch/>
        </p:blipFill>
        <p:spPr>
          <a:xfrm>
            <a:off x="0" y="214325"/>
            <a:ext cx="11928764" cy="6396401"/>
          </a:xfrm>
          <a:prstGeom prst="rect">
            <a:avLst/>
          </a:prstGeom>
          <a:noFill/>
          <a:ln>
            <a:noFill/>
          </a:ln>
        </p:spPr>
      </p:pic>
      <p:cxnSp>
        <p:nvCxnSpPr>
          <p:cNvPr id="3" name="Straight Connector 2"/>
          <p:cNvCxnSpPr/>
          <p:nvPr/>
        </p:nvCxnSpPr>
        <p:spPr>
          <a:xfrm>
            <a:off x="0" y="2396836"/>
            <a:ext cx="11554691" cy="0"/>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0" y="4987636"/>
            <a:ext cx="11554691" cy="0"/>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0" y="5846618"/>
            <a:ext cx="11554691" cy="0"/>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0" y="6248418"/>
            <a:ext cx="11554691" cy="0"/>
          </a:xfrm>
          <a:prstGeom prst="line">
            <a:avLst/>
          </a:prstGeom>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21673" y="212498"/>
            <a:ext cx="11831780" cy="6460715"/>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0070C0"/>
                </a:solidFill>
                <a:effectLst/>
                <a:latin typeface="Nunito" panose="020B0604020202020204" charset="0"/>
              </a:rPr>
              <a:t>Types of Addressing Modes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0070C0"/>
                </a:solidFill>
                <a:effectLst/>
                <a:latin typeface="Nunito" panose="020B0604020202020204" charset="0"/>
                <a:cs typeface="Nunito" panose="020B0604020202020204" charset="0"/>
              </a:rPr>
              <a:t>Register Mode</a:t>
            </a:r>
            <a:r>
              <a:rPr kumimoji="0" lang="en-US" altLang="en-US" sz="1800" b="0" i="0" u="none" strike="noStrike" cap="none" normalizeH="0" baseline="0" dirty="0" smtClean="0">
                <a:ln>
                  <a:noFill/>
                </a:ln>
                <a:solidFill>
                  <a:srgbClr val="0070C0"/>
                </a:solidFill>
                <a:effectLst/>
                <a:latin typeface="Nunito" panose="020B0604020202020204" charset="0"/>
                <a:cs typeface="Nunito" panose="020B0604020202020204" charset="0"/>
              </a:rPr>
              <a:t>: In this type of addressing mode both the operands are registers.</a:t>
            </a:r>
            <a:endParaRPr kumimoji="0" lang="en-US" altLang="en-US" sz="1800" b="0" i="0" u="none" strike="noStrike" cap="none" normalizeH="0" baseline="0" dirty="0" smtClean="0">
              <a:ln>
                <a:noFill/>
              </a:ln>
              <a:solidFill>
                <a:srgbClr val="0070C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bg2"/>
                </a:solidFill>
                <a:effectLst/>
                <a:latin typeface="Nunito" panose="020B0604020202020204" charset="0"/>
                <a:cs typeface="Nunito" panose="020B0604020202020204" charset="0"/>
              </a:rPr>
              <a:t>Example:</a:t>
            </a:r>
            <a:endParaRPr kumimoji="0" lang="en-US" altLang="en-US" sz="1800" b="0" i="0" u="none" strike="noStrike" cap="none" normalizeH="0" baseline="0" dirty="0" smtClean="0">
              <a:ln>
                <a:noFill/>
              </a:ln>
              <a:solidFill>
                <a:schemeClr val="bg2"/>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bg2"/>
                </a:solidFill>
                <a:effectLst/>
                <a:latin typeface="Consolas" panose="020B0609020204030204" pitchFamily="49" charset="0"/>
              </a:rPr>
              <a:t>MOV AX, BX   (       </a:t>
            </a:r>
            <a:br>
              <a:rPr kumimoji="0" lang="en-US" altLang="en-US" sz="1800" b="0" i="0" u="none" strike="noStrike" cap="none" normalizeH="0" baseline="0" dirty="0" smtClean="0">
                <a:ln>
                  <a:noFill/>
                </a:ln>
                <a:solidFill>
                  <a:schemeClr val="bg2"/>
                </a:solidFill>
                <a:effectLst/>
                <a:latin typeface="Consolas" panose="020B0609020204030204" pitchFamily="49" charset="0"/>
              </a:rPr>
            </a:br>
            <a:r>
              <a:rPr kumimoji="0" lang="en-US" altLang="en-US" sz="1800" b="0" i="0" u="none" strike="noStrike" cap="none" normalizeH="0" baseline="0" dirty="0" smtClean="0">
                <a:ln>
                  <a:noFill/>
                </a:ln>
                <a:solidFill>
                  <a:schemeClr val="bg2"/>
                </a:solidFill>
                <a:effectLst/>
                <a:latin typeface="Consolas" panose="020B0609020204030204" pitchFamily="49" charset="0"/>
              </a:rPr>
              <a:t>XOR AX, DX</a:t>
            </a:r>
            <a:br>
              <a:rPr kumimoji="0" lang="en-US" altLang="en-US" sz="1800" b="0" i="0" u="none" strike="noStrike" cap="none" normalizeH="0" baseline="0" dirty="0" smtClean="0">
                <a:ln>
                  <a:noFill/>
                </a:ln>
                <a:solidFill>
                  <a:schemeClr val="bg2"/>
                </a:solidFill>
                <a:effectLst/>
                <a:latin typeface="Consolas" panose="020B0609020204030204" pitchFamily="49" charset="0"/>
              </a:rPr>
            </a:br>
            <a:r>
              <a:rPr kumimoji="0" lang="en-US" altLang="en-US" sz="1800" b="0" i="0" u="none" strike="noStrike" cap="none" normalizeH="0" baseline="0" dirty="0" smtClean="0">
                <a:ln>
                  <a:noFill/>
                </a:ln>
                <a:solidFill>
                  <a:schemeClr val="bg2"/>
                </a:solidFill>
                <a:effectLst/>
                <a:latin typeface="Consolas" panose="020B0609020204030204" pitchFamily="49" charset="0"/>
              </a:rPr>
              <a:t>ADD AL, BL</a:t>
            </a:r>
            <a:endParaRPr kumimoji="0" lang="en-US" altLang="en-US" sz="1800" b="0" i="0" u="none" strike="noStrike" cap="none" normalizeH="0" baseline="0" dirty="0" smtClean="0">
              <a:ln>
                <a:noFill/>
              </a:ln>
              <a:solidFill>
                <a:schemeClr val="bg2"/>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0070C0"/>
                </a:solidFill>
                <a:effectLst/>
                <a:latin typeface="Nunito" panose="020B0604020202020204" charset="0"/>
                <a:cs typeface="Nunito" panose="020B0604020202020204" charset="0"/>
              </a:rPr>
              <a:t>Immediate Mode</a:t>
            </a:r>
            <a:r>
              <a:rPr kumimoji="0" lang="en-US" altLang="en-US" sz="1800" b="0" i="0" u="none" strike="noStrike" cap="none" normalizeH="0" baseline="0" dirty="0" smtClean="0">
                <a:ln>
                  <a:noFill/>
                </a:ln>
                <a:solidFill>
                  <a:srgbClr val="0070C0"/>
                </a:solidFill>
                <a:effectLst/>
                <a:latin typeface="Nunito" panose="020B0604020202020204" charset="0"/>
                <a:cs typeface="Nunito" panose="020B0604020202020204" charset="0"/>
              </a:rPr>
              <a:t>: In this type of addressing mode the source operand is a 8 bit or 16 bit data. Destination operand can never be immediate data.</a:t>
            </a:r>
            <a:endParaRPr kumimoji="0" lang="en-US" altLang="en-US" sz="1800" b="0" i="0" u="none" strike="noStrike" cap="none" normalizeH="0" baseline="0" dirty="0" smtClean="0">
              <a:ln>
                <a:noFill/>
              </a:ln>
              <a:solidFill>
                <a:srgbClr val="0070C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bg2"/>
                </a:solidFill>
                <a:effectLst/>
                <a:latin typeface="Nunito" panose="020B0604020202020204" charset="0"/>
                <a:cs typeface="Nunito" panose="020B0604020202020204" charset="0"/>
              </a:rPr>
              <a:t>Example:</a:t>
            </a:r>
            <a:endParaRPr kumimoji="0" lang="en-US" altLang="en-US" sz="1800" b="0" i="0" u="none" strike="noStrike" cap="none" normalizeH="0" baseline="0" dirty="0" smtClean="0">
              <a:ln>
                <a:noFill/>
              </a:ln>
              <a:solidFill>
                <a:schemeClr val="bg2"/>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bg2"/>
                </a:solidFill>
                <a:effectLst/>
                <a:latin typeface="Consolas" panose="020B0609020204030204" pitchFamily="49" charset="0"/>
              </a:rPr>
              <a:t>MOV AX, 2000</a:t>
            </a:r>
            <a:br>
              <a:rPr kumimoji="0" lang="en-US" altLang="en-US" sz="1800" b="0" i="0" u="none" strike="noStrike" cap="none" normalizeH="0" baseline="0" dirty="0" smtClean="0">
                <a:ln>
                  <a:noFill/>
                </a:ln>
                <a:solidFill>
                  <a:schemeClr val="bg2"/>
                </a:solidFill>
                <a:effectLst/>
                <a:latin typeface="Consolas" panose="020B0609020204030204" pitchFamily="49" charset="0"/>
              </a:rPr>
            </a:br>
            <a:r>
              <a:rPr kumimoji="0" lang="en-US" altLang="en-US" sz="1800" b="0" i="0" u="none" strike="noStrike" cap="none" normalizeH="0" baseline="0" dirty="0" smtClean="0">
                <a:ln>
                  <a:noFill/>
                </a:ln>
                <a:solidFill>
                  <a:schemeClr val="bg2"/>
                </a:solidFill>
                <a:effectLst/>
                <a:latin typeface="Consolas" panose="020B0609020204030204" pitchFamily="49" charset="0"/>
              </a:rPr>
              <a:t>MOV CL, 0A</a:t>
            </a:r>
            <a:br>
              <a:rPr kumimoji="0" lang="en-US" altLang="en-US" sz="1800" b="0" i="0" u="none" strike="noStrike" cap="none" normalizeH="0" baseline="0" dirty="0" smtClean="0">
                <a:ln>
                  <a:noFill/>
                </a:ln>
                <a:solidFill>
                  <a:schemeClr val="bg2"/>
                </a:solidFill>
                <a:effectLst/>
                <a:latin typeface="Consolas" panose="020B0609020204030204" pitchFamily="49" charset="0"/>
              </a:rPr>
            </a:br>
            <a:r>
              <a:rPr kumimoji="0" lang="en-US" altLang="en-US" sz="1800" b="0" i="0" u="none" strike="noStrike" cap="none" normalizeH="0" baseline="0" dirty="0" smtClean="0">
                <a:ln>
                  <a:noFill/>
                </a:ln>
                <a:solidFill>
                  <a:schemeClr val="bg2"/>
                </a:solidFill>
                <a:effectLst/>
                <a:latin typeface="Consolas" panose="020B0609020204030204" pitchFamily="49" charset="0"/>
              </a:rPr>
              <a:t>ADD AL, 45</a:t>
            </a:r>
            <a:br>
              <a:rPr kumimoji="0" lang="en-US" altLang="en-US" sz="1800" b="0" i="0" u="none" strike="noStrike" cap="none" normalizeH="0" baseline="0" dirty="0" smtClean="0">
                <a:ln>
                  <a:noFill/>
                </a:ln>
                <a:solidFill>
                  <a:schemeClr val="bg2"/>
                </a:solidFill>
                <a:effectLst/>
                <a:latin typeface="Consolas" panose="020B0609020204030204" pitchFamily="49" charset="0"/>
              </a:rPr>
            </a:br>
            <a:r>
              <a:rPr kumimoji="0" lang="en-US" altLang="en-US" sz="1800" b="0" i="0" u="none" strike="noStrike" cap="none" normalizeH="0" baseline="0" dirty="0" smtClean="0">
                <a:ln>
                  <a:noFill/>
                </a:ln>
                <a:solidFill>
                  <a:schemeClr val="bg2"/>
                </a:solidFill>
                <a:effectLst/>
                <a:latin typeface="Consolas" panose="020B0609020204030204" pitchFamily="49" charset="0"/>
              </a:rPr>
              <a:t>AND AX, 0000</a:t>
            </a:r>
            <a:endParaRPr kumimoji="0" lang="en-US" altLang="en-US" sz="1800" b="0" i="0" u="none" strike="noStrike" cap="none" normalizeH="0" baseline="0" dirty="0" smtClean="0">
              <a:ln>
                <a:noFill/>
              </a:ln>
              <a:solidFill>
                <a:schemeClr val="bg2"/>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0070C0"/>
                </a:solidFill>
                <a:effectLst/>
                <a:latin typeface="Nunito" panose="020B0604020202020204" charset="0"/>
                <a:cs typeface="Nunito" panose="020B0604020202020204" charset="0"/>
              </a:rPr>
              <a:t>Displacement or Direct Mode:</a:t>
            </a:r>
            <a:r>
              <a:rPr kumimoji="0" lang="en-US" altLang="en-US" sz="1800" b="0" i="0" u="none" strike="noStrike" cap="none" normalizeH="0" baseline="0" dirty="0" smtClean="0">
                <a:ln>
                  <a:noFill/>
                </a:ln>
                <a:solidFill>
                  <a:srgbClr val="0070C0"/>
                </a:solidFill>
                <a:effectLst/>
                <a:latin typeface="Nunito" panose="020B0604020202020204" charset="0"/>
                <a:cs typeface="Nunito" panose="020B0604020202020204" charset="0"/>
              </a:rPr>
              <a:t> In this type of addressing mode the effective address is directly given in the instruction as displacement.</a:t>
            </a:r>
            <a:endParaRPr kumimoji="0" lang="en-US" altLang="en-US" sz="1800" b="0" i="0" u="none" strike="noStrike" cap="none" normalizeH="0" baseline="0" dirty="0" smtClean="0">
              <a:ln>
                <a:noFill/>
              </a:ln>
              <a:solidFill>
                <a:srgbClr val="0070C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bg2"/>
                </a:solidFill>
                <a:effectLst/>
                <a:latin typeface="Nunito" panose="020B0604020202020204" charset="0"/>
                <a:cs typeface="Nunito" panose="020B0604020202020204" charset="0"/>
              </a:rPr>
              <a:t>Example:</a:t>
            </a:r>
            <a:endParaRPr kumimoji="0" lang="en-US" altLang="en-US" sz="1800" b="0" i="0" u="none" strike="noStrike" cap="none" normalizeH="0" baseline="0" dirty="0" smtClean="0">
              <a:ln>
                <a:noFill/>
              </a:ln>
              <a:solidFill>
                <a:schemeClr val="bg2"/>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bg2"/>
                </a:solidFill>
                <a:effectLst/>
                <a:latin typeface="Consolas" panose="020B0609020204030204" pitchFamily="49" charset="0"/>
              </a:rPr>
              <a:t>MOV AX, [DISP]</a:t>
            </a:r>
            <a:br>
              <a:rPr kumimoji="0" lang="en-US" altLang="en-US" sz="1800" b="0" i="0" u="none" strike="noStrike" cap="none" normalizeH="0" baseline="0" dirty="0" smtClean="0">
                <a:ln>
                  <a:noFill/>
                </a:ln>
                <a:solidFill>
                  <a:schemeClr val="bg2"/>
                </a:solidFill>
                <a:effectLst/>
                <a:latin typeface="Consolas" panose="020B0609020204030204" pitchFamily="49" charset="0"/>
              </a:rPr>
            </a:br>
            <a:r>
              <a:rPr kumimoji="0" lang="en-US" altLang="en-US" sz="1800" b="0" i="0" u="none" strike="noStrike" cap="none" normalizeH="0" baseline="0" dirty="0" smtClean="0">
                <a:ln>
                  <a:noFill/>
                </a:ln>
                <a:solidFill>
                  <a:schemeClr val="bg2"/>
                </a:solidFill>
                <a:effectLst/>
                <a:latin typeface="Consolas" panose="020B0609020204030204" pitchFamily="49" charset="0"/>
              </a:rPr>
              <a:t>MOV AX, [0500]</a:t>
            </a:r>
            <a:endParaRPr kumimoji="0" lang="en-US" altLang="en-US" sz="1800" b="0" i="0" u="none" strike="noStrike" cap="none" normalizeH="0" baseline="0" dirty="0" smtClean="0">
              <a:ln>
                <a:noFill/>
              </a:ln>
              <a:solidFill>
                <a:schemeClr val="bg2"/>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0070C0"/>
                </a:solidFill>
                <a:effectLst/>
                <a:latin typeface="Nunito" panose="020B0604020202020204" charset="0"/>
                <a:cs typeface="Nunito" panose="020B0604020202020204" charset="0"/>
              </a:rPr>
              <a:t>Register Indirect Mode: </a:t>
            </a:r>
            <a:r>
              <a:rPr kumimoji="0" lang="en-US" altLang="en-US" sz="1800" b="0" i="0" u="none" strike="noStrike" cap="none" normalizeH="0" baseline="0" dirty="0" smtClean="0">
                <a:ln>
                  <a:noFill/>
                </a:ln>
                <a:solidFill>
                  <a:srgbClr val="0070C0"/>
                </a:solidFill>
                <a:effectLst/>
                <a:latin typeface="Nunito" panose="020B0604020202020204" charset="0"/>
                <a:cs typeface="Nunito" panose="020B0604020202020204" charset="0"/>
              </a:rPr>
              <a:t>In this addressing mode the effective address is in SI, DI or BX.</a:t>
            </a:r>
            <a:endParaRPr kumimoji="0" lang="en-US" altLang="en-US" sz="1800" b="0" i="0" u="none" strike="noStrike" cap="none" normalizeH="0" baseline="0" dirty="0" smtClean="0">
              <a:ln>
                <a:noFill/>
              </a:ln>
              <a:solidFill>
                <a:srgbClr val="0070C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rgbClr val="0070C0"/>
                </a:solidFill>
                <a:effectLst/>
                <a:latin typeface="Nunito" panose="020B0604020202020204" charset="0"/>
                <a:cs typeface="Nunito" panose="020B0604020202020204" charset="0"/>
              </a:rPr>
              <a:t>Example:</a:t>
            </a:r>
            <a:r>
              <a:rPr kumimoji="0" lang="en-US" altLang="en-US" sz="1800" b="0" i="0" u="none" strike="noStrike" cap="none" normalizeH="0" baseline="0" dirty="0" smtClean="0">
                <a:ln>
                  <a:noFill/>
                </a:ln>
                <a:solidFill>
                  <a:srgbClr val="0070C0"/>
                </a:solidFill>
                <a:effectLst/>
                <a:latin typeface="Nunito" panose="020B0604020202020204" charset="0"/>
                <a:cs typeface="Nunito" panose="020B0604020202020204" charset="0"/>
              </a:rPr>
              <a:t> Physical Address = Segment Address + Effective Address</a:t>
            </a:r>
            <a:endParaRPr kumimoji="0" lang="en-US" altLang="en-US" sz="1800" b="0" i="0" u="none" strike="noStrike" cap="none" normalizeH="0" baseline="0" dirty="0" smtClean="0">
              <a:ln>
                <a:noFill/>
              </a:ln>
              <a:solidFill>
                <a:srgbClr val="0070C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bg2"/>
                </a:solidFill>
                <a:effectLst/>
                <a:latin typeface="Consolas" panose="020B0609020204030204" pitchFamily="49" charset="0"/>
              </a:rPr>
              <a:t>MOV AX, [DI]                   </a:t>
            </a:r>
            <a:br>
              <a:rPr kumimoji="0" lang="en-US" altLang="en-US" sz="1800" b="0" i="0" u="none" strike="noStrike" cap="none" normalizeH="0" baseline="0" dirty="0" smtClean="0">
                <a:ln>
                  <a:noFill/>
                </a:ln>
                <a:solidFill>
                  <a:schemeClr val="bg2"/>
                </a:solidFill>
                <a:effectLst/>
                <a:latin typeface="Consolas" panose="020B0609020204030204" pitchFamily="49" charset="0"/>
              </a:rPr>
            </a:br>
            <a:r>
              <a:rPr kumimoji="0" lang="en-US" altLang="en-US" sz="1800" b="0" i="0" u="none" strike="noStrike" cap="none" normalizeH="0" baseline="0" dirty="0" smtClean="0">
                <a:ln>
                  <a:noFill/>
                </a:ln>
                <a:solidFill>
                  <a:schemeClr val="bg2"/>
                </a:solidFill>
                <a:effectLst/>
                <a:latin typeface="Consolas" panose="020B0609020204030204" pitchFamily="49" charset="0"/>
              </a:rPr>
              <a:t>ADD AL, [BX]</a:t>
            </a:r>
            <a:br>
              <a:rPr kumimoji="0" lang="en-US" altLang="en-US" sz="1800" b="0" i="0" u="none" strike="noStrike" cap="none" normalizeH="0" baseline="0" dirty="0" smtClean="0">
                <a:ln>
                  <a:noFill/>
                </a:ln>
                <a:solidFill>
                  <a:schemeClr val="bg2"/>
                </a:solidFill>
                <a:effectLst/>
                <a:latin typeface="Consolas" panose="020B0609020204030204" pitchFamily="49" charset="0"/>
              </a:rPr>
            </a:br>
            <a:r>
              <a:rPr kumimoji="0" lang="en-US" altLang="en-US" sz="1800" b="0" i="0" u="none" strike="noStrike" cap="none" normalizeH="0" baseline="0" dirty="0" smtClean="0">
                <a:ln>
                  <a:noFill/>
                </a:ln>
                <a:solidFill>
                  <a:schemeClr val="bg2"/>
                </a:solidFill>
                <a:effectLst/>
                <a:latin typeface="Consolas" panose="020B0609020204030204" pitchFamily="49" charset="0"/>
              </a:rPr>
              <a:t>MOV AX, [SI] </a:t>
            </a:r>
            <a:endParaRPr kumimoji="0" lang="en-US" altLang="en-US" sz="1800" b="0" i="0" u="none" strike="noStrike" cap="none" normalizeH="0" baseline="0" dirty="0" smtClean="0">
              <a:ln>
                <a:noFill/>
              </a:ln>
              <a:solidFill>
                <a:schemeClr val="bg2"/>
              </a:solidFill>
              <a:effectLst/>
            </a:endParaRPr>
          </a:p>
        </p:txBody>
      </p:sp>
      <p:sp>
        <p:nvSpPr>
          <p:cNvPr id="9" name="Rectangle 8"/>
          <p:cNvSpPr/>
          <p:nvPr/>
        </p:nvSpPr>
        <p:spPr>
          <a:xfrm>
            <a:off x="1835400" y="1044530"/>
            <a:ext cx="5944256" cy="307777"/>
          </a:xfrm>
          <a:prstGeom prst="rect">
            <a:avLst/>
          </a:prstGeom>
        </p:spPr>
        <p:txBody>
          <a:bodyPr wrap="none">
            <a:spAutoFit/>
          </a:bodyPr>
          <a:lstStyle/>
          <a:p>
            <a:pPr lvl="0" eaLnBrk="0" fontAlgn="base" hangingPunct="0">
              <a:spcBef>
                <a:spcPct val="0"/>
              </a:spcBef>
              <a:spcAft>
                <a:spcPct val="0"/>
              </a:spcAft>
              <a:buClrTx/>
            </a:pPr>
            <a:r>
              <a:rPr lang="en-US" altLang="en-US" dirty="0">
                <a:latin typeface="inherit"/>
              </a:rPr>
              <a:t>copies the contents of the 16-bit </a:t>
            </a:r>
            <a:r>
              <a:rPr lang="en-US" altLang="en-US" dirty="0" smtClean="0">
                <a:latin typeface="inherit"/>
              </a:rPr>
              <a:t>BX </a:t>
            </a:r>
            <a:r>
              <a:rPr lang="en-US" altLang="en-US" dirty="0">
                <a:latin typeface="inherit"/>
              </a:rPr>
              <a:t>register into </a:t>
            </a:r>
            <a:r>
              <a:rPr lang="en-US" altLang="en-US" dirty="0" smtClean="0">
                <a:latin typeface="inherit"/>
              </a:rPr>
              <a:t> </a:t>
            </a:r>
            <a:r>
              <a:rPr lang="en-US" altLang="en-US" dirty="0">
                <a:latin typeface="inherit"/>
              </a:rPr>
              <a:t>the 16-bit </a:t>
            </a:r>
            <a:r>
              <a:rPr lang="en-US" altLang="en-US" dirty="0" smtClean="0">
                <a:latin typeface="inherit"/>
              </a:rPr>
              <a:t>AX </a:t>
            </a:r>
            <a:r>
              <a:rPr lang="en-US" altLang="en-US" dirty="0">
                <a:latin typeface="inherit"/>
              </a:rPr>
              <a:t>register)</a:t>
            </a:r>
            <a:r>
              <a:rPr lang="en-US" altLang="en-US" dirty="0">
                <a:solidFill>
                  <a:schemeClr val="tx1"/>
                </a:solidFill>
              </a:rPr>
              <a:t> </a:t>
            </a:r>
            <a:endParaRPr lang="en-US" altLang="en-US" sz="2400" dirty="0">
              <a:solidFill>
                <a:schemeClr val="tx1"/>
              </a:solidFill>
              <a:latin typeface="Arial" panose="020B0604020202020204" pitchFamily="34" charset="0"/>
            </a:endParaRPr>
          </a:p>
        </p:txBody>
      </p:sp>
      <p:sp>
        <p:nvSpPr>
          <p:cNvPr id="11" name="Rectangle 10"/>
          <p:cNvSpPr/>
          <p:nvPr/>
        </p:nvSpPr>
        <p:spPr>
          <a:xfrm>
            <a:off x="2189017" y="6007572"/>
            <a:ext cx="7897091" cy="307777"/>
          </a:xfrm>
          <a:prstGeom prst="rect">
            <a:avLst/>
          </a:prstGeom>
        </p:spPr>
        <p:txBody>
          <a:bodyPr wrap="square">
            <a:spAutoFit/>
          </a:bodyPr>
          <a:lstStyle/>
          <a:p>
            <a:pPr lvl="0" eaLnBrk="0" fontAlgn="base" hangingPunct="0">
              <a:spcBef>
                <a:spcPct val="0"/>
              </a:spcBef>
              <a:spcAft>
                <a:spcPct val="0"/>
              </a:spcAft>
              <a:buClrTx/>
            </a:pPr>
            <a:r>
              <a:rPr lang="en-US" altLang="en-US" dirty="0">
                <a:latin typeface="inherit"/>
              </a:rPr>
              <a:t>Suppose the register BX contains 4895H, then the contents ; 4895H are moved to AX </a:t>
            </a:r>
            <a:endParaRPr lang="en-US" altLang="en-US" sz="2400" dirty="0">
              <a:solidFill>
                <a:schemeClr val="tx1"/>
              </a:solidFill>
              <a:latin typeface="Arial" panose="020B0604020202020204" pitchFamily="34" charset="0"/>
            </a:endParaRPr>
          </a:p>
        </p:txBody>
      </p:sp>
    </p:spTree>
    <p:extLst>
      <p:ext uri="{BB962C8B-B14F-4D97-AF65-F5344CB8AC3E}">
        <p14:creationId xmlns:p14="http://schemas.microsoft.com/office/powerpoint/2010/main" val="15814355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38545" y="-124690"/>
            <a:ext cx="12039600" cy="6677890"/>
          </a:xfrm>
          <a:prstGeom prst="rect">
            <a:avLst/>
          </a:prstGeom>
        </p:spPr>
      </p:pic>
    </p:spTree>
    <p:extLst>
      <p:ext uri="{BB962C8B-B14F-4D97-AF65-F5344CB8AC3E}">
        <p14:creationId xmlns:p14="http://schemas.microsoft.com/office/powerpoint/2010/main" val="13721366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219200"/>
            <a:ext cx="12192000" cy="4959927"/>
          </a:xfrm>
          <a:prstGeom prst="rect">
            <a:avLst/>
          </a:prstGeom>
        </p:spPr>
      </p:pic>
    </p:spTree>
    <p:extLst>
      <p:ext uri="{BB962C8B-B14F-4D97-AF65-F5344CB8AC3E}">
        <p14:creationId xmlns:p14="http://schemas.microsoft.com/office/powerpoint/2010/main" val="10330479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46364" y="540326"/>
            <a:ext cx="10903527" cy="6317673"/>
          </a:xfrm>
          <a:prstGeom prst="rect">
            <a:avLst/>
          </a:prstGeom>
        </p:spPr>
      </p:pic>
    </p:spTree>
    <p:extLst>
      <p:ext uri="{BB962C8B-B14F-4D97-AF65-F5344CB8AC3E}">
        <p14:creationId xmlns:p14="http://schemas.microsoft.com/office/powerpoint/2010/main" val="21443001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17693"/>
            <a:ext cx="12316691" cy="6740307"/>
          </a:xfrm>
          <a:prstGeom prst="rect">
            <a:avLst/>
          </a:prstGeom>
        </p:spPr>
        <p:txBody>
          <a:bodyPr wrap="square">
            <a:spAutoFit/>
          </a:bodyPr>
          <a:lstStyle/>
          <a:p>
            <a:pPr lvl="0" eaLnBrk="0" fontAlgn="base" hangingPunct="0">
              <a:spcBef>
                <a:spcPct val="0"/>
              </a:spcBef>
              <a:spcAft>
                <a:spcPct val="0"/>
              </a:spcAft>
              <a:buClrTx/>
            </a:pPr>
            <a:r>
              <a:rPr lang="en-US" altLang="en-US" sz="1600" b="1" dirty="0">
                <a:solidFill>
                  <a:srgbClr val="0070C0"/>
                </a:solidFill>
                <a:latin typeface="Nunito" panose="020B0604020202020204" charset="0"/>
                <a:cs typeface="Nunito" panose="020B0604020202020204" charset="0"/>
              </a:rPr>
              <a:t>Based Indexed Mode:</a:t>
            </a:r>
            <a:r>
              <a:rPr lang="en-US" altLang="en-US" sz="1600" dirty="0">
                <a:solidFill>
                  <a:srgbClr val="0070C0"/>
                </a:solidFill>
                <a:latin typeface="Nunito" panose="020B0604020202020204" charset="0"/>
                <a:cs typeface="Nunito" panose="020B0604020202020204" charset="0"/>
              </a:rPr>
              <a:t> In this the effective address is sum of base register and index register.</a:t>
            </a:r>
            <a:endParaRPr lang="en-US" altLang="en-US" sz="1600" dirty="0">
              <a:solidFill>
                <a:srgbClr val="0070C0"/>
              </a:solidFill>
              <a:latin typeface="Consolas" panose="020B0609020204030204" pitchFamily="49" charset="0"/>
            </a:endParaRPr>
          </a:p>
          <a:p>
            <a:pPr lvl="0" eaLnBrk="0" fontAlgn="base" hangingPunct="0">
              <a:spcBef>
                <a:spcPct val="0"/>
              </a:spcBef>
              <a:spcAft>
                <a:spcPct val="0"/>
              </a:spcAft>
              <a:buClrTx/>
            </a:pPr>
            <a:r>
              <a:rPr lang="en-US" altLang="en-US" sz="1600" dirty="0">
                <a:solidFill>
                  <a:schemeClr val="bg2"/>
                </a:solidFill>
                <a:latin typeface="Consolas" panose="020B0609020204030204" pitchFamily="49" charset="0"/>
              </a:rPr>
              <a:t>Base register: BX, BP</a:t>
            </a:r>
            <a:br>
              <a:rPr lang="en-US" altLang="en-US" sz="1600" dirty="0">
                <a:solidFill>
                  <a:schemeClr val="bg2"/>
                </a:solidFill>
                <a:latin typeface="Consolas" panose="020B0609020204030204" pitchFamily="49" charset="0"/>
              </a:rPr>
            </a:br>
            <a:r>
              <a:rPr lang="en-US" altLang="en-US" sz="1600" dirty="0">
                <a:solidFill>
                  <a:schemeClr val="bg2"/>
                </a:solidFill>
                <a:latin typeface="Consolas" panose="020B0609020204030204" pitchFamily="49" charset="0"/>
              </a:rPr>
              <a:t>Index register: SI, DI </a:t>
            </a:r>
            <a:endParaRPr lang="en-US" altLang="en-US" sz="1600" dirty="0">
              <a:solidFill>
                <a:schemeClr val="bg2"/>
              </a:solidFill>
            </a:endParaRPr>
          </a:p>
          <a:p>
            <a:pPr lvl="0" eaLnBrk="0" fontAlgn="base" hangingPunct="0">
              <a:spcBef>
                <a:spcPct val="0"/>
              </a:spcBef>
              <a:spcAft>
                <a:spcPct val="0"/>
              </a:spcAft>
              <a:buClrTx/>
            </a:pPr>
            <a:r>
              <a:rPr lang="en-US" altLang="en-US" sz="1600" b="1" dirty="0">
                <a:solidFill>
                  <a:srgbClr val="0070C0"/>
                </a:solidFill>
                <a:latin typeface="Nunito" panose="020B0604020202020204" charset="0"/>
                <a:cs typeface="Nunito" panose="020B0604020202020204" charset="0"/>
              </a:rPr>
              <a:t>Indexed Mode:</a:t>
            </a:r>
            <a:r>
              <a:rPr lang="en-US" altLang="en-US" sz="1600" b="1" dirty="0">
                <a:solidFill>
                  <a:schemeClr val="bg2"/>
                </a:solidFill>
                <a:latin typeface="Nunito" panose="020B0604020202020204" charset="0"/>
                <a:cs typeface="Nunito" panose="020B0604020202020204" charset="0"/>
              </a:rPr>
              <a:t> </a:t>
            </a:r>
            <a:r>
              <a:rPr lang="en-US" altLang="en-US" sz="1600" dirty="0">
                <a:solidFill>
                  <a:schemeClr val="bg2"/>
                </a:solidFill>
                <a:latin typeface="Nunito" panose="020B0604020202020204" charset="0"/>
                <a:cs typeface="Nunito" panose="020B0604020202020204" charset="0"/>
              </a:rPr>
              <a:t>In this type of addressing mode the effective address is sum of index register and displacement.</a:t>
            </a:r>
            <a:endParaRPr lang="en-US" altLang="en-US" sz="1600" dirty="0">
              <a:solidFill>
                <a:schemeClr val="bg2"/>
              </a:solidFill>
            </a:endParaRPr>
          </a:p>
          <a:p>
            <a:pPr lvl="0" eaLnBrk="0" fontAlgn="base" hangingPunct="0">
              <a:spcBef>
                <a:spcPct val="0"/>
              </a:spcBef>
              <a:spcAft>
                <a:spcPct val="0"/>
              </a:spcAft>
              <a:buClrTx/>
            </a:pPr>
            <a:r>
              <a:rPr lang="en-US" altLang="en-US" sz="1600" b="1" dirty="0">
                <a:solidFill>
                  <a:schemeClr val="bg2"/>
                </a:solidFill>
                <a:latin typeface="Nunito" panose="020B0604020202020204" charset="0"/>
                <a:cs typeface="Nunito" panose="020B0604020202020204" charset="0"/>
              </a:rPr>
              <a:t>Example:</a:t>
            </a:r>
            <a:endParaRPr lang="en-US" altLang="en-US" sz="1600" dirty="0">
              <a:solidFill>
                <a:schemeClr val="bg2"/>
              </a:solidFill>
              <a:latin typeface="Consolas" panose="020B0609020204030204" pitchFamily="49" charset="0"/>
            </a:endParaRPr>
          </a:p>
          <a:p>
            <a:pPr lvl="0" eaLnBrk="0" fontAlgn="base" hangingPunct="0">
              <a:spcBef>
                <a:spcPct val="0"/>
              </a:spcBef>
              <a:spcAft>
                <a:spcPct val="0"/>
              </a:spcAft>
              <a:buClrTx/>
            </a:pPr>
            <a:r>
              <a:rPr lang="en-US" altLang="en-US" sz="1600" dirty="0">
                <a:solidFill>
                  <a:schemeClr val="bg2"/>
                </a:solidFill>
                <a:latin typeface="Consolas" panose="020B0609020204030204" pitchFamily="49" charset="0"/>
              </a:rPr>
              <a:t>MOV AX, [SI+2000]</a:t>
            </a:r>
            <a:br>
              <a:rPr lang="en-US" altLang="en-US" sz="1600" dirty="0">
                <a:solidFill>
                  <a:schemeClr val="bg2"/>
                </a:solidFill>
                <a:latin typeface="Consolas" panose="020B0609020204030204" pitchFamily="49" charset="0"/>
              </a:rPr>
            </a:br>
            <a:r>
              <a:rPr lang="en-US" altLang="en-US" sz="1600" dirty="0">
                <a:solidFill>
                  <a:schemeClr val="bg2"/>
                </a:solidFill>
                <a:latin typeface="Consolas" panose="020B0609020204030204" pitchFamily="49" charset="0"/>
              </a:rPr>
              <a:t>MOV AL, [DI+3000]</a:t>
            </a:r>
            <a:endParaRPr lang="en-US" altLang="en-US" sz="1600" dirty="0">
              <a:solidFill>
                <a:schemeClr val="bg2"/>
              </a:solidFill>
            </a:endParaRPr>
          </a:p>
          <a:p>
            <a:pPr lvl="0" eaLnBrk="0" fontAlgn="base" hangingPunct="0">
              <a:spcBef>
                <a:spcPct val="0"/>
              </a:spcBef>
              <a:spcAft>
                <a:spcPct val="0"/>
              </a:spcAft>
              <a:buClrTx/>
            </a:pPr>
            <a:r>
              <a:rPr lang="en-US" altLang="en-US" sz="1600" b="1" dirty="0">
                <a:solidFill>
                  <a:srgbClr val="0070C0"/>
                </a:solidFill>
                <a:latin typeface="Nunito" panose="020B0604020202020204" charset="0"/>
                <a:cs typeface="Nunito" panose="020B0604020202020204" charset="0"/>
              </a:rPr>
              <a:t>Based Mode: </a:t>
            </a:r>
            <a:r>
              <a:rPr lang="en-US" altLang="en-US" sz="1600" dirty="0">
                <a:solidFill>
                  <a:srgbClr val="0070C0"/>
                </a:solidFill>
                <a:latin typeface="Nunito" panose="020B0604020202020204" charset="0"/>
                <a:cs typeface="Nunito" panose="020B0604020202020204" charset="0"/>
              </a:rPr>
              <a:t>In </a:t>
            </a:r>
            <a:r>
              <a:rPr lang="en-US" altLang="en-US" sz="1600" dirty="0">
                <a:solidFill>
                  <a:schemeClr val="bg2"/>
                </a:solidFill>
                <a:latin typeface="Nunito" panose="020B0604020202020204" charset="0"/>
                <a:cs typeface="Nunito" panose="020B0604020202020204" charset="0"/>
              </a:rPr>
              <a:t>this the effective address is the sum of base register and displacement.</a:t>
            </a:r>
            <a:endParaRPr lang="en-US" altLang="en-US" sz="1600" dirty="0">
              <a:solidFill>
                <a:schemeClr val="bg2"/>
              </a:solidFill>
            </a:endParaRPr>
          </a:p>
          <a:p>
            <a:pPr lvl="0" eaLnBrk="0" fontAlgn="base" hangingPunct="0">
              <a:spcBef>
                <a:spcPct val="0"/>
              </a:spcBef>
              <a:spcAft>
                <a:spcPct val="0"/>
              </a:spcAft>
              <a:buClrTx/>
            </a:pPr>
            <a:r>
              <a:rPr lang="en-US" altLang="en-US" sz="1600" b="1" dirty="0">
                <a:solidFill>
                  <a:schemeClr val="bg2"/>
                </a:solidFill>
                <a:latin typeface="Nunito" panose="020B0604020202020204" charset="0"/>
                <a:cs typeface="Nunito" panose="020B0604020202020204" charset="0"/>
              </a:rPr>
              <a:t>Example:</a:t>
            </a:r>
            <a:endParaRPr lang="en-US" altLang="en-US" sz="1600" dirty="0">
              <a:solidFill>
                <a:schemeClr val="bg2"/>
              </a:solidFill>
              <a:latin typeface="Consolas" panose="020B0609020204030204" pitchFamily="49" charset="0"/>
            </a:endParaRPr>
          </a:p>
          <a:p>
            <a:pPr lvl="0" eaLnBrk="0" fontAlgn="base" hangingPunct="0">
              <a:spcBef>
                <a:spcPct val="0"/>
              </a:spcBef>
              <a:spcAft>
                <a:spcPct val="0"/>
              </a:spcAft>
              <a:buClrTx/>
            </a:pPr>
            <a:r>
              <a:rPr lang="en-US" altLang="en-US" sz="1600" dirty="0">
                <a:solidFill>
                  <a:schemeClr val="bg2"/>
                </a:solidFill>
                <a:latin typeface="Consolas" panose="020B0609020204030204" pitchFamily="49" charset="0"/>
              </a:rPr>
              <a:t>MOV AL, [BP+ 0100]</a:t>
            </a:r>
            <a:endParaRPr lang="en-US" altLang="en-US" sz="1600" dirty="0">
              <a:solidFill>
                <a:schemeClr val="bg2"/>
              </a:solidFill>
            </a:endParaRPr>
          </a:p>
          <a:p>
            <a:pPr lvl="0" eaLnBrk="0" fontAlgn="base" hangingPunct="0">
              <a:spcBef>
                <a:spcPct val="0"/>
              </a:spcBef>
              <a:spcAft>
                <a:spcPct val="0"/>
              </a:spcAft>
              <a:buClrTx/>
            </a:pPr>
            <a:r>
              <a:rPr lang="en-US" altLang="en-US" sz="1600" b="1" dirty="0">
                <a:solidFill>
                  <a:srgbClr val="0070C0"/>
                </a:solidFill>
                <a:latin typeface="Nunito" panose="020B0604020202020204" charset="0"/>
                <a:cs typeface="Nunito" panose="020B0604020202020204" charset="0"/>
              </a:rPr>
              <a:t>Based Indexed Displacement Mode: </a:t>
            </a:r>
            <a:r>
              <a:rPr lang="en-US" altLang="en-US" sz="1600" dirty="0">
                <a:solidFill>
                  <a:srgbClr val="0070C0"/>
                </a:solidFill>
                <a:latin typeface="Nunito" panose="020B0604020202020204" charset="0"/>
                <a:cs typeface="Nunito" panose="020B0604020202020204" charset="0"/>
              </a:rPr>
              <a:t>In this type of addressing mode the effective address is the sum of index register, base register and displacement.</a:t>
            </a:r>
            <a:endParaRPr lang="en-US" altLang="en-US" sz="1600" dirty="0">
              <a:solidFill>
                <a:srgbClr val="0070C0"/>
              </a:solidFill>
            </a:endParaRPr>
          </a:p>
          <a:p>
            <a:pPr lvl="0" eaLnBrk="0" fontAlgn="base" hangingPunct="0">
              <a:spcBef>
                <a:spcPct val="0"/>
              </a:spcBef>
              <a:spcAft>
                <a:spcPct val="0"/>
              </a:spcAft>
              <a:buClrTx/>
            </a:pPr>
            <a:r>
              <a:rPr lang="en-US" altLang="en-US" sz="1600" b="1" dirty="0">
                <a:solidFill>
                  <a:schemeClr val="bg2"/>
                </a:solidFill>
                <a:latin typeface="Nunito" panose="020B0604020202020204" charset="0"/>
                <a:cs typeface="Nunito" panose="020B0604020202020204" charset="0"/>
              </a:rPr>
              <a:t>Example:</a:t>
            </a:r>
            <a:endParaRPr lang="en-US" altLang="en-US" sz="1600" dirty="0">
              <a:solidFill>
                <a:schemeClr val="bg2"/>
              </a:solidFill>
              <a:latin typeface="Consolas" panose="020B0609020204030204" pitchFamily="49" charset="0"/>
            </a:endParaRPr>
          </a:p>
          <a:p>
            <a:pPr lvl="0" eaLnBrk="0" fontAlgn="base" hangingPunct="0">
              <a:spcBef>
                <a:spcPct val="0"/>
              </a:spcBef>
              <a:spcAft>
                <a:spcPct val="0"/>
              </a:spcAft>
              <a:buClrTx/>
            </a:pPr>
            <a:r>
              <a:rPr lang="en-US" altLang="en-US" sz="1600" dirty="0">
                <a:solidFill>
                  <a:schemeClr val="bg2"/>
                </a:solidFill>
                <a:latin typeface="Consolas" panose="020B0609020204030204" pitchFamily="49" charset="0"/>
              </a:rPr>
              <a:t>MOV AL, [SI+BP+2000] </a:t>
            </a:r>
            <a:endParaRPr lang="en-US" altLang="en-US" sz="1600" dirty="0">
              <a:solidFill>
                <a:schemeClr val="bg2"/>
              </a:solidFill>
            </a:endParaRPr>
          </a:p>
          <a:p>
            <a:pPr lvl="0" eaLnBrk="0" fontAlgn="base" hangingPunct="0">
              <a:spcBef>
                <a:spcPct val="0"/>
              </a:spcBef>
              <a:spcAft>
                <a:spcPct val="0"/>
              </a:spcAft>
              <a:buClrTx/>
            </a:pPr>
            <a:r>
              <a:rPr lang="en-US" altLang="en-US" sz="1600" b="1" dirty="0">
                <a:solidFill>
                  <a:srgbClr val="0070C0"/>
                </a:solidFill>
                <a:latin typeface="Nunito" panose="020B0604020202020204" charset="0"/>
                <a:cs typeface="Nunito" panose="020B0604020202020204" charset="0"/>
              </a:rPr>
              <a:t>String Mode:</a:t>
            </a:r>
            <a:r>
              <a:rPr lang="en-US" altLang="en-US" sz="1600" dirty="0">
                <a:solidFill>
                  <a:srgbClr val="0070C0"/>
                </a:solidFill>
                <a:latin typeface="Nunito" panose="020B0604020202020204" charset="0"/>
                <a:cs typeface="Nunito" panose="020B0604020202020204" charset="0"/>
              </a:rPr>
              <a:t> This addressing mode is related to string instructions. In this the value of SI and DI are auto incremented and decremented depending upon the value of directional flag</a:t>
            </a:r>
            <a:r>
              <a:rPr lang="en-US" altLang="en-US" sz="1600" dirty="0">
                <a:solidFill>
                  <a:schemeClr val="bg2"/>
                </a:solidFill>
                <a:latin typeface="Nunito" panose="020B0604020202020204" charset="0"/>
                <a:cs typeface="Nunito" panose="020B0604020202020204" charset="0"/>
              </a:rPr>
              <a:t>.</a:t>
            </a:r>
            <a:endParaRPr lang="en-US" altLang="en-US" sz="1600" dirty="0">
              <a:solidFill>
                <a:schemeClr val="bg2"/>
              </a:solidFill>
            </a:endParaRPr>
          </a:p>
          <a:p>
            <a:pPr lvl="0" eaLnBrk="0" fontAlgn="base" hangingPunct="0">
              <a:spcBef>
                <a:spcPct val="0"/>
              </a:spcBef>
              <a:spcAft>
                <a:spcPct val="0"/>
              </a:spcAft>
              <a:buClrTx/>
            </a:pPr>
            <a:r>
              <a:rPr lang="en-US" altLang="en-US" sz="1600" b="1" dirty="0">
                <a:solidFill>
                  <a:schemeClr val="bg2"/>
                </a:solidFill>
                <a:latin typeface="Nunito" panose="020B0604020202020204" charset="0"/>
                <a:cs typeface="Nunito" panose="020B0604020202020204" charset="0"/>
              </a:rPr>
              <a:t>Example:</a:t>
            </a:r>
            <a:endParaRPr lang="en-US" altLang="en-US" sz="1600" dirty="0">
              <a:solidFill>
                <a:schemeClr val="bg2"/>
              </a:solidFill>
              <a:latin typeface="Consolas" panose="020B0609020204030204" pitchFamily="49" charset="0"/>
            </a:endParaRPr>
          </a:p>
          <a:p>
            <a:pPr lvl="0" eaLnBrk="0" fontAlgn="base" hangingPunct="0">
              <a:spcBef>
                <a:spcPct val="0"/>
              </a:spcBef>
              <a:spcAft>
                <a:spcPct val="0"/>
              </a:spcAft>
              <a:buClrTx/>
            </a:pPr>
            <a:r>
              <a:rPr lang="en-US" altLang="en-US" sz="1600" dirty="0">
                <a:solidFill>
                  <a:schemeClr val="bg2"/>
                </a:solidFill>
                <a:latin typeface="Consolas" panose="020B0609020204030204" pitchFamily="49" charset="0"/>
              </a:rPr>
              <a:t>MOVS B</a:t>
            </a:r>
            <a:br>
              <a:rPr lang="en-US" altLang="en-US" sz="1600" dirty="0">
                <a:solidFill>
                  <a:schemeClr val="bg2"/>
                </a:solidFill>
                <a:latin typeface="Consolas" panose="020B0609020204030204" pitchFamily="49" charset="0"/>
              </a:rPr>
            </a:br>
            <a:r>
              <a:rPr lang="en-US" altLang="en-US" sz="1600" dirty="0">
                <a:solidFill>
                  <a:schemeClr val="bg2"/>
                </a:solidFill>
                <a:latin typeface="Consolas" panose="020B0609020204030204" pitchFamily="49" charset="0"/>
              </a:rPr>
              <a:t>MOVS W </a:t>
            </a:r>
            <a:endParaRPr lang="en-US" altLang="en-US" sz="1600" dirty="0">
              <a:solidFill>
                <a:schemeClr val="bg2"/>
              </a:solidFill>
            </a:endParaRPr>
          </a:p>
          <a:p>
            <a:pPr lvl="0" eaLnBrk="0" fontAlgn="base" hangingPunct="0">
              <a:spcBef>
                <a:spcPct val="0"/>
              </a:spcBef>
              <a:spcAft>
                <a:spcPct val="0"/>
              </a:spcAft>
              <a:buClrTx/>
            </a:pPr>
            <a:r>
              <a:rPr lang="en-US" altLang="en-US" sz="1600" b="1" dirty="0" err="1">
                <a:solidFill>
                  <a:srgbClr val="0070C0"/>
                </a:solidFill>
                <a:latin typeface="Nunito" panose="020B0604020202020204" charset="0"/>
                <a:cs typeface="Nunito" panose="020B0604020202020204" charset="0"/>
              </a:rPr>
              <a:t>Input/Output</a:t>
            </a:r>
            <a:r>
              <a:rPr lang="en-US" altLang="en-US" sz="1600" b="1" dirty="0">
                <a:solidFill>
                  <a:srgbClr val="0070C0"/>
                </a:solidFill>
                <a:latin typeface="Nunito" panose="020B0604020202020204" charset="0"/>
                <a:cs typeface="Nunito" panose="020B0604020202020204" charset="0"/>
              </a:rPr>
              <a:t> Mode:</a:t>
            </a:r>
            <a:r>
              <a:rPr lang="en-US" altLang="en-US" sz="1600" dirty="0">
                <a:solidFill>
                  <a:srgbClr val="0070C0"/>
                </a:solidFill>
                <a:latin typeface="Nunito" panose="020B0604020202020204" charset="0"/>
                <a:cs typeface="Nunito" panose="020B0604020202020204" charset="0"/>
              </a:rPr>
              <a:t> This addressing mode is related with input output operations.</a:t>
            </a:r>
            <a:endParaRPr lang="en-US" altLang="en-US" sz="1600" dirty="0">
              <a:solidFill>
                <a:srgbClr val="0070C0"/>
              </a:solidFill>
            </a:endParaRPr>
          </a:p>
          <a:p>
            <a:pPr lvl="0" eaLnBrk="0" fontAlgn="base" hangingPunct="0">
              <a:spcBef>
                <a:spcPct val="0"/>
              </a:spcBef>
              <a:spcAft>
                <a:spcPct val="0"/>
              </a:spcAft>
              <a:buClrTx/>
            </a:pPr>
            <a:r>
              <a:rPr lang="en-US" altLang="en-US" sz="1600" b="1" dirty="0">
                <a:solidFill>
                  <a:schemeClr val="bg2"/>
                </a:solidFill>
                <a:latin typeface="Nunito" panose="020B0604020202020204" charset="0"/>
                <a:cs typeface="Nunito" panose="020B0604020202020204" charset="0"/>
              </a:rPr>
              <a:t>Example:</a:t>
            </a:r>
            <a:endParaRPr lang="en-US" altLang="en-US" sz="1600" dirty="0">
              <a:solidFill>
                <a:schemeClr val="bg2"/>
              </a:solidFill>
              <a:latin typeface="Consolas" panose="020B0609020204030204" pitchFamily="49" charset="0"/>
            </a:endParaRPr>
          </a:p>
          <a:p>
            <a:pPr lvl="0" eaLnBrk="0" fontAlgn="base" hangingPunct="0">
              <a:spcBef>
                <a:spcPct val="0"/>
              </a:spcBef>
              <a:spcAft>
                <a:spcPct val="0"/>
              </a:spcAft>
              <a:buClrTx/>
            </a:pPr>
            <a:r>
              <a:rPr lang="en-US" altLang="en-US" sz="1600" dirty="0">
                <a:solidFill>
                  <a:schemeClr val="bg2"/>
                </a:solidFill>
                <a:latin typeface="Consolas" panose="020B0609020204030204" pitchFamily="49" charset="0"/>
              </a:rPr>
              <a:t>IN A, 45</a:t>
            </a:r>
            <a:br>
              <a:rPr lang="en-US" altLang="en-US" sz="1600" dirty="0">
                <a:solidFill>
                  <a:schemeClr val="bg2"/>
                </a:solidFill>
                <a:latin typeface="Consolas" panose="020B0609020204030204" pitchFamily="49" charset="0"/>
              </a:rPr>
            </a:br>
            <a:r>
              <a:rPr lang="en-US" altLang="en-US" sz="1600" dirty="0">
                <a:solidFill>
                  <a:schemeClr val="bg2"/>
                </a:solidFill>
                <a:latin typeface="Consolas" panose="020B0609020204030204" pitchFamily="49" charset="0"/>
              </a:rPr>
              <a:t>OUT A, 50 </a:t>
            </a:r>
            <a:endParaRPr lang="en-US" altLang="en-US" sz="1600" dirty="0">
              <a:solidFill>
                <a:schemeClr val="bg2"/>
              </a:solidFill>
            </a:endParaRPr>
          </a:p>
          <a:p>
            <a:pPr lvl="0" eaLnBrk="0" fontAlgn="base" hangingPunct="0">
              <a:spcBef>
                <a:spcPct val="0"/>
              </a:spcBef>
              <a:spcAft>
                <a:spcPct val="0"/>
              </a:spcAft>
              <a:buClrTx/>
            </a:pPr>
            <a:r>
              <a:rPr lang="en-US" altLang="en-US" sz="1600" b="1" dirty="0">
                <a:solidFill>
                  <a:srgbClr val="0070C0"/>
                </a:solidFill>
                <a:latin typeface="Nunito" panose="020B0604020202020204" charset="0"/>
                <a:cs typeface="Nunito" panose="020B0604020202020204" charset="0"/>
              </a:rPr>
              <a:t>Relative Mode: </a:t>
            </a:r>
            <a:r>
              <a:rPr lang="en-US" altLang="en-US" sz="1600" dirty="0">
                <a:solidFill>
                  <a:srgbClr val="0070C0"/>
                </a:solidFill>
                <a:latin typeface="Nunito" panose="020B0604020202020204" charset="0"/>
                <a:cs typeface="Nunito" panose="020B0604020202020204" charset="0"/>
              </a:rPr>
              <a:t>In this the effective address is calculated with reference to instruction pointer.</a:t>
            </a:r>
            <a:endParaRPr lang="en-US" altLang="en-US" sz="1600" dirty="0">
              <a:solidFill>
                <a:srgbClr val="0070C0"/>
              </a:solidFill>
            </a:endParaRPr>
          </a:p>
          <a:p>
            <a:pPr lvl="0" eaLnBrk="0" fontAlgn="base" hangingPunct="0">
              <a:spcBef>
                <a:spcPct val="0"/>
              </a:spcBef>
              <a:spcAft>
                <a:spcPct val="0"/>
              </a:spcAft>
              <a:buClrTx/>
            </a:pPr>
            <a:r>
              <a:rPr lang="en-US" altLang="en-US" sz="1600" b="1" dirty="0">
                <a:solidFill>
                  <a:schemeClr val="bg2"/>
                </a:solidFill>
                <a:latin typeface="Nunito" panose="020B0604020202020204" charset="0"/>
                <a:cs typeface="Nunito" panose="020B0604020202020204" charset="0"/>
              </a:rPr>
              <a:t>Example:</a:t>
            </a:r>
            <a:endParaRPr lang="en-US" altLang="en-US" sz="1600" dirty="0">
              <a:solidFill>
                <a:schemeClr val="bg2"/>
              </a:solidFill>
              <a:latin typeface="Consolas" panose="020B0609020204030204" pitchFamily="49" charset="0"/>
            </a:endParaRPr>
          </a:p>
          <a:p>
            <a:pPr lvl="0" eaLnBrk="0" fontAlgn="base" hangingPunct="0">
              <a:spcBef>
                <a:spcPct val="0"/>
              </a:spcBef>
              <a:spcAft>
                <a:spcPct val="0"/>
              </a:spcAft>
              <a:buClrTx/>
            </a:pPr>
            <a:r>
              <a:rPr lang="en-US" altLang="en-US" sz="1600" dirty="0">
                <a:solidFill>
                  <a:schemeClr val="bg2"/>
                </a:solidFill>
                <a:latin typeface="Consolas" panose="020B0609020204030204" pitchFamily="49" charset="0"/>
              </a:rPr>
              <a:t>JNZ 8 bit address</a:t>
            </a:r>
            <a:br>
              <a:rPr lang="en-US" altLang="en-US" sz="1600" dirty="0">
                <a:solidFill>
                  <a:schemeClr val="bg2"/>
                </a:solidFill>
                <a:latin typeface="Consolas" panose="020B0609020204030204" pitchFamily="49" charset="0"/>
              </a:rPr>
            </a:br>
            <a:r>
              <a:rPr lang="en-US" altLang="en-US" sz="1600" dirty="0">
                <a:solidFill>
                  <a:schemeClr val="bg2"/>
                </a:solidFill>
                <a:latin typeface="Consolas" panose="020B0609020204030204" pitchFamily="49" charset="0"/>
              </a:rPr>
              <a:t>IP=IP+8 bit address </a:t>
            </a:r>
            <a:endParaRPr lang="en-US" altLang="en-US" sz="1600" dirty="0">
              <a:solidFill>
                <a:schemeClr val="bg2"/>
              </a:solidFill>
            </a:endParaRPr>
          </a:p>
        </p:txBody>
      </p:sp>
    </p:spTree>
    <p:extLst>
      <p:ext uri="{BB962C8B-B14F-4D97-AF65-F5344CB8AC3E}">
        <p14:creationId xmlns:p14="http://schemas.microsoft.com/office/powerpoint/2010/main" val="27246817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6"/>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rgbClr val="EC5453"/>
                </a:solidFill>
                <a:latin typeface="Calibri"/>
                <a:ea typeface="Calibri"/>
                <a:cs typeface="Calibri"/>
                <a:sym typeface="Calibri"/>
              </a:rPr>
              <a:t>Instruction Set of 8086</a:t>
            </a:r>
            <a:endParaRPr sz="1400" b="0" i="0" u="none" strike="noStrike" cap="none">
              <a:solidFill>
                <a:srgbClr val="EC5453"/>
              </a:solidFill>
              <a:latin typeface="Arial"/>
              <a:ea typeface="Arial"/>
              <a:cs typeface="Arial"/>
              <a:sym typeface="Arial"/>
            </a:endParaRPr>
          </a:p>
        </p:txBody>
      </p:sp>
      <p:sp>
        <p:nvSpPr>
          <p:cNvPr id="282" name="Google Shape;282;p16"/>
          <p:cNvSpPr txBox="1"/>
          <p:nvPr/>
        </p:nvSpPr>
        <p:spPr>
          <a:xfrm>
            <a:off x="609600" y="1728355"/>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3200"/>
              <a:buFont typeface="Noto Sans Symbols"/>
              <a:buChar char="⚫"/>
            </a:pPr>
            <a:r>
              <a:rPr lang="en-US" sz="3200" b="0" i="0" u="none" strike="noStrike" cap="none" dirty="0">
                <a:solidFill>
                  <a:schemeClr val="accent6">
                    <a:lumMod val="75000"/>
                  </a:schemeClr>
                </a:solidFill>
                <a:latin typeface="Constantia"/>
                <a:ea typeface="Constantia"/>
                <a:cs typeface="Constantia"/>
                <a:sym typeface="Constantia"/>
              </a:rPr>
              <a:t>An instruction is a binary pattern designed inside a microprocessor to perform a specific function.</a:t>
            </a:r>
            <a:endParaRPr sz="1400" b="0" i="0" u="none" strike="noStrike" cap="none" dirty="0">
              <a:solidFill>
                <a:schemeClr val="accent6">
                  <a:lumMod val="75000"/>
                </a:schemeClr>
              </a:solidFill>
              <a:sym typeface="Arial"/>
            </a:endParaRPr>
          </a:p>
          <a:p>
            <a:pPr marL="261938" marR="0" lvl="0" indent="-261938" algn="l" rtl="0">
              <a:lnSpc>
                <a:spcPct val="100000"/>
              </a:lnSpc>
              <a:spcBef>
                <a:spcPts val="2000"/>
              </a:spcBef>
              <a:spcAft>
                <a:spcPts val="0"/>
              </a:spcAft>
              <a:buClr>
                <a:srgbClr val="F3A447"/>
              </a:buClr>
              <a:buSzPts val="3200"/>
              <a:buFont typeface="Noto Sans Symbols"/>
              <a:buChar char="⚫"/>
            </a:pPr>
            <a:r>
              <a:rPr lang="en-US" sz="3200" b="0" i="0" u="none" strike="noStrike" cap="none" dirty="0">
                <a:solidFill>
                  <a:schemeClr val="accent6">
                    <a:lumMod val="75000"/>
                  </a:schemeClr>
                </a:solidFill>
                <a:latin typeface="Constantia"/>
                <a:ea typeface="Constantia"/>
                <a:cs typeface="Constantia"/>
                <a:sym typeface="Constantia"/>
              </a:rPr>
              <a:t>The entire group of instructions that a microprocessor supports is called </a:t>
            </a:r>
            <a:r>
              <a:rPr lang="en-US" sz="3200" b="1" i="0" u="none" strike="noStrike" cap="none" dirty="0">
                <a:solidFill>
                  <a:schemeClr val="accent6">
                    <a:lumMod val="75000"/>
                  </a:schemeClr>
                </a:solidFill>
                <a:latin typeface="Constantia"/>
                <a:ea typeface="Constantia"/>
                <a:cs typeface="Constantia"/>
                <a:sym typeface="Constantia"/>
              </a:rPr>
              <a:t>Instruction Set</a:t>
            </a:r>
            <a:r>
              <a:rPr lang="en-US" sz="3200" b="0" i="0" u="none" strike="noStrike" cap="none" dirty="0">
                <a:solidFill>
                  <a:schemeClr val="accent6">
                    <a:lumMod val="75000"/>
                  </a:schemeClr>
                </a:solidFill>
                <a:latin typeface="Constantia"/>
                <a:ea typeface="Constantia"/>
                <a:cs typeface="Constantia"/>
                <a:sym typeface="Constantia"/>
              </a:rPr>
              <a:t>.</a:t>
            </a:r>
            <a:endParaRPr sz="1400" b="0" i="0" u="none" strike="noStrike" cap="none" dirty="0">
              <a:solidFill>
                <a:schemeClr val="accent6">
                  <a:lumMod val="75000"/>
                </a:schemeClr>
              </a:solidFill>
              <a:sym typeface="Arial"/>
            </a:endParaRPr>
          </a:p>
          <a:p>
            <a:pPr marL="261938" marR="0" lvl="0" indent="-261938" algn="l" rtl="0">
              <a:lnSpc>
                <a:spcPct val="100000"/>
              </a:lnSpc>
              <a:spcBef>
                <a:spcPts val="2000"/>
              </a:spcBef>
              <a:spcAft>
                <a:spcPts val="0"/>
              </a:spcAft>
              <a:buClr>
                <a:srgbClr val="F3A447"/>
              </a:buClr>
              <a:buSzPts val="3200"/>
              <a:buFont typeface="Noto Sans Symbols"/>
              <a:buChar char="⚫"/>
            </a:pPr>
            <a:r>
              <a:rPr lang="en-US" sz="3200" b="0" i="0" u="none" strike="noStrike" cap="none" dirty="0">
                <a:solidFill>
                  <a:schemeClr val="accent6">
                    <a:lumMod val="75000"/>
                  </a:schemeClr>
                </a:solidFill>
                <a:latin typeface="Constantia"/>
                <a:ea typeface="Constantia"/>
                <a:cs typeface="Constantia"/>
                <a:sym typeface="Constantia"/>
              </a:rPr>
              <a:t>8086 has more than </a:t>
            </a:r>
            <a:r>
              <a:rPr lang="en-US" sz="3200" b="1" i="0" u="none" strike="noStrike" cap="none" dirty="0">
                <a:solidFill>
                  <a:schemeClr val="accent6">
                    <a:lumMod val="75000"/>
                  </a:schemeClr>
                </a:solidFill>
                <a:latin typeface="Constantia"/>
                <a:ea typeface="Constantia"/>
                <a:cs typeface="Constantia"/>
                <a:sym typeface="Constantia"/>
              </a:rPr>
              <a:t>20,000</a:t>
            </a:r>
            <a:r>
              <a:rPr lang="en-US" sz="3200" b="0" i="0" u="none" strike="noStrike" cap="none" dirty="0">
                <a:solidFill>
                  <a:schemeClr val="accent6">
                    <a:lumMod val="75000"/>
                  </a:schemeClr>
                </a:solidFill>
                <a:latin typeface="Constantia"/>
                <a:ea typeface="Constantia"/>
                <a:cs typeface="Constantia"/>
                <a:sym typeface="Constantia"/>
              </a:rPr>
              <a:t> instructions.</a:t>
            </a:r>
            <a:endParaRPr sz="1400" b="0" i="0" u="none" strike="noStrike" cap="none" dirty="0">
              <a:solidFill>
                <a:schemeClr val="accent6">
                  <a:lumMod val="75000"/>
                </a:schemeClr>
              </a:solidFill>
              <a:sym typeface="Arial"/>
            </a:endParaRPr>
          </a:p>
        </p:txBody>
      </p:sp>
      <p:sp>
        <p:nvSpPr>
          <p:cNvPr id="283" name="Google Shape;283;p16"/>
          <p:cNvSpPr txBox="1"/>
          <p:nvPr/>
        </p:nvSpPr>
        <p:spPr>
          <a:xfrm>
            <a:off x="609600" y="7102475"/>
            <a:ext cx="2844800" cy="365125"/>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404924"/>
              </a:buClr>
              <a:buSzPts val="1200"/>
              <a:buFont typeface="Constantia"/>
              <a:buNone/>
            </a:pPr>
            <a:r>
              <a:rPr lang="en-US" sz="1200" b="0" i="0" u="none" strike="noStrike" cap="none">
                <a:solidFill>
                  <a:srgbClr val="404924"/>
                </a:solidFill>
                <a:latin typeface="Constantia"/>
                <a:ea typeface="Constantia"/>
                <a:cs typeface="Constantia"/>
                <a:sym typeface="Constantia"/>
              </a:rPr>
              <a:t>21-Nov-2010</a:t>
            </a:r>
            <a:endParaRPr sz="1400" b="0" i="0" u="none" strike="noStrike" cap="none">
              <a:solidFill>
                <a:srgbClr val="000000"/>
              </a:solidFill>
              <a:latin typeface="Arial"/>
              <a:ea typeface="Arial"/>
              <a:cs typeface="Arial"/>
              <a:sym typeface="Arial"/>
            </a:endParaRPr>
          </a:p>
        </p:txBody>
      </p:sp>
      <p:sp>
        <p:nvSpPr>
          <p:cNvPr id="284" name="Google Shape;284;p16"/>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11</a:t>
            </a:fld>
            <a:endParaRPr sz="1200" b="0" i="0" u="none" strike="noStrike" cap="none">
              <a:solidFill>
                <a:srgbClr val="404924"/>
              </a:solidFill>
              <a:latin typeface="Constantia"/>
              <a:ea typeface="Constantia"/>
              <a:cs typeface="Constantia"/>
              <a:sym typeface="Constantia"/>
            </a:endParaRPr>
          </a:p>
        </p:txBody>
      </p:sp>
      <p:sp>
        <p:nvSpPr>
          <p:cNvPr id="285" name="Google Shape;285;p16"/>
          <p:cNvSpPr txBox="1"/>
          <p:nvPr/>
        </p:nvSpPr>
        <p:spPr>
          <a:xfrm>
            <a:off x="3556000" y="6950076"/>
            <a:ext cx="4470400" cy="365125"/>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404924"/>
              </a:buClr>
              <a:buSzPts val="1200"/>
              <a:buFont typeface="Constantia"/>
              <a:buNone/>
            </a:pPr>
            <a:r>
              <a:rPr lang="en-US" sz="1200" b="0" i="0" u="none" strike="noStrike" cap="none">
                <a:solidFill>
                  <a:srgbClr val="404924"/>
                </a:solidFill>
                <a:latin typeface="Constantia"/>
                <a:ea typeface="Constantia"/>
                <a:cs typeface="Constantia"/>
                <a:sym typeface="Constantia"/>
              </a:rPr>
              <a:t>ohmshankar.ece@act.edu.in</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17"/>
          <p:cNvSpPr txBox="1"/>
          <p:nvPr/>
        </p:nvSpPr>
        <p:spPr>
          <a:xfrm>
            <a:off x="480484" y="212726"/>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3200"/>
              <a:buFont typeface="Calibri"/>
              <a:buNone/>
            </a:pPr>
            <a:r>
              <a:rPr lang="en-US" sz="3200" b="1" i="0" u="none" strike="noStrike" cap="none">
                <a:solidFill>
                  <a:schemeClr val="accent1"/>
                </a:solidFill>
                <a:latin typeface="Calibri"/>
                <a:ea typeface="Calibri"/>
                <a:cs typeface="Calibri"/>
                <a:sym typeface="Calibri"/>
              </a:rPr>
              <a:t>Classification of Instruction Set</a:t>
            </a:r>
            <a:endParaRPr sz="1400" b="0" i="0" u="none" strike="noStrike" cap="none">
              <a:solidFill>
                <a:schemeClr val="accent1"/>
              </a:solidFill>
              <a:latin typeface="Arial"/>
              <a:ea typeface="Arial"/>
              <a:cs typeface="Arial"/>
              <a:sym typeface="Arial"/>
            </a:endParaRPr>
          </a:p>
        </p:txBody>
      </p:sp>
      <p:sp>
        <p:nvSpPr>
          <p:cNvPr id="293" name="Google Shape;293;p17"/>
          <p:cNvSpPr txBox="1"/>
          <p:nvPr/>
        </p:nvSpPr>
        <p:spPr>
          <a:xfrm>
            <a:off x="950384" y="1223964"/>
            <a:ext cx="11049000" cy="5214937"/>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600"/>
              <a:buFont typeface="Constantia"/>
              <a:buNone/>
            </a:pPr>
            <a:r>
              <a:rPr lang="en-US" sz="2600" b="0" i="0" u="none" strike="noStrike" cap="none" dirty="0">
                <a:solidFill>
                  <a:schemeClr val="accent6">
                    <a:lumMod val="75000"/>
                  </a:schemeClr>
                </a:solidFill>
                <a:latin typeface="Constantia"/>
                <a:ea typeface="Constantia"/>
                <a:cs typeface="Constantia"/>
                <a:sym typeface="Constantia"/>
              </a:rPr>
              <a:t>1. Arithmetic Instructions and Logical Instruction</a:t>
            </a:r>
            <a:endParaRPr sz="1400" b="0" i="0" u="none" strike="noStrike" cap="none" dirty="0">
              <a:solidFill>
                <a:schemeClr val="accent6">
                  <a:lumMod val="75000"/>
                </a:schemeClr>
              </a:solidFill>
              <a:sym typeface="Arial"/>
            </a:endParaRPr>
          </a:p>
          <a:p>
            <a:pPr marL="0" marR="0" lvl="0" indent="0" algn="l" rtl="0">
              <a:lnSpc>
                <a:spcPct val="100000"/>
              </a:lnSpc>
              <a:spcBef>
                <a:spcPts val="2000"/>
              </a:spcBef>
              <a:spcAft>
                <a:spcPts val="0"/>
              </a:spcAft>
              <a:buClr>
                <a:srgbClr val="000000"/>
              </a:buClr>
              <a:buSzPts val="2600"/>
              <a:buFont typeface="Constantia"/>
              <a:buNone/>
            </a:pPr>
            <a:r>
              <a:rPr lang="en-US" sz="2600" b="0" i="0" u="none" strike="noStrike" cap="none" dirty="0">
                <a:solidFill>
                  <a:schemeClr val="accent6">
                    <a:lumMod val="75000"/>
                  </a:schemeClr>
                </a:solidFill>
                <a:latin typeface="Constantia"/>
                <a:ea typeface="Constantia"/>
                <a:cs typeface="Constantia"/>
                <a:sym typeface="Constantia"/>
              </a:rPr>
              <a:t>2. Data Transfer Instructions</a:t>
            </a:r>
            <a:endParaRPr sz="1400" b="0" i="0" u="none" strike="noStrike" cap="none" dirty="0">
              <a:solidFill>
                <a:schemeClr val="accent6">
                  <a:lumMod val="75000"/>
                </a:schemeClr>
              </a:solidFill>
              <a:sym typeface="Arial"/>
            </a:endParaRPr>
          </a:p>
          <a:p>
            <a:pPr marL="0" marR="0" lvl="0" indent="0" algn="l" rtl="0">
              <a:lnSpc>
                <a:spcPct val="100000"/>
              </a:lnSpc>
              <a:spcBef>
                <a:spcPts val="2000"/>
              </a:spcBef>
              <a:spcAft>
                <a:spcPts val="0"/>
              </a:spcAft>
              <a:buClr>
                <a:srgbClr val="000000"/>
              </a:buClr>
              <a:buSzPts val="2600"/>
              <a:buFont typeface="Constantia"/>
              <a:buNone/>
            </a:pPr>
            <a:r>
              <a:rPr lang="en-US" sz="2600" b="0" i="0" u="none" strike="noStrike" cap="none" dirty="0">
                <a:solidFill>
                  <a:schemeClr val="accent6">
                    <a:lumMod val="75000"/>
                  </a:schemeClr>
                </a:solidFill>
                <a:latin typeface="Constantia"/>
                <a:ea typeface="Constantia"/>
                <a:cs typeface="Constantia"/>
                <a:sym typeface="Constantia"/>
              </a:rPr>
              <a:t>3. Branch and  Loop Instruction</a:t>
            </a:r>
            <a:endParaRPr sz="1400" b="0" i="0" u="none" strike="noStrike" cap="none" dirty="0">
              <a:solidFill>
                <a:schemeClr val="accent6">
                  <a:lumMod val="75000"/>
                </a:schemeClr>
              </a:solidFill>
              <a:sym typeface="Arial"/>
            </a:endParaRPr>
          </a:p>
          <a:p>
            <a:pPr marL="0" marR="0" lvl="0" indent="0" algn="l" rtl="0">
              <a:lnSpc>
                <a:spcPct val="100000"/>
              </a:lnSpc>
              <a:spcBef>
                <a:spcPts val="2000"/>
              </a:spcBef>
              <a:spcAft>
                <a:spcPts val="0"/>
              </a:spcAft>
              <a:buClr>
                <a:srgbClr val="000000"/>
              </a:buClr>
              <a:buSzPts val="2600"/>
              <a:buFont typeface="Constantia"/>
              <a:buNone/>
            </a:pPr>
            <a:r>
              <a:rPr lang="en-US" sz="2600" b="0" i="0" u="none" strike="noStrike" cap="none" dirty="0">
                <a:solidFill>
                  <a:schemeClr val="accent6">
                    <a:lumMod val="75000"/>
                  </a:schemeClr>
                </a:solidFill>
                <a:latin typeface="Constantia"/>
                <a:ea typeface="Constantia"/>
                <a:cs typeface="Constantia"/>
                <a:sym typeface="Constantia"/>
              </a:rPr>
              <a:t>4. M/C control Instruction</a:t>
            </a:r>
            <a:endParaRPr sz="1400" b="0" i="0" u="none" strike="noStrike" cap="none" dirty="0">
              <a:solidFill>
                <a:schemeClr val="accent6">
                  <a:lumMod val="75000"/>
                </a:schemeClr>
              </a:solidFill>
              <a:sym typeface="Arial"/>
            </a:endParaRPr>
          </a:p>
          <a:p>
            <a:pPr marL="0" marR="0" lvl="0" indent="0" algn="l" rtl="0">
              <a:lnSpc>
                <a:spcPct val="100000"/>
              </a:lnSpc>
              <a:spcBef>
                <a:spcPts val="2000"/>
              </a:spcBef>
              <a:spcAft>
                <a:spcPts val="0"/>
              </a:spcAft>
              <a:buClr>
                <a:srgbClr val="000000"/>
              </a:buClr>
              <a:buSzPts val="2600"/>
              <a:buFont typeface="Constantia"/>
              <a:buNone/>
            </a:pPr>
            <a:r>
              <a:rPr lang="en-US" sz="2600" b="0" i="0" u="none" strike="noStrike" cap="none" dirty="0">
                <a:solidFill>
                  <a:schemeClr val="accent6">
                    <a:lumMod val="75000"/>
                  </a:schemeClr>
                </a:solidFill>
                <a:latin typeface="Constantia"/>
                <a:ea typeface="Constantia"/>
                <a:cs typeface="Constantia"/>
                <a:sym typeface="Constantia"/>
              </a:rPr>
              <a:t>5. Flag Manipulation Instructions</a:t>
            </a:r>
            <a:endParaRPr sz="1400" b="0" i="0" u="none" strike="noStrike" cap="none" dirty="0">
              <a:solidFill>
                <a:schemeClr val="accent6">
                  <a:lumMod val="75000"/>
                </a:schemeClr>
              </a:solidFill>
              <a:sym typeface="Arial"/>
            </a:endParaRPr>
          </a:p>
          <a:p>
            <a:pPr marL="0" marR="0" lvl="0" indent="0" algn="l" rtl="0">
              <a:lnSpc>
                <a:spcPct val="100000"/>
              </a:lnSpc>
              <a:spcBef>
                <a:spcPts val="2000"/>
              </a:spcBef>
              <a:spcAft>
                <a:spcPts val="0"/>
              </a:spcAft>
              <a:buClr>
                <a:srgbClr val="000000"/>
              </a:buClr>
              <a:buSzPts val="2600"/>
              <a:buFont typeface="Constantia"/>
              <a:buNone/>
            </a:pPr>
            <a:r>
              <a:rPr lang="en-US" sz="2600" b="0" i="0" u="none" strike="noStrike" cap="none" dirty="0">
                <a:solidFill>
                  <a:schemeClr val="accent6">
                    <a:lumMod val="75000"/>
                  </a:schemeClr>
                </a:solidFill>
                <a:latin typeface="Constantia"/>
                <a:ea typeface="Constantia"/>
                <a:cs typeface="Constantia"/>
                <a:sym typeface="Constantia"/>
              </a:rPr>
              <a:t>6. Shift and Rotate Instruction</a:t>
            </a:r>
            <a:endParaRPr sz="1400" b="0" i="0" u="none" strike="noStrike" cap="none" dirty="0">
              <a:solidFill>
                <a:schemeClr val="accent6">
                  <a:lumMod val="75000"/>
                </a:schemeClr>
              </a:solidFill>
              <a:sym typeface="Arial"/>
            </a:endParaRPr>
          </a:p>
          <a:p>
            <a:pPr marL="0" marR="0" lvl="0" indent="0" algn="l" rtl="0">
              <a:lnSpc>
                <a:spcPct val="100000"/>
              </a:lnSpc>
              <a:spcBef>
                <a:spcPts val="2000"/>
              </a:spcBef>
              <a:spcAft>
                <a:spcPts val="0"/>
              </a:spcAft>
              <a:buClr>
                <a:srgbClr val="000000"/>
              </a:buClr>
              <a:buSzPts val="2600"/>
              <a:buFont typeface="Constantia"/>
              <a:buNone/>
            </a:pPr>
            <a:r>
              <a:rPr lang="en-US" sz="2600" b="0" i="0" u="none" strike="noStrike" cap="none" dirty="0">
                <a:solidFill>
                  <a:schemeClr val="accent6">
                    <a:lumMod val="75000"/>
                  </a:schemeClr>
                </a:solidFill>
                <a:latin typeface="Constantia"/>
                <a:ea typeface="Constantia"/>
                <a:cs typeface="Constantia"/>
                <a:sym typeface="Constantia"/>
              </a:rPr>
              <a:t>7. String Instructions</a:t>
            </a:r>
            <a:endParaRPr sz="1400" b="0" i="0" u="none" strike="noStrike" cap="none" dirty="0">
              <a:solidFill>
                <a:schemeClr val="accent6">
                  <a:lumMod val="75000"/>
                </a:schemeClr>
              </a:solidFill>
              <a:sym typeface="Arial"/>
            </a:endParaRPr>
          </a:p>
        </p:txBody>
      </p:sp>
      <p:sp>
        <p:nvSpPr>
          <p:cNvPr id="295" name="Google Shape;295;p17"/>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12</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8"/>
          <p:cNvSpPr txBox="1"/>
          <p:nvPr/>
        </p:nvSpPr>
        <p:spPr>
          <a:xfrm>
            <a:off x="277091" y="0"/>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rgbClr val="C00000"/>
                </a:solidFill>
                <a:latin typeface="Calibri"/>
                <a:ea typeface="Calibri"/>
                <a:cs typeface="Calibri"/>
                <a:sym typeface="Calibri"/>
              </a:rPr>
              <a:t>1. Arithmetic And Logical Instructions</a:t>
            </a:r>
            <a:endParaRPr sz="1400" b="0" i="0" u="none" strike="noStrike" cap="none" dirty="0">
              <a:solidFill>
                <a:srgbClr val="C00000"/>
              </a:solidFill>
              <a:sym typeface="Arial"/>
            </a:endParaRPr>
          </a:p>
        </p:txBody>
      </p:sp>
      <p:sp>
        <p:nvSpPr>
          <p:cNvPr id="2" name="Rectangle 1"/>
          <p:cNvSpPr/>
          <p:nvPr/>
        </p:nvSpPr>
        <p:spPr>
          <a:xfrm>
            <a:off x="387928" y="1882438"/>
            <a:ext cx="10861963" cy="4893647"/>
          </a:xfrm>
          <a:prstGeom prst="rect">
            <a:avLst/>
          </a:prstGeom>
        </p:spPr>
        <p:txBody>
          <a:bodyPr wrap="square">
            <a:spAutoFit/>
          </a:bodyPr>
          <a:lstStyle/>
          <a:p>
            <a:r>
              <a:rPr lang="en-IN" sz="2400" b="1" dirty="0" smtClean="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processor supports the following data sizes </a:t>
            </a:r>
            <a:r>
              <a:rPr lang="en-IN" sz="2400" b="1" dirty="0" smtClean="0">
                <a:latin typeface="Times New Roman" panose="02020603050405020304" pitchFamily="18" charset="0"/>
                <a:cs typeface="Times New Roman" panose="02020603050405020304" pitchFamily="18" charset="0"/>
              </a:rPr>
              <a:t>−</a:t>
            </a:r>
          </a:p>
          <a:p>
            <a:pPr fontAlgn="ctr"/>
            <a:r>
              <a:rPr lang="en-US" sz="2400" b="1" dirty="0">
                <a:latin typeface="Times New Roman" panose="02020603050405020304" pitchFamily="18" charset="0"/>
                <a:cs typeface="Times New Roman" panose="02020603050405020304" pitchFamily="18" charset="0"/>
              </a:rPr>
              <a:t>Bit</a:t>
            </a:r>
            <a:r>
              <a:rPr lang="en-US" sz="2400" dirty="0">
                <a:latin typeface="Times New Roman" panose="02020603050405020304" pitchFamily="18" charset="0"/>
                <a:cs typeface="Times New Roman" panose="02020603050405020304" pitchFamily="18" charset="0"/>
              </a:rPr>
              <a:t>: A binary digit that can be either 0 or 1. In a hardware computer, a bit can be represented by a voltage level. In a virtual computer, a bit can represent a Boolean value, such as true or false. </a:t>
            </a:r>
          </a:p>
          <a:p>
            <a:pPr fontAlgn="ctr"/>
            <a:r>
              <a:rPr lang="en-US" sz="2400" b="1" dirty="0">
                <a:latin typeface="Times New Roman" panose="02020603050405020304" pitchFamily="18" charset="0"/>
                <a:cs typeface="Times New Roman" panose="02020603050405020304" pitchFamily="18" charset="0"/>
              </a:rPr>
              <a:t>Byte</a:t>
            </a:r>
            <a:r>
              <a:rPr lang="en-US" sz="2400" dirty="0">
                <a:latin typeface="Times New Roman" panose="02020603050405020304" pitchFamily="18" charset="0"/>
                <a:cs typeface="Times New Roman" panose="02020603050405020304" pitchFamily="18" charset="0"/>
              </a:rPr>
              <a:t>: A sequence of eight bits. </a:t>
            </a:r>
          </a:p>
          <a:p>
            <a:r>
              <a:rPr lang="en-US" sz="2400" b="1" dirty="0">
                <a:latin typeface="Times New Roman" panose="02020603050405020304" pitchFamily="18" charset="0"/>
                <a:cs typeface="Times New Roman" panose="02020603050405020304" pitchFamily="18" charset="0"/>
              </a:rPr>
              <a:t>Word</a:t>
            </a:r>
            <a:r>
              <a:rPr lang="en-US" sz="2400" dirty="0">
                <a:latin typeface="Times New Roman" panose="02020603050405020304" pitchFamily="18" charset="0"/>
                <a:cs typeface="Times New Roman" panose="02020603050405020304" pitchFamily="18" charset="0"/>
              </a:rPr>
              <a:t>: A sequence of 16, 32, or 64 bits, depending on the computer. A word is usually made up of two bytes. </a:t>
            </a:r>
            <a:endParaRPr lang="en-IN" sz="2400"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Word</a:t>
            </a:r>
            <a:r>
              <a:rPr lang="en-IN" sz="2400" dirty="0" smtClean="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a 2-byte data item</a:t>
            </a:r>
          </a:p>
          <a:p>
            <a:pPr algn="just">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Doubleword</a:t>
            </a:r>
            <a:r>
              <a:rPr lang="en-IN" sz="2400" dirty="0">
                <a:latin typeface="Times New Roman" panose="02020603050405020304" pitchFamily="18" charset="0"/>
                <a:cs typeface="Times New Roman" panose="02020603050405020304" pitchFamily="18" charset="0"/>
              </a:rPr>
              <a:t>: a 4-byte (32 bit) data item</a:t>
            </a:r>
          </a:p>
          <a:p>
            <a:pPr algn="just">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Quadword</a:t>
            </a:r>
            <a:r>
              <a:rPr lang="en-IN" sz="2400" dirty="0">
                <a:latin typeface="Times New Roman" panose="02020603050405020304" pitchFamily="18" charset="0"/>
                <a:cs typeface="Times New Roman" panose="02020603050405020304" pitchFamily="18" charset="0"/>
              </a:rPr>
              <a:t>: an 8-byte (64 bit) data item</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Paragraph: a 16-byte (128 bit) area</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Kilobyte: 1024 bytes</a:t>
            </a:r>
          </a:p>
          <a:p>
            <a:pPr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Megabyte: 1,048,576 bytes</a:t>
            </a:r>
          </a:p>
        </p:txBody>
      </p:sp>
      <p:sp>
        <p:nvSpPr>
          <p:cNvPr id="3" name="Rectangle 2"/>
          <p:cNvSpPr/>
          <p:nvPr/>
        </p:nvSpPr>
        <p:spPr>
          <a:xfrm>
            <a:off x="277091" y="866775"/>
            <a:ext cx="11720945" cy="1015663"/>
          </a:xfrm>
          <a:prstGeom prst="rect">
            <a:avLst/>
          </a:prstGeom>
        </p:spPr>
        <p:txBody>
          <a:bodyPr wrap="square">
            <a:spAutoFit/>
          </a:bodyPr>
          <a:lstStyle/>
          <a:p>
            <a:r>
              <a:rPr lang="en-US" sz="2000" b="1" dirty="0">
                <a:solidFill>
                  <a:srgbClr val="273239"/>
                </a:solidFill>
                <a:latin typeface="Times New Roman" panose="02020603050405020304" pitchFamily="18" charset="0"/>
                <a:cs typeface="Times New Roman" panose="02020603050405020304" pitchFamily="18" charset="0"/>
              </a:rPr>
              <a:t>Arithmetic Instructions are the instructions which perform basic arithmetic operations such as addition, subtraction and a few more. Unlike in 8085 microprocessor, in 8086 microprocessor the destination operand need not be the accumulator.</a:t>
            </a:r>
            <a:endParaRPr lang="en-IN" sz="20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19"/>
          <p:cNvSpPr txBox="1"/>
          <p:nvPr/>
        </p:nvSpPr>
        <p:spPr>
          <a:xfrm>
            <a:off x="685800" y="-181840"/>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rgbClr val="C00000"/>
                </a:solidFill>
                <a:latin typeface="Calibri"/>
                <a:ea typeface="Calibri"/>
                <a:cs typeface="Calibri"/>
                <a:sym typeface="Calibri"/>
              </a:rPr>
              <a:t>Arithmetic Instructions</a:t>
            </a:r>
            <a:endParaRPr sz="1400" b="0" i="0" u="none" strike="noStrike" cap="none" dirty="0">
              <a:solidFill>
                <a:srgbClr val="C00000"/>
              </a:solidFill>
              <a:sym typeface="Arial"/>
            </a:endParaRPr>
          </a:p>
        </p:txBody>
      </p:sp>
      <p:sp>
        <p:nvSpPr>
          <p:cNvPr id="310" name="Google Shape;310;p19"/>
          <p:cNvSpPr txBox="1"/>
          <p:nvPr/>
        </p:nvSpPr>
        <p:spPr>
          <a:xfrm>
            <a:off x="152400" y="578428"/>
            <a:ext cx="5527964"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3200"/>
              <a:buFont typeface="Noto Sans Symbols"/>
              <a:buChar char="⚫"/>
            </a:pPr>
            <a:r>
              <a:rPr lang="en-US" sz="3200" b="1" i="0" u="none" strike="noStrike" cap="none" dirty="0">
                <a:solidFill>
                  <a:schemeClr val="accent6">
                    <a:lumMod val="75000"/>
                  </a:schemeClr>
                </a:solidFill>
                <a:latin typeface="Constantia"/>
                <a:ea typeface="Constantia"/>
                <a:cs typeface="Constantia"/>
                <a:sym typeface="Constantia"/>
              </a:rPr>
              <a:t>ADD Des, </a:t>
            </a:r>
            <a:r>
              <a:rPr lang="en-US" sz="3200" b="1" i="0" u="none" strike="noStrike" cap="none" dirty="0" err="1">
                <a:solidFill>
                  <a:schemeClr val="accent6">
                    <a:lumMod val="75000"/>
                  </a:schemeClr>
                </a:solidFill>
                <a:latin typeface="Constantia"/>
                <a:ea typeface="Constantia"/>
                <a:cs typeface="Constantia"/>
                <a:sym typeface="Constantia"/>
              </a:rPr>
              <a:t>Src</a:t>
            </a:r>
            <a:r>
              <a:rPr lang="en-US" sz="3200" b="1" i="0" u="none" strike="noStrike" cap="none" dirty="0">
                <a:solidFill>
                  <a:schemeClr val="accent6">
                    <a:lumMod val="75000"/>
                  </a:schemeClr>
                </a:solidFill>
                <a:latin typeface="Constantia"/>
                <a:ea typeface="Constantia"/>
                <a:cs typeface="Constantia"/>
                <a:sym typeface="Constantia"/>
              </a:rPr>
              <a:t>:</a:t>
            </a:r>
            <a:endParaRPr sz="1400" b="0" i="0" u="none" strike="noStrike" cap="none" dirty="0">
              <a:solidFill>
                <a:schemeClr val="accent6">
                  <a:lumMod val="75000"/>
                </a:schemeClr>
              </a:solidFill>
              <a:sym typeface="Arial"/>
            </a:endParaRPr>
          </a:p>
          <a:p>
            <a:pPr marL="628650" marR="0" lvl="1" indent="-239712" algn="l" rtl="0">
              <a:lnSpc>
                <a:spcPct val="100000"/>
              </a:lnSpc>
              <a:spcBef>
                <a:spcPts val="1900"/>
              </a:spcBef>
              <a:spcAft>
                <a:spcPts val="0"/>
              </a:spcAft>
              <a:buClr>
                <a:srgbClr val="F3A447"/>
              </a:buClr>
              <a:buSzPts val="2800"/>
              <a:buFont typeface="Noto Sans Symbols"/>
              <a:buChar char="⚫"/>
            </a:pPr>
            <a:r>
              <a:rPr lang="en-US" sz="2800" b="0" i="0" u="none" strike="noStrike" cap="none" dirty="0">
                <a:solidFill>
                  <a:schemeClr val="accent6">
                    <a:lumMod val="75000"/>
                  </a:schemeClr>
                </a:solidFill>
                <a:latin typeface="Constantia"/>
                <a:ea typeface="Constantia"/>
                <a:cs typeface="Constantia"/>
                <a:sym typeface="Constantia"/>
              </a:rPr>
              <a:t>It adds a byte to byte or a word to word.</a:t>
            </a:r>
            <a:endParaRPr sz="1400" b="0" i="0" u="none" strike="noStrike" cap="none" dirty="0">
              <a:solidFill>
                <a:schemeClr val="accent6">
                  <a:lumMod val="75000"/>
                </a:schemeClr>
              </a:solidFill>
              <a:sym typeface="Arial"/>
            </a:endParaRPr>
          </a:p>
          <a:p>
            <a:pPr marL="628650" marR="0" lvl="1" indent="-239712" algn="l" rtl="0">
              <a:lnSpc>
                <a:spcPct val="100000"/>
              </a:lnSpc>
              <a:spcBef>
                <a:spcPts val="1900"/>
              </a:spcBef>
              <a:spcAft>
                <a:spcPts val="0"/>
              </a:spcAft>
              <a:buClr>
                <a:srgbClr val="F3A447"/>
              </a:buClr>
              <a:buSzPts val="2800"/>
              <a:buFont typeface="Noto Sans Symbols"/>
              <a:buChar char="⚫"/>
            </a:pPr>
            <a:r>
              <a:rPr lang="en-US" sz="2800" b="0" i="0" u="none" strike="noStrike" cap="none" dirty="0">
                <a:solidFill>
                  <a:schemeClr val="accent6">
                    <a:lumMod val="75000"/>
                  </a:schemeClr>
                </a:solidFill>
                <a:latin typeface="Constantia"/>
                <a:ea typeface="Constantia"/>
                <a:cs typeface="Constantia"/>
                <a:sym typeface="Constantia"/>
              </a:rPr>
              <a:t>It effects AF, CF, OF, PF, SF, ZF flags.</a:t>
            </a:r>
            <a:endParaRPr sz="1400" b="0" i="0" u="none" strike="noStrike" cap="none" dirty="0">
              <a:solidFill>
                <a:schemeClr val="accent6">
                  <a:lumMod val="75000"/>
                </a:schemeClr>
              </a:solidFill>
              <a:sym typeface="Arial"/>
            </a:endParaRPr>
          </a:p>
          <a:p>
            <a:pPr marL="628650" marR="0" lvl="1" indent="-239712" algn="l" rtl="0">
              <a:lnSpc>
                <a:spcPct val="100000"/>
              </a:lnSpc>
              <a:spcBef>
                <a:spcPts val="1900"/>
              </a:spcBef>
              <a:spcAft>
                <a:spcPts val="0"/>
              </a:spcAft>
              <a:buClr>
                <a:srgbClr val="F3A447"/>
              </a:buClr>
              <a:buSzPts val="2800"/>
              <a:buFont typeface="Noto Sans Symbols"/>
              <a:buChar char="⚫"/>
            </a:pPr>
            <a:r>
              <a:rPr lang="en-US" sz="2800" b="0" i="0" u="none" strike="noStrike" cap="none" dirty="0">
                <a:solidFill>
                  <a:schemeClr val="accent6">
                    <a:lumMod val="75000"/>
                  </a:schemeClr>
                </a:solidFill>
                <a:latin typeface="Constantia"/>
                <a:ea typeface="Constantia"/>
                <a:cs typeface="Constantia"/>
                <a:sym typeface="Constantia"/>
              </a:rPr>
              <a:t>E.g.:</a:t>
            </a:r>
            <a:endParaRPr sz="1400" b="0" i="0" u="none" strike="noStrike" cap="none" dirty="0">
              <a:solidFill>
                <a:schemeClr val="accent6">
                  <a:lumMod val="75000"/>
                </a:schemeClr>
              </a:solidFill>
              <a:sym typeface="Arial"/>
            </a:endParaRPr>
          </a:p>
          <a:p>
            <a:pPr marL="903288" marR="0" lvl="2" indent="-236537" algn="l" rtl="0">
              <a:lnSpc>
                <a:spcPct val="100000"/>
              </a:lnSpc>
              <a:spcBef>
                <a:spcPts val="1800"/>
              </a:spcBef>
              <a:spcAft>
                <a:spcPts val="0"/>
              </a:spcAft>
              <a:buClr>
                <a:srgbClr val="F3A447"/>
              </a:buClr>
              <a:buSzPts val="2400"/>
              <a:buFont typeface="Noto Sans Symbols"/>
              <a:buChar char="⚫"/>
            </a:pPr>
            <a:r>
              <a:rPr lang="en-US" sz="2400" b="0" i="0" u="none" strike="noStrike" cap="none" dirty="0">
                <a:solidFill>
                  <a:schemeClr val="accent6">
                    <a:lumMod val="75000"/>
                  </a:schemeClr>
                </a:solidFill>
                <a:latin typeface="Constantia"/>
                <a:ea typeface="Constantia"/>
                <a:cs typeface="Constantia"/>
                <a:sym typeface="Constantia"/>
              </a:rPr>
              <a:t>ADD AL, 74H</a:t>
            </a:r>
            <a:endParaRPr sz="1400" b="0" i="0" u="none" strike="noStrike" cap="none" dirty="0">
              <a:solidFill>
                <a:schemeClr val="accent6">
                  <a:lumMod val="75000"/>
                </a:schemeClr>
              </a:solidFill>
              <a:sym typeface="Arial"/>
            </a:endParaRPr>
          </a:p>
          <a:p>
            <a:pPr marL="903288" marR="0" lvl="2" indent="-236537" algn="l" rtl="0">
              <a:lnSpc>
                <a:spcPct val="100000"/>
              </a:lnSpc>
              <a:spcBef>
                <a:spcPts val="1800"/>
              </a:spcBef>
              <a:spcAft>
                <a:spcPts val="0"/>
              </a:spcAft>
              <a:buClr>
                <a:srgbClr val="F3A447"/>
              </a:buClr>
              <a:buSzPts val="2400"/>
              <a:buFont typeface="Noto Sans Symbols"/>
              <a:buChar char="⚫"/>
            </a:pPr>
            <a:r>
              <a:rPr lang="en-US" sz="2400" b="0" i="0" u="none" strike="noStrike" cap="none" dirty="0">
                <a:solidFill>
                  <a:schemeClr val="accent6">
                    <a:lumMod val="75000"/>
                  </a:schemeClr>
                </a:solidFill>
                <a:latin typeface="Constantia"/>
                <a:ea typeface="Constantia"/>
                <a:cs typeface="Constantia"/>
                <a:sym typeface="Constantia"/>
              </a:rPr>
              <a:t>ADD DX, AX</a:t>
            </a:r>
            <a:endParaRPr sz="1400" b="0" i="0" u="none" strike="noStrike" cap="none" dirty="0">
              <a:solidFill>
                <a:schemeClr val="accent6">
                  <a:lumMod val="75000"/>
                </a:schemeClr>
              </a:solidFill>
              <a:sym typeface="Arial"/>
            </a:endParaRPr>
          </a:p>
          <a:p>
            <a:pPr marL="903288" marR="0" lvl="2" indent="-236537" algn="l" rtl="0">
              <a:lnSpc>
                <a:spcPct val="100000"/>
              </a:lnSpc>
              <a:spcBef>
                <a:spcPts val="1800"/>
              </a:spcBef>
              <a:spcAft>
                <a:spcPts val="0"/>
              </a:spcAft>
              <a:buClr>
                <a:srgbClr val="F3A447"/>
              </a:buClr>
              <a:buSzPts val="2400"/>
              <a:buFont typeface="Noto Sans Symbols"/>
              <a:buChar char="⚫"/>
            </a:pPr>
            <a:r>
              <a:rPr lang="en-US" sz="2400" b="0" i="0" u="none" strike="noStrike" cap="none" dirty="0">
                <a:solidFill>
                  <a:schemeClr val="accent6">
                    <a:lumMod val="75000"/>
                  </a:schemeClr>
                </a:solidFill>
                <a:latin typeface="Constantia"/>
                <a:ea typeface="Constantia"/>
                <a:cs typeface="Constantia"/>
                <a:sym typeface="Constantia"/>
              </a:rPr>
              <a:t>ADD AX, [BX]</a:t>
            </a:r>
            <a:endParaRPr sz="1400" b="0" i="0" u="none" strike="noStrike" cap="none" dirty="0">
              <a:solidFill>
                <a:schemeClr val="accent6">
                  <a:lumMod val="75000"/>
                </a:schemeClr>
              </a:solidFill>
              <a:sym typeface="Arial"/>
            </a:endParaRPr>
          </a:p>
        </p:txBody>
      </p:sp>
      <p:sp>
        <p:nvSpPr>
          <p:cNvPr id="312" name="Google Shape;312;p19"/>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14</a:t>
            </a:fld>
            <a:endParaRPr sz="1200" b="0" i="0" u="none" strike="noStrike" cap="none">
              <a:solidFill>
                <a:srgbClr val="404924"/>
              </a:solidFill>
              <a:latin typeface="Constantia"/>
              <a:ea typeface="Constantia"/>
              <a:cs typeface="Constantia"/>
              <a:sym typeface="Constantia"/>
            </a:endParaRPr>
          </a:p>
        </p:txBody>
      </p:sp>
      <p:sp>
        <p:nvSpPr>
          <p:cNvPr id="7" name="Google Shape;321;p20"/>
          <p:cNvSpPr txBox="1"/>
          <p:nvPr/>
        </p:nvSpPr>
        <p:spPr>
          <a:xfrm>
            <a:off x="5375563" y="684935"/>
            <a:ext cx="5818909"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F9900"/>
              </a:buClr>
              <a:buSzPts val="3200"/>
              <a:buFont typeface="Noto Sans Symbols"/>
              <a:buChar char="⚫"/>
            </a:pPr>
            <a:r>
              <a:rPr lang="en-US" sz="3200" b="1" i="0" u="none" strike="noStrike" cap="none" dirty="0">
                <a:solidFill>
                  <a:schemeClr val="accent6"/>
                </a:solidFill>
                <a:latin typeface="Constantia"/>
                <a:ea typeface="Constantia"/>
                <a:cs typeface="Constantia"/>
                <a:sym typeface="Constantia"/>
              </a:rPr>
              <a:t>ADC Des, </a:t>
            </a:r>
            <a:r>
              <a:rPr lang="en-US" sz="3200" b="1" i="0" u="none" strike="noStrike" cap="none" dirty="0" err="1">
                <a:solidFill>
                  <a:schemeClr val="accent6"/>
                </a:solidFill>
                <a:latin typeface="Constantia"/>
                <a:ea typeface="Constantia"/>
                <a:cs typeface="Constantia"/>
                <a:sym typeface="Constantia"/>
              </a:rPr>
              <a:t>Src</a:t>
            </a:r>
            <a:r>
              <a:rPr lang="en-US" sz="3200" b="1" i="0" u="none" strike="noStrike" cap="none" dirty="0">
                <a:solidFill>
                  <a:schemeClr val="accent6"/>
                </a:solidFill>
                <a:latin typeface="Constantia"/>
                <a:ea typeface="Constantia"/>
                <a:cs typeface="Constantia"/>
                <a:sym typeface="Constantia"/>
              </a:rPr>
              <a:t>:</a:t>
            </a:r>
            <a:endParaRPr sz="1400" b="0" i="0" u="none" strike="noStrike" cap="none" dirty="0">
              <a:solidFill>
                <a:schemeClr val="accent6"/>
              </a:solidFill>
              <a:sym typeface="Arial"/>
            </a:endParaRPr>
          </a:p>
          <a:p>
            <a:pPr marL="628650" marR="0" lvl="1" indent="-239712" algn="l" rtl="0">
              <a:lnSpc>
                <a:spcPct val="100000"/>
              </a:lnSpc>
              <a:spcBef>
                <a:spcPts val="1900"/>
              </a:spcBef>
              <a:spcAft>
                <a:spcPts val="0"/>
              </a:spcAft>
              <a:buClr>
                <a:srgbClr val="FF9900"/>
              </a:buClr>
              <a:buSzPts val="2800"/>
              <a:buFont typeface="Noto Sans Symbols"/>
              <a:buChar char="⚫"/>
            </a:pPr>
            <a:r>
              <a:rPr lang="en-US" sz="2800" b="0" i="0" u="none" strike="noStrike" cap="none" dirty="0">
                <a:solidFill>
                  <a:schemeClr val="accent6"/>
                </a:solidFill>
                <a:latin typeface="Constantia"/>
                <a:ea typeface="Constantia"/>
                <a:cs typeface="Constantia"/>
                <a:sym typeface="Constantia"/>
              </a:rPr>
              <a:t>It adds the two operands with CF.</a:t>
            </a:r>
            <a:endParaRPr sz="1400" b="0" i="0" u="none" strike="noStrike" cap="none" dirty="0">
              <a:solidFill>
                <a:schemeClr val="accent6"/>
              </a:solidFill>
              <a:sym typeface="Arial"/>
            </a:endParaRPr>
          </a:p>
          <a:p>
            <a:pPr marL="628650" marR="0" lvl="1" indent="-239712" algn="l" rtl="0">
              <a:lnSpc>
                <a:spcPct val="100000"/>
              </a:lnSpc>
              <a:spcBef>
                <a:spcPts val="1900"/>
              </a:spcBef>
              <a:spcAft>
                <a:spcPts val="0"/>
              </a:spcAft>
              <a:buClr>
                <a:srgbClr val="FF9900"/>
              </a:buClr>
              <a:buSzPts val="2800"/>
              <a:buFont typeface="Noto Sans Symbols"/>
              <a:buChar char="⚫"/>
            </a:pPr>
            <a:r>
              <a:rPr lang="en-US" sz="2800" b="0" i="0" u="none" strike="noStrike" cap="none" dirty="0">
                <a:solidFill>
                  <a:schemeClr val="accent6"/>
                </a:solidFill>
                <a:latin typeface="Constantia"/>
                <a:ea typeface="Constantia"/>
                <a:cs typeface="Constantia"/>
                <a:sym typeface="Constantia"/>
              </a:rPr>
              <a:t>It effects AF, CF, OF, PF, SF, ZF flags.</a:t>
            </a:r>
            <a:endParaRPr sz="1400" b="0" i="0" u="none" strike="noStrike" cap="none" dirty="0">
              <a:solidFill>
                <a:schemeClr val="accent6"/>
              </a:solidFill>
              <a:sym typeface="Arial"/>
            </a:endParaRPr>
          </a:p>
          <a:p>
            <a:pPr marL="628650" marR="0" lvl="1" indent="-239712" algn="l" rtl="0">
              <a:lnSpc>
                <a:spcPct val="100000"/>
              </a:lnSpc>
              <a:spcBef>
                <a:spcPts val="1900"/>
              </a:spcBef>
              <a:spcAft>
                <a:spcPts val="0"/>
              </a:spcAft>
              <a:buClr>
                <a:srgbClr val="FF9900"/>
              </a:buClr>
              <a:buSzPts val="2800"/>
              <a:buFont typeface="Noto Sans Symbols"/>
              <a:buChar char="⚫"/>
            </a:pPr>
            <a:r>
              <a:rPr lang="en-US" sz="2800" b="0" i="0" u="none" strike="noStrike" cap="none" dirty="0">
                <a:solidFill>
                  <a:schemeClr val="accent6"/>
                </a:solidFill>
                <a:latin typeface="Constantia"/>
                <a:ea typeface="Constantia"/>
                <a:cs typeface="Constantia"/>
                <a:sym typeface="Constantia"/>
              </a:rPr>
              <a:t>E.g.:</a:t>
            </a:r>
            <a:endParaRPr sz="1400" b="0" i="0" u="none" strike="noStrike" cap="none" dirty="0">
              <a:solidFill>
                <a:schemeClr val="accent6"/>
              </a:solidFill>
              <a:sym typeface="Arial"/>
            </a:endParaRPr>
          </a:p>
          <a:p>
            <a:pPr marL="903288" marR="0" lvl="2" indent="-236537" algn="l" rtl="0">
              <a:lnSpc>
                <a:spcPct val="100000"/>
              </a:lnSpc>
              <a:spcBef>
                <a:spcPts val="1800"/>
              </a:spcBef>
              <a:spcAft>
                <a:spcPts val="0"/>
              </a:spcAft>
              <a:buClr>
                <a:srgbClr val="FF9900"/>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ADC AL, 74H</a:t>
            </a:r>
            <a:endParaRPr sz="1400" b="0" i="0" u="none" strike="noStrike" cap="none" dirty="0">
              <a:solidFill>
                <a:schemeClr val="accent6"/>
              </a:solidFill>
              <a:sym typeface="Arial"/>
            </a:endParaRPr>
          </a:p>
          <a:p>
            <a:pPr marL="903288" marR="0" lvl="2" indent="-236537" algn="l" rtl="0">
              <a:lnSpc>
                <a:spcPct val="100000"/>
              </a:lnSpc>
              <a:spcBef>
                <a:spcPts val="1800"/>
              </a:spcBef>
              <a:spcAft>
                <a:spcPts val="0"/>
              </a:spcAft>
              <a:buClr>
                <a:srgbClr val="FF9900"/>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ADC DX, AX</a:t>
            </a:r>
            <a:endParaRPr sz="1400" b="0" i="0" u="none" strike="noStrike" cap="none" dirty="0">
              <a:solidFill>
                <a:schemeClr val="accent6"/>
              </a:solidFill>
              <a:sym typeface="Arial"/>
            </a:endParaRPr>
          </a:p>
          <a:p>
            <a:pPr marL="903288" marR="0" lvl="2" indent="-236537" algn="l" rtl="0">
              <a:lnSpc>
                <a:spcPct val="100000"/>
              </a:lnSpc>
              <a:spcBef>
                <a:spcPts val="1800"/>
              </a:spcBef>
              <a:spcAft>
                <a:spcPts val="0"/>
              </a:spcAft>
              <a:buClr>
                <a:srgbClr val="FF9900"/>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ADC AX, [BX]</a:t>
            </a:r>
            <a:endParaRPr sz="1400" b="0" i="0" u="none" strike="noStrike" cap="none" dirty="0">
              <a:solidFill>
                <a:schemeClr val="accent6"/>
              </a:solidFill>
              <a:sym typeface="Aria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1"/>
          <p:cNvSpPr txBox="1"/>
          <p:nvPr/>
        </p:nvSpPr>
        <p:spPr>
          <a:xfrm>
            <a:off x="0" y="0"/>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rgbClr val="C00000"/>
                </a:solidFill>
                <a:latin typeface="Calibri"/>
                <a:ea typeface="Calibri"/>
                <a:cs typeface="Calibri"/>
                <a:sym typeface="Calibri"/>
              </a:rPr>
              <a:t>Arithmetic Instructions</a:t>
            </a:r>
            <a:endParaRPr sz="1400" b="0" i="0" u="none" strike="noStrike" cap="none" dirty="0">
              <a:solidFill>
                <a:srgbClr val="C00000"/>
              </a:solidFill>
              <a:sym typeface="Arial"/>
            </a:endParaRPr>
          </a:p>
        </p:txBody>
      </p:sp>
      <p:sp>
        <p:nvSpPr>
          <p:cNvPr id="332" name="Google Shape;332;p21"/>
          <p:cNvSpPr txBox="1"/>
          <p:nvPr/>
        </p:nvSpPr>
        <p:spPr>
          <a:xfrm>
            <a:off x="138545" y="980209"/>
            <a:ext cx="6040582"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90000"/>
              </a:lnSpc>
              <a:spcBef>
                <a:spcPts val="0"/>
              </a:spcBef>
              <a:spcAft>
                <a:spcPts val="0"/>
              </a:spcAft>
              <a:buClr>
                <a:srgbClr val="F3A447"/>
              </a:buClr>
              <a:buSzPts val="3200"/>
              <a:buFont typeface="Noto Sans Symbols"/>
              <a:buChar char="⚫"/>
            </a:pPr>
            <a:r>
              <a:rPr lang="en-US" sz="3200" b="1" i="0" u="none" strike="noStrike" cap="none" dirty="0">
                <a:solidFill>
                  <a:schemeClr val="accent6"/>
                </a:solidFill>
                <a:latin typeface="Constantia"/>
                <a:ea typeface="Constantia"/>
                <a:cs typeface="Constantia"/>
                <a:sym typeface="Constantia"/>
              </a:rPr>
              <a:t>SUB Des, </a:t>
            </a:r>
            <a:r>
              <a:rPr lang="en-US" sz="3200" b="1" i="0" u="none" strike="noStrike" cap="none" dirty="0" err="1">
                <a:solidFill>
                  <a:schemeClr val="accent6"/>
                </a:solidFill>
                <a:latin typeface="Constantia"/>
                <a:ea typeface="Constantia"/>
                <a:cs typeface="Constantia"/>
                <a:sym typeface="Constantia"/>
              </a:rPr>
              <a:t>Src</a:t>
            </a:r>
            <a:r>
              <a:rPr lang="en-US" sz="3200" b="1" i="0" u="none" strike="noStrike" cap="none" dirty="0">
                <a:solidFill>
                  <a:schemeClr val="accent6"/>
                </a:solidFill>
                <a:latin typeface="Constantia"/>
                <a:ea typeface="Constantia"/>
                <a:cs typeface="Constantia"/>
                <a:sym typeface="Constantia"/>
              </a:rPr>
              <a:t>:</a:t>
            </a:r>
            <a:endParaRPr sz="1400" b="0" i="0" u="none" strike="noStrike" cap="none" dirty="0">
              <a:solidFill>
                <a:schemeClr val="accent6"/>
              </a:solidFill>
              <a:sym typeface="Arial"/>
            </a:endParaRPr>
          </a:p>
          <a:p>
            <a:pPr marL="628650" marR="0" lvl="1" indent="-239712" algn="l" rtl="0">
              <a:lnSpc>
                <a:spcPct val="90000"/>
              </a:lnSpc>
              <a:spcBef>
                <a:spcPts val="1850"/>
              </a:spcBef>
              <a:spcAft>
                <a:spcPts val="0"/>
              </a:spcAft>
              <a:buClr>
                <a:srgbClr val="F3A447"/>
              </a:buClr>
              <a:buSzPts val="2600"/>
              <a:buFont typeface="Noto Sans Symbols"/>
              <a:buChar char="⚫"/>
            </a:pPr>
            <a:r>
              <a:rPr lang="en-US" sz="2600" b="0" i="0" u="none" strike="noStrike" cap="none" dirty="0">
                <a:solidFill>
                  <a:schemeClr val="accent6"/>
                </a:solidFill>
                <a:latin typeface="Constantia"/>
                <a:ea typeface="Constantia"/>
                <a:cs typeface="Constantia"/>
                <a:sym typeface="Constantia"/>
              </a:rPr>
              <a:t>It subtracts a byte from byte or a word from word.</a:t>
            </a:r>
            <a:endParaRPr sz="1400" b="0" i="0" u="none" strike="noStrike" cap="none" dirty="0">
              <a:solidFill>
                <a:schemeClr val="accent6"/>
              </a:solidFill>
              <a:sym typeface="Arial"/>
            </a:endParaRPr>
          </a:p>
          <a:p>
            <a:pPr marL="628650" marR="0" lvl="1" indent="-239712" algn="l" rtl="0">
              <a:lnSpc>
                <a:spcPct val="90000"/>
              </a:lnSpc>
              <a:spcBef>
                <a:spcPts val="1850"/>
              </a:spcBef>
              <a:spcAft>
                <a:spcPts val="0"/>
              </a:spcAft>
              <a:buClr>
                <a:srgbClr val="F3A447"/>
              </a:buClr>
              <a:buSzPts val="2600"/>
              <a:buFont typeface="Noto Sans Symbols"/>
              <a:buChar char="⚫"/>
            </a:pPr>
            <a:r>
              <a:rPr lang="en-US" sz="2600" b="0" i="0" u="none" strike="noStrike" cap="none" dirty="0">
                <a:solidFill>
                  <a:schemeClr val="accent6"/>
                </a:solidFill>
                <a:latin typeface="Constantia"/>
                <a:ea typeface="Constantia"/>
                <a:cs typeface="Constantia"/>
                <a:sym typeface="Constantia"/>
              </a:rPr>
              <a:t>It effects AF, CF, OF, PF, SF, ZF flags.</a:t>
            </a:r>
            <a:endParaRPr sz="1400" b="0" i="0" u="none" strike="noStrike" cap="none" dirty="0">
              <a:solidFill>
                <a:schemeClr val="accent6"/>
              </a:solidFill>
              <a:sym typeface="Arial"/>
            </a:endParaRPr>
          </a:p>
          <a:p>
            <a:pPr marL="628650" marR="0" lvl="1" indent="-239712" algn="l" rtl="0">
              <a:lnSpc>
                <a:spcPct val="90000"/>
              </a:lnSpc>
              <a:spcBef>
                <a:spcPts val="1850"/>
              </a:spcBef>
              <a:spcAft>
                <a:spcPts val="0"/>
              </a:spcAft>
              <a:buClr>
                <a:srgbClr val="F3A447"/>
              </a:buClr>
              <a:buSzPts val="2600"/>
              <a:buFont typeface="Noto Sans Symbols"/>
              <a:buChar char="⚫"/>
            </a:pPr>
            <a:r>
              <a:rPr lang="en-US" sz="2600" b="0" i="0" u="none" strike="noStrike" cap="none" dirty="0">
                <a:solidFill>
                  <a:schemeClr val="accent6"/>
                </a:solidFill>
                <a:latin typeface="Constantia"/>
                <a:ea typeface="Constantia"/>
                <a:cs typeface="Constantia"/>
                <a:sym typeface="Constantia"/>
              </a:rPr>
              <a:t>For subtraction, CF acts as borrow flag.</a:t>
            </a:r>
            <a:endParaRPr sz="1400" b="0" i="0" u="none" strike="noStrike" cap="none" dirty="0">
              <a:solidFill>
                <a:schemeClr val="accent6"/>
              </a:solidFill>
              <a:sym typeface="Arial"/>
            </a:endParaRPr>
          </a:p>
          <a:p>
            <a:pPr marL="628650" marR="0" lvl="1" indent="-239712" algn="l" rtl="0">
              <a:lnSpc>
                <a:spcPct val="90000"/>
              </a:lnSpc>
              <a:spcBef>
                <a:spcPts val="1850"/>
              </a:spcBef>
              <a:spcAft>
                <a:spcPts val="0"/>
              </a:spcAft>
              <a:buClr>
                <a:srgbClr val="F3A447"/>
              </a:buClr>
              <a:buSzPts val="2600"/>
              <a:buFont typeface="Noto Sans Symbols"/>
              <a:buChar char="⚫"/>
            </a:pPr>
            <a:r>
              <a:rPr lang="en-US" sz="2600" b="0" i="0" u="none" strike="noStrike" cap="none" dirty="0">
                <a:solidFill>
                  <a:schemeClr val="accent6"/>
                </a:solidFill>
                <a:latin typeface="Constantia"/>
                <a:ea typeface="Constantia"/>
                <a:cs typeface="Constantia"/>
                <a:sym typeface="Constantia"/>
              </a:rPr>
              <a:t>E.g.:</a:t>
            </a:r>
            <a:endParaRPr sz="1400" b="0" i="0" u="none" strike="noStrike" cap="none" dirty="0">
              <a:solidFill>
                <a:schemeClr val="accent6"/>
              </a:solidFill>
              <a:sym typeface="Arial"/>
            </a:endParaRPr>
          </a:p>
          <a:p>
            <a:pPr marL="903288" marR="0" lvl="2" indent="-236536" algn="l" rtl="0">
              <a:lnSpc>
                <a:spcPct val="90000"/>
              </a:lnSpc>
              <a:spcBef>
                <a:spcPts val="1750"/>
              </a:spcBef>
              <a:spcAft>
                <a:spcPts val="0"/>
              </a:spcAft>
              <a:buClr>
                <a:srgbClr val="F3A447"/>
              </a:buClr>
              <a:buSzPts val="2200"/>
              <a:buFont typeface="Noto Sans Symbols"/>
              <a:buChar char="⚫"/>
            </a:pPr>
            <a:r>
              <a:rPr lang="en-US" sz="2200" b="0" i="0" u="none" strike="noStrike" cap="none" dirty="0">
                <a:solidFill>
                  <a:schemeClr val="accent6"/>
                </a:solidFill>
                <a:latin typeface="Constantia"/>
                <a:ea typeface="Constantia"/>
                <a:cs typeface="Constantia"/>
                <a:sym typeface="Constantia"/>
              </a:rPr>
              <a:t>SUB AL, 74H</a:t>
            </a:r>
            <a:endParaRPr sz="1400" b="0" i="0" u="none" strike="noStrike" cap="none" dirty="0">
              <a:solidFill>
                <a:schemeClr val="accent6"/>
              </a:solidFill>
              <a:sym typeface="Arial"/>
            </a:endParaRPr>
          </a:p>
          <a:p>
            <a:pPr marL="903288" marR="0" lvl="2" indent="-236536" algn="l" rtl="0">
              <a:lnSpc>
                <a:spcPct val="90000"/>
              </a:lnSpc>
              <a:spcBef>
                <a:spcPts val="1750"/>
              </a:spcBef>
              <a:spcAft>
                <a:spcPts val="0"/>
              </a:spcAft>
              <a:buClr>
                <a:srgbClr val="F3A447"/>
              </a:buClr>
              <a:buSzPts val="2200"/>
              <a:buFont typeface="Noto Sans Symbols"/>
              <a:buChar char="⚫"/>
            </a:pPr>
            <a:r>
              <a:rPr lang="en-US" sz="2200" b="0" i="0" u="none" strike="noStrike" cap="none" dirty="0">
                <a:solidFill>
                  <a:schemeClr val="accent6"/>
                </a:solidFill>
                <a:latin typeface="Constantia"/>
                <a:ea typeface="Constantia"/>
                <a:cs typeface="Constantia"/>
                <a:sym typeface="Constantia"/>
              </a:rPr>
              <a:t>SUB DX, AX</a:t>
            </a:r>
            <a:endParaRPr sz="1400" b="0" i="0" u="none" strike="noStrike" cap="none" dirty="0">
              <a:solidFill>
                <a:schemeClr val="accent6"/>
              </a:solidFill>
              <a:sym typeface="Arial"/>
            </a:endParaRPr>
          </a:p>
          <a:p>
            <a:pPr marL="903288" marR="0" lvl="2" indent="-236536" algn="l" rtl="0">
              <a:lnSpc>
                <a:spcPct val="90000"/>
              </a:lnSpc>
              <a:spcBef>
                <a:spcPts val="1750"/>
              </a:spcBef>
              <a:spcAft>
                <a:spcPts val="0"/>
              </a:spcAft>
              <a:buClr>
                <a:srgbClr val="F3A447"/>
              </a:buClr>
              <a:buSzPts val="2200"/>
              <a:buFont typeface="Noto Sans Symbols"/>
              <a:buChar char="⚫"/>
            </a:pPr>
            <a:r>
              <a:rPr lang="en-US" sz="2200" b="0" i="0" u="none" strike="noStrike" cap="none" dirty="0">
                <a:solidFill>
                  <a:schemeClr val="accent6"/>
                </a:solidFill>
                <a:latin typeface="Constantia"/>
                <a:ea typeface="Constantia"/>
                <a:cs typeface="Constantia"/>
                <a:sym typeface="Constantia"/>
              </a:rPr>
              <a:t>SUB AX, [BX]</a:t>
            </a:r>
            <a:endParaRPr sz="1400" b="0" i="0" u="none" strike="noStrike" cap="none" dirty="0">
              <a:solidFill>
                <a:schemeClr val="accent6"/>
              </a:solidFill>
              <a:sym typeface="Arial"/>
            </a:endParaRPr>
          </a:p>
          <a:p>
            <a:pPr marL="263525" marR="0" lvl="0" indent="-261938" algn="l" rtl="0">
              <a:lnSpc>
                <a:spcPct val="90000"/>
              </a:lnSpc>
              <a:spcBef>
                <a:spcPts val="1750"/>
              </a:spcBef>
              <a:spcAft>
                <a:spcPts val="0"/>
              </a:spcAft>
              <a:buClr>
                <a:schemeClr val="lt1"/>
              </a:buClr>
              <a:buSzPts val="2200"/>
              <a:buFont typeface="Century Gothic"/>
              <a:buNone/>
            </a:pPr>
            <a:endParaRPr sz="2200" b="0" i="0" u="none" strike="noStrike" cap="none" dirty="0">
              <a:solidFill>
                <a:srgbClr val="000000"/>
              </a:solidFill>
              <a:latin typeface="Constantia"/>
              <a:ea typeface="Constantia"/>
              <a:cs typeface="Constantia"/>
              <a:sym typeface="Constantia"/>
            </a:endParaRPr>
          </a:p>
        </p:txBody>
      </p:sp>
      <p:sp>
        <p:nvSpPr>
          <p:cNvPr id="334" name="Google Shape;334;p21"/>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15</a:t>
            </a:fld>
            <a:endParaRPr sz="1200" b="0" i="0" u="none" strike="noStrike" cap="none">
              <a:solidFill>
                <a:srgbClr val="404924"/>
              </a:solidFill>
              <a:latin typeface="Constantia"/>
              <a:ea typeface="Constantia"/>
              <a:cs typeface="Constantia"/>
              <a:sym typeface="Constantia"/>
            </a:endParaRPr>
          </a:p>
        </p:txBody>
      </p:sp>
      <p:sp>
        <p:nvSpPr>
          <p:cNvPr id="2" name="Rectangle 1"/>
          <p:cNvSpPr/>
          <p:nvPr/>
        </p:nvSpPr>
        <p:spPr>
          <a:xfrm>
            <a:off x="5735781" y="988002"/>
            <a:ext cx="6096000" cy="4895186"/>
          </a:xfrm>
          <a:prstGeom prst="rect">
            <a:avLst/>
          </a:prstGeom>
        </p:spPr>
        <p:txBody>
          <a:bodyPr>
            <a:spAutoFit/>
          </a:bodyPr>
          <a:lstStyle/>
          <a:p>
            <a:pPr marL="261938" lvl="0" indent="-261938">
              <a:lnSpc>
                <a:spcPct val="90000"/>
              </a:lnSpc>
              <a:buClr>
                <a:srgbClr val="F3A447"/>
              </a:buClr>
              <a:buSzPts val="3200"/>
              <a:buFont typeface="Noto Sans Symbols"/>
              <a:buChar char="⚫"/>
            </a:pPr>
            <a:r>
              <a:rPr lang="en-US" sz="3200" b="1" dirty="0">
                <a:solidFill>
                  <a:schemeClr val="accent6"/>
                </a:solidFill>
                <a:latin typeface="Constantia"/>
                <a:ea typeface="Constantia"/>
                <a:cs typeface="Constantia"/>
                <a:sym typeface="Constantia"/>
              </a:rPr>
              <a:t>SBB Des, </a:t>
            </a:r>
            <a:r>
              <a:rPr lang="en-US" sz="3200" b="1" dirty="0" err="1">
                <a:solidFill>
                  <a:schemeClr val="accent6"/>
                </a:solidFill>
                <a:latin typeface="Constantia"/>
                <a:ea typeface="Constantia"/>
                <a:cs typeface="Constantia"/>
                <a:sym typeface="Constantia"/>
              </a:rPr>
              <a:t>Src</a:t>
            </a:r>
            <a:r>
              <a:rPr lang="en-US" sz="3200" b="1" dirty="0">
                <a:solidFill>
                  <a:schemeClr val="accent6"/>
                </a:solidFill>
                <a:latin typeface="Constantia"/>
                <a:ea typeface="Constantia"/>
                <a:cs typeface="Constantia"/>
                <a:sym typeface="Constantia"/>
              </a:rPr>
              <a:t>:</a:t>
            </a:r>
            <a:endParaRPr lang="en-US" dirty="0">
              <a:solidFill>
                <a:schemeClr val="accent6"/>
              </a:solidFill>
            </a:endParaRPr>
          </a:p>
          <a:p>
            <a:pPr marL="628650" lvl="1" indent="-239712">
              <a:lnSpc>
                <a:spcPct val="90000"/>
              </a:lnSpc>
              <a:spcBef>
                <a:spcPts val="1900"/>
              </a:spcBef>
              <a:buClr>
                <a:srgbClr val="F3A447"/>
              </a:buClr>
              <a:buSzPts val="2800"/>
              <a:buFont typeface="Noto Sans Symbols"/>
              <a:buChar char="⚫"/>
            </a:pPr>
            <a:r>
              <a:rPr lang="en-US" sz="2800" dirty="0">
                <a:solidFill>
                  <a:schemeClr val="accent6"/>
                </a:solidFill>
                <a:latin typeface="Constantia"/>
                <a:ea typeface="Constantia"/>
                <a:cs typeface="Constantia"/>
                <a:sym typeface="Constantia"/>
              </a:rPr>
              <a:t>It subtracts the two operands and also the borrow from the result.</a:t>
            </a:r>
            <a:endParaRPr lang="en-US" dirty="0">
              <a:solidFill>
                <a:schemeClr val="accent6"/>
              </a:solidFill>
            </a:endParaRPr>
          </a:p>
          <a:p>
            <a:pPr marL="628650" lvl="1" indent="-239712">
              <a:lnSpc>
                <a:spcPct val="90000"/>
              </a:lnSpc>
              <a:spcBef>
                <a:spcPts val="1900"/>
              </a:spcBef>
              <a:buClr>
                <a:srgbClr val="F3A447"/>
              </a:buClr>
              <a:buSzPts val="2800"/>
              <a:buFont typeface="Noto Sans Symbols"/>
              <a:buChar char="⚫"/>
            </a:pPr>
            <a:r>
              <a:rPr lang="en-US" sz="2800" dirty="0">
                <a:solidFill>
                  <a:schemeClr val="accent6"/>
                </a:solidFill>
                <a:latin typeface="Constantia"/>
                <a:ea typeface="Constantia"/>
                <a:cs typeface="Constantia"/>
                <a:sym typeface="Constantia"/>
              </a:rPr>
              <a:t>It effects AF, CF, OF, PF, SF, ZF flags.</a:t>
            </a:r>
            <a:endParaRPr lang="en-US" dirty="0">
              <a:solidFill>
                <a:schemeClr val="accent6"/>
              </a:solidFill>
            </a:endParaRPr>
          </a:p>
          <a:p>
            <a:pPr marL="628650" lvl="1" indent="-239712">
              <a:lnSpc>
                <a:spcPct val="90000"/>
              </a:lnSpc>
              <a:spcBef>
                <a:spcPts val="1900"/>
              </a:spcBef>
              <a:buClr>
                <a:srgbClr val="F3A447"/>
              </a:buClr>
              <a:buSzPts val="2800"/>
              <a:buFont typeface="Noto Sans Symbols"/>
              <a:buChar char="⚫"/>
            </a:pPr>
            <a:r>
              <a:rPr lang="en-US" sz="2800" dirty="0">
                <a:solidFill>
                  <a:schemeClr val="accent6"/>
                </a:solidFill>
                <a:latin typeface="Constantia"/>
                <a:ea typeface="Constantia"/>
                <a:cs typeface="Constantia"/>
                <a:sym typeface="Constantia"/>
              </a:rPr>
              <a:t>E.g.:</a:t>
            </a:r>
            <a:endParaRPr lang="en-US" dirty="0">
              <a:solidFill>
                <a:schemeClr val="accent6"/>
              </a:solidFill>
            </a:endParaRPr>
          </a:p>
          <a:p>
            <a:pPr marL="903288" lvl="2" indent="-236537">
              <a:lnSpc>
                <a:spcPct val="90000"/>
              </a:lnSpc>
              <a:spcBef>
                <a:spcPts val="1800"/>
              </a:spcBef>
              <a:buClr>
                <a:srgbClr val="F3A447"/>
              </a:buClr>
              <a:buSzPts val="2400"/>
              <a:buFont typeface="Noto Sans Symbols"/>
              <a:buChar char="⚫"/>
            </a:pPr>
            <a:r>
              <a:rPr lang="en-US" sz="2400" dirty="0">
                <a:solidFill>
                  <a:schemeClr val="accent6"/>
                </a:solidFill>
                <a:latin typeface="Constantia"/>
                <a:ea typeface="Constantia"/>
                <a:cs typeface="Constantia"/>
                <a:sym typeface="Constantia"/>
              </a:rPr>
              <a:t>SBB AL, 74H</a:t>
            </a:r>
            <a:endParaRPr lang="en-US" dirty="0">
              <a:solidFill>
                <a:schemeClr val="accent6"/>
              </a:solidFill>
            </a:endParaRPr>
          </a:p>
          <a:p>
            <a:pPr marL="903288" lvl="2" indent="-236537">
              <a:lnSpc>
                <a:spcPct val="90000"/>
              </a:lnSpc>
              <a:spcBef>
                <a:spcPts val="1800"/>
              </a:spcBef>
              <a:buClr>
                <a:srgbClr val="F3A447"/>
              </a:buClr>
              <a:buSzPts val="2400"/>
              <a:buFont typeface="Noto Sans Symbols"/>
              <a:buChar char="⚫"/>
            </a:pPr>
            <a:r>
              <a:rPr lang="en-US" sz="2400" dirty="0">
                <a:solidFill>
                  <a:schemeClr val="accent6"/>
                </a:solidFill>
                <a:latin typeface="Constantia"/>
                <a:ea typeface="Constantia"/>
                <a:cs typeface="Constantia"/>
                <a:sym typeface="Constantia"/>
              </a:rPr>
              <a:t>SBB DX, AX</a:t>
            </a:r>
            <a:endParaRPr lang="en-US" dirty="0">
              <a:solidFill>
                <a:schemeClr val="accent6"/>
              </a:solidFill>
            </a:endParaRPr>
          </a:p>
          <a:p>
            <a:pPr marL="903288" lvl="2" indent="-236537">
              <a:lnSpc>
                <a:spcPct val="90000"/>
              </a:lnSpc>
              <a:spcBef>
                <a:spcPts val="1800"/>
              </a:spcBef>
              <a:buClr>
                <a:srgbClr val="F3A447"/>
              </a:buClr>
              <a:buSzPts val="2400"/>
              <a:buFont typeface="Noto Sans Symbols"/>
              <a:buChar char="⚫"/>
            </a:pPr>
            <a:r>
              <a:rPr lang="en-US" sz="2400" dirty="0">
                <a:solidFill>
                  <a:schemeClr val="accent6"/>
                </a:solidFill>
                <a:latin typeface="Constantia"/>
                <a:ea typeface="Constantia"/>
                <a:cs typeface="Constantia"/>
                <a:sym typeface="Constantia"/>
              </a:rPr>
              <a:t>SBB AX, [BX]</a:t>
            </a:r>
            <a:endParaRPr lang="en-US" dirty="0">
              <a:solidFill>
                <a:schemeClr val="accent6"/>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3"/>
          <p:cNvSpPr txBox="1"/>
          <p:nvPr/>
        </p:nvSpPr>
        <p:spPr>
          <a:xfrm>
            <a:off x="476251" y="2857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2"/>
                </a:solidFill>
                <a:latin typeface="Calibri"/>
                <a:ea typeface="Calibri"/>
                <a:cs typeface="Calibri"/>
                <a:sym typeface="Calibri"/>
              </a:rPr>
              <a:t>Arithmetic Instructions</a:t>
            </a:r>
            <a:endParaRPr sz="1400" b="0" i="0" u="none" strike="noStrike" cap="none">
              <a:solidFill>
                <a:schemeClr val="accent2"/>
              </a:solidFill>
              <a:latin typeface="Arial"/>
              <a:ea typeface="Arial"/>
              <a:cs typeface="Arial"/>
              <a:sym typeface="Arial"/>
            </a:endParaRPr>
          </a:p>
        </p:txBody>
      </p:sp>
      <p:sp>
        <p:nvSpPr>
          <p:cNvPr id="354" name="Google Shape;354;p23"/>
          <p:cNvSpPr txBox="1"/>
          <p:nvPr/>
        </p:nvSpPr>
        <p:spPr>
          <a:xfrm>
            <a:off x="476251" y="1214438"/>
            <a:ext cx="11430000" cy="5357812"/>
          </a:xfrm>
          <a:prstGeom prst="rect">
            <a:avLst/>
          </a:prstGeom>
          <a:noFill/>
          <a:ln>
            <a:noFill/>
          </a:ln>
        </p:spPr>
        <p:txBody>
          <a:bodyPr spcFirstLastPara="1" wrap="square" lIns="90000" tIns="46800" rIns="90000" bIns="46800" anchor="t" anchorCtr="0">
            <a:noAutofit/>
          </a:bodyPr>
          <a:lstStyle/>
          <a:p>
            <a:pPr marL="261938" marR="0" lvl="0" indent="-261938" algn="l" rtl="0">
              <a:lnSpc>
                <a:spcPct val="80000"/>
              </a:lnSpc>
              <a:spcBef>
                <a:spcPts val="0"/>
              </a:spcBef>
              <a:spcAft>
                <a:spcPts val="0"/>
              </a:spcAft>
              <a:buClr>
                <a:srgbClr val="F3A447"/>
              </a:buClr>
              <a:buSzPts val="2300"/>
              <a:buFont typeface="Noto Sans Symbols"/>
              <a:buChar char="⚫"/>
            </a:pPr>
            <a:r>
              <a:rPr lang="en-US" sz="2300" b="1" i="0" u="none" strike="noStrike" cap="none" dirty="0">
                <a:solidFill>
                  <a:schemeClr val="accent6"/>
                </a:solidFill>
                <a:latin typeface="Constantia"/>
                <a:ea typeface="Constantia"/>
                <a:cs typeface="Constantia"/>
                <a:sym typeface="Constantia"/>
              </a:rPr>
              <a:t>MUL </a:t>
            </a:r>
            <a:r>
              <a:rPr lang="en-US" sz="2300" b="1" i="0" u="none" strike="noStrike" cap="none" dirty="0" err="1">
                <a:solidFill>
                  <a:schemeClr val="accent6"/>
                </a:solidFill>
                <a:latin typeface="Constantia"/>
                <a:ea typeface="Constantia"/>
                <a:cs typeface="Constantia"/>
                <a:sym typeface="Constantia"/>
              </a:rPr>
              <a:t>Src</a:t>
            </a:r>
            <a:r>
              <a:rPr lang="en-US" sz="2300" b="1" i="0" u="none" strike="noStrike" cap="none" dirty="0">
                <a:solidFill>
                  <a:schemeClr val="accent6"/>
                </a:solidFill>
                <a:latin typeface="Constantia"/>
                <a:ea typeface="Constantia"/>
                <a:cs typeface="Constantia"/>
                <a:sym typeface="Constantia"/>
              </a:rPr>
              <a:t>:</a:t>
            </a:r>
            <a:endParaRPr sz="1400" b="0" i="0" u="none" strike="noStrike" cap="none" dirty="0">
              <a:solidFill>
                <a:schemeClr val="accent6"/>
              </a:solidFill>
              <a:sym typeface="Arial"/>
            </a:endParaRPr>
          </a:p>
          <a:p>
            <a:pPr marL="628650" marR="0" lvl="1" indent="-239712" algn="l" rtl="0">
              <a:lnSpc>
                <a:spcPct val="80000"/>
              </a:lnSpc>
              <a:spcBef>
                <a:spcPts val="1750"/>
              </a:spcBef>
              <a:spcAft>
                <a:spcPts val="0"/>
              </a:spcAft>
              <a:buClr>
                <a:srgbClr val="F3A447"/>
              </a:buClr>
              <a:buSzPts val="2200"/>
              <a:buFont typeface="Noto Sans Symbols"/>
              <a:buChar char="⚫"/>
            </a:pPr>
            <a:r>
              <a:rPr lang="en-US" sz="2200" b="0" i="0" u="none" strike="noStrike" cap="none" dirty="0">
                <a:solidFill>
                  <a:schemeClr val="accent6"/>
                </a:solidFill>
                <a:latin typeface="Constantia"/>
                <a:ea typeface="Constantia"/>
                <a:cs typeface="Constantia"/>
                <a:sym typeface="Constantia"/>
              </a:rPr>
              <a:t>It is an unsigned multiplication instruction.</a:t>
            </a:r>
            <a:endParaRPr sz="1400" b="0" i="0" u="none" strike="noStrike" cap="none" dirty="0">
              <a:solidFill>
                <a:schemeClr val="accent6"/>
              </a:solidFill>
              <a:sym typeface="Arial"/>
            </a:endParaRPr>
          </a:p>
          <a:p>
            <a:pPr marL="628650" marR="0" lvl="1" indent="-239712" algn="l" rtl="0">
              <a:lnSpc>
                <a:spcPct val="80000"/>
              </a:lnSpc>
              <a:spcBef>
                <a:spcPts val="1750"/>
              </a:spcBef>
              <a:spcAft>
                <a:spcPts val="0"/>
              </a:spcAft>
              <a:buClr>
                <a:srgbClr val="F3A447"/>
              </a:buClr>
              <a:buSzPts val="2200"/>
              <a:buFont typeface="Noto Sans Symbols"/>
              <a:buChar char="⚫"/>
            </a:pPr>
            <a:r>
              <a:rPr lang="en-US" sz="2200" b="0" i="0" u="none" strike="noStrike" cap="none" dirty="0">
                <a:solidFill>
                  <a:schemeClr val="accent6"/>
                </a:solidFill>
                <a:latin typeface="Constantia"/>
                <a:ea typeface="Constantia"/>
                <a:cs typeface="Constantia"/>
                <a:sym typeface="Constantia"/>
              </a:rPr>
              <a:t>It multiplies two bytes to produce a word or two words to produce a double word.</a:t>
            </a:r>
            <a:endParaRPr sz="1400" b="0" i="0" u="none" strike="noStrike" cap="none" dirty="0">
              <a:solidFill>
                <a:schemeClr val="accent6"/>
              </a:solidFill>
              <a:sym typeface="Arial"/>
            </a:endParaRPr>
          </a:p>
          <a:p>
            <a:pPr marL="628650" marR="0" lvl="1" indent="-239712" algn="l" rtl="0">
              <a:lnSpc>
                <a:spcPct val="80000"/>
              </a:lnSpc>
              <a:spcBef>
                <a:spcPts val="1750"/>
              </a:spcBef>
              <a:spcAft>
                <a:spcPts val="0"/>
              </a:spcAft>
              <a:buClr>
                <a:srgbClr val="F3A447"/>
              </a:buClr>
              <a:buSzPts val="2200"/>
              <a:buFont typeface="Noto Sans Symbols"/>
              <a:buChar char="⚫"/>
            </a:pPr>
            <a:r>
              <a:rPr lang="en-US" sz="2200" b="0" i="0" u="none" strike="noStrike" cap="none" dirty="0">
                <a:solidFill>
                  <a:schemeClr val="accent6"/>
                </a:solidFill>
                <a:latin typeface="Constantia"/>
                <a:ea typeface="Constantia"/>
                <a:cs typeface="Constantia"/>
                <a:sym typeface="Constantia"/>
              </a:rPr>
              <a:t>AX = AL * </a:t>
            </a:r>
            <a:r>
              <a:rPr lang="en-US" sz="2200" b="0" i="0" u="none" strike="noStrike" cap="none" dirty="0" err="1">
                <a:solidFill>
                  <a:schemeClr val="accent6"/>
                </a:solidFill>
                <a:latin typeface="Constantia"/>
                <a:ea typeface="Constantia"/>
                <a:cs typeface="Constantia"/>
                <a:sym typeface="Constantia"/>
              </a:rPr>
              <a:t>Src</a:t>
            </a:r>
            <a:endParaRPr sz="1400" b="0" i="0" u="none" strike="noStrike" cap="none" dirty="0">
              <a:solidFill>
                <a:schemeClr val="accent6"/>
              </a:solidFill>
              <a:sym typeface="Arial"/>
            </a:endParaRPr>
          </a:p>
          <a:p>
            <a:pPr marL="628650" marR="0" lvl="1" indent="-239712" algn="l" rtl="0">
              <a:lnSpc>
                <a:spcPct val="80000"/>
              </a:lnSpc>
              <a:spcBef>
                <a:spcPts val="1750"/>
              </a:spcBef>
              <a:spcAft>
                <a:spcPts val="0"/>
              </a:spcAft>
              <a:buClr>
                <a:srgbClr val="F3A447"/>
              </a:buClr>
              <a:buSzPts val="2200"/>
              <a:buFont typeface="Noto Sans Symbols"/>
              <a:buChar char="⚫"/>
            </a:pPr>
            <a:r>
              <a:rPr lang="en-US" sz="2200" b="0" i="0" u="none" strike="noStrike" cap="none" dirty="0">
                <a:solidFill>
                  <a:schemeClr val="accent6"/>
                </a:solidFill>
                <a:latin typeface="Constantia"/>
                <a:ea typeface="Constantia"/>
                <a:cs typeface="Constantia"/>
                <a:sym typeface="Constantia"/>
              </a:rPr>
              <a:t>DX : AX = AX * </a:t>
            </a:r>
            <a:r>
              <a:rPr lang="en-US" sz="2200" b="0" i="0" u="none" strike="noStrike" cap="none" dirty="0" err="1">
                <a:solidFill>
                  <a:schemeClr val="accent6"/>
                </a:solidFill>
                <a:latin typeface="Constantia"/>
                <a:ea typeface="Constantia"/>
                <a:cs typeface="Constantia"/>
                <a:sym typeface="Constantia"/>
              </a:rPr>
              <a:t>Src</a:t>
            </a:r>
            <a:endParaRPr sz="1400" b="0" i="0" u="none" strike="noStrike" cap="none" dirty="0">
              <a:solidFill>
                <a:schemeClr val="accent6"/>
              </a:solidFill>
              <a:sym typeface="Arial"/>
            </a:endParaRPr>
          </a:p>
          <a:p>
            <a:pPr marL="628650" marR="0" lvl="1" indent="-239712" algn="l" rtl="0">
              <a:lnSpc>
                <a:spcPct val="80000"/>
              </a:lnSpc>
              <a:spcBef>
                <a:spcPts val="1750"/>
              </a:spcBef>
              <a:spcAft>
                <a:spcPts val="0"/>
              </a:spcAft>
              <a:buClr>
                <a:srgbClr val="F3A447"/>
              </a:buClr>
              <a:buSzPts val="2200"/>
              <a:buFont typeface="Noto Sans Symbols"/>
              <a:buChar char="⚫"/>
            </a:pPr>
            <a:r>
              <a:rPr lang="en-US" sz="2200" b="0" i="0" u="none" strike="noStrike" cap="none" dirty="0">
                <a:solidFill>
                  <a:schemeClr val="accent6"/>
                </a:solidFill>
                <a:latin typeface="Constantia"/>
                <a:ea typeface="Constantia"/>
                <a:cs typeface="Constantia"/>
                <a:sym typeface="Constantia"/>
              </a:rPr>
              <a:t>This instruction assumes one of the operand in AL or AX.</a:t>
            </a:r>
            <a:endParaRPr sz="1400" b="0" i="0" u="none" strike="noStrike" cap="none" dirty="0">
              <a:solidFill>
                <a:schemeClr val="accent6"/>
              </a:solidFill>
              <a:sym typeface="Arial"/>
            </a:endParaRPr>
          </a:p>
          <a:p>
            <a:pPr marL="628650" marR="0" lvl="1" indent="-239712" algn="l" rtl="0">
              <a:lnSpc>
                <a:spcPct val="80000"/>
              </a:lnSpc>
              <a:spcBef>
                <a:spcPts val="1750"/>
              </a:spcBef>
              <a:spcAft>
                <a:spcPts val="0"/>
              </a:spcAft>
              <a:buClr>
                <a:srgbClr val="F3A447"/>
              </a:buClr>
              <a:buSzPts val="2200"/>
              <a:buFont typeface="Noto Sans Symbols"/>
              <a:buChar char="⚫"/>
            </a:pPr>
            <a:r>
              <a:rPr lang="en-US" sz="2200" b="0" i="0" u="none" strike="noStrike" cap="none" dirty="0" err="1">
                <a:solidFill>
                  <a:schemeClr val="accent6"/>
                </a:solidFill>
                <a:latin typeface="Constantia"/>
                <a:ea typeface="Constantia"/>
                <a:cs typeface="Constantia"/>
                <a:sym typeface="Constantia"/>
              </a:rPr>
              <a:t>Src</a:t>
            </a:r>
            <a:r>
              <a:rPr lang="en-US" sz="2200" b="0" i="0" u="none" strike="noStrike" cap="none" dirty="0">
                <a:solidFill>
                  <a:schemeClr val="accent6"/>
                </a:solidFill>
                <a:latin typeface="Constantia"/>
                <a:ea typeface="Constantia"/>
                <a:cs typeface="Constantia"/>
                <a:sym typeface="Constantia"/>
              </a:rPr>
              <a:t> can be a register or memory location. And Flags-OF, CF</a:t>
            </a:r>
            <a:endParaRPr sz="1400" b="0" i="0" u="none" strike="noStrike" cap="none" dirty="0">
              <a:solidFill>
                <a:schemeClr val="accent6"/>
              </a:solidFill>
              <a:sym typeface="Arial"/>
            </a:endParaRPr>
          </a:p>
          <a:p>
            <a:pPr marL="628650" marR="0" lvl="1" indent="-239712" algn="l" rtl="0">
              <a:lnSpc>
                <a:spcPct val="80000"/>
              </a:lnSpc>
              <a:spcBef>
                <a:spcPts val="1750"/>
              </a:spcBef>
              <a:spcAft>
                <a:spcPts val="0"/>
              </a:spcAft>
              <a:buClr>
                <a:srgbClr val="F3A447"/>
              </a:buClr>
              <a:buSzPts val="2200"/>
              <a:buFont typeface="Noto Sans Symbols"/>
              <a:buChar char="⚫"/>
            </a:pPr>
            <a:r>
              <a:rPr lang="en-US" sz="2200" b="0" i="0" u="none" strike="noStrike" cap="none" dirty="0">
                <a:solidFill>
                  <a:schemeClr val="accent6"/>
                </a:solidFill>
                <a:latin typeface="Constantia"/>
                <a:ea typeface="Constantia"/>
                <a:cs typeface="Constantia"/>
                <a:sym typeface="Constantia"/>
              </a:rPr>
              <a:t>Unused bits of destination register is always filled with sign bit</a:t>
            </a:r>
            <a:endParaRPr sz="1400" b="0" i="0" u="none" strike="noStrike" cap="none" dirty="0">
              <a:solidFill>
                <a:schemeClr val="accent6"/>
              </a:solidFill>
              <a:sym typeface="Arial"/>
            </a:endParaRPr>
          </a:p>
          <a:p>
            <a:pPr marL="261938" marR="0" lvl="0" indent="-261938" algn="l" rtl="0">
              <a:lnSpc>
                <a:spcPct val="80000"/>
              </a:lnSpc>
              <a:spcBef>
                <a:spcPts val="1775"/>
              </a:spcBef>
              <a:spcAft>
                <a:spcPts val="0"/>
              </a:spcAft>
              <a:buClr>
                <a:srgbClr val="F3A447"/>
              </a:buClr>
              <a:buSzPts val="2300"/>
              <a:buFont typeface="Noto Sans Symbols"/>
              <a:buChar char="⚫"/>
            </a:pPr>
            <a:r>
              <a:rPr lang="en-US" sz="2300" b="1" i="0" u="none" strike="noStrike" cap="none" dirty="0">
                <a:solidFill>
                  <a:schemeClr val="accent6"/>
                </a:solidFill>
                <a:latin typeface="Constantia"/>
                <a:ea typeface="Constantia"/>
                <a:cs typeface="Constantia"/>
                <a:sym typeface="Constantia"/>
              </a:rPr>
              <a:t>IMUL </a:t>
            </a:r>
            <a:r>
              <a:rPr lang="en-US" sz="2300" b="1" i="0" u="none" strike="noStrike" cap="none" dirty="0" err="1">
                <a:solidFill>
                  <a:schemeClr val="accent6"/>
                </a:solidFill>
                <a:latin typeface="Constantia"/>
                <a:ea typeface="Constantia"/>
                <a:cs typeface="Constantia"/>
                <a:sym typeface="Constantia"/>
              </a:rPr>
              <a:t>Src</a:t>
            </a:r>
            <a:r>
              <a:rPr lang="en-US" sz="2300" b="1" i="0" u="none" strike="noStrike" cap="none" dirty="0">
                <a:solidFill>
                  <a:schemeClr val="accent6"/>
                </a:solidFill>
                <a:latin typeface="Constantia"/>
                <a:ea typeface="Constantia"/>
                <a:cs typeface="Constantia"/>
                <a:sym typeface="Constantia"/>
              </a:rPr>
              <a:t>:</a:t>
            </a:r>
            <a:endParaRPr sz="1400" b="0" i="0" u="none" strike="noStrike" cap="none" dirty="0">
              <a:solidFill>
                <a:schemeClr val="accent6"/>
              </a:solidFill>
              <a:sym typeface="Arial"/>
            </a:endParaRPr>
          </a:p>
          <a:p>
            <a:pPr marL="628650" marR="0" lvl="1" indent="-239712" algn="l" rtl="0">
              <a:lnSpc>
                <a:spcPct val="80000"/>
              </a:lnSpc>
              <a:spcBef>
                <a:spcPts val="1750"/>
              </a:spcBef>
              <a:spcAft>
                <a:spcPts val="0"/>
              </a:spcAft>
              <a:buClr>
                <a:srgbClr val="F3A447"/>
              </a:buClr>
              <a:buSzPts val="2200"/>
              <a:buFont typeface="Noto Sans Symbols"/>
              <a:buChar char="⚫"/>
            </a:pPr>
            <a:r>
              <a:rPr lang="en-US" sz="2200" b="0" i="0" u="none" strike="noStrike" cap="none" dirty="0">
                <a:solidFill>
                  <a:schemeClr val="accent6"/>
                </a:solidFill>
                <a:latin typeface="Constantia"/>
                <a:ea typeface="Constantia"/>
                <a:cs typeface="Constantia"/>
                <a:sym typeface="Constantia"/>
              </a:rPr>
              <a:t>It is a signed multiplication instruction.</a:t>
            </a:r>
            <a:endParaRPr sz="1400" b="0" i="0" u="none" strike="noStrike" cap="none" dirty="0">
              <a:solidFill>
                <a:schemeClr val="accent6"/>
              </a:solidFill>
              <a:sym typeface="Arial"/>
            </a:endParaRPr>
          </a:p>
        </p:txBody>
      </p:sp>
      <p:sp>
        <p:nvSpPr>
          <p:cNvPr id="356" name="Google Shape;356;p23"/>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16</a:t>
            </a:fld>
            <a:endParaRPr sz="1200" b="0" i="0" u="none" strike="noStrike" cap="none">
              <a:solidFill>
                <a:srgbClr val="404924"/>
              </a:solidFill>
              <a:latin typeface="Constantia"/>
              <a:ea typeface="Constantia"/>
              <a:cs typeface="Constantia"/>
              <a:sym typeface="Constantia"/>
            </a:endParaRPr>
          </a:p>
        </p:txBody>
      </p:sp>
      <p:sp>
        <p:nvSpPr>
          <p:cNvPr id="357" name="Google Shape;357;p23"/>
          <p:cNvSpPr txBox="1"/>
          <p:nvPr/>
        </p:nvSpPr>
        <p:spPr>
          <a:xfrm>
            <a:off x="3556000" y="6356351"/>
            <a:ext cx="4470400" cy="365125"/>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404924"/>
              </a:buClr>
              <a:buSzPts val="1200"/>
              <a:buFont typeface="Constantia"/>
              <a:buNone/>
            </a:pP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24"/>
          <p:cNvSpPr txBox="1"/>
          <p:nvPr/>
        </p:nvSpPr>
        <p:spPr>
          <a:xfrm>
            <a:off x="647700" y="2857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rgbClr val="C00000"/>
                </a:solidFill>
                <a:latin typeface="Calibri"/>
                <a:ea typeface="Calibri"/>
                <a:cs typeface="Calibri"/>
                <a:sym typeface="Calibri"/>
              </a:rPr>
              <a:t>Arithmetic Instructions</a:t>
            </a:r>
            <a:endParaRPr sz="1400" b="0" i="0" u="none" strike="noStrike" cap="none" dirty="0">
              <a:solidFill>
                <a:srgbClr val="C00000"/>
              </a:solidFill>
              <a:sym typeface="Arial"/>
            </a:endParaRPr>
          </a:p>
        </p:txBody>
      </p:sp>
      <p:sp>
        <p:nvSpPr>
          <p:cNvPr id="365" name="Google Shape;365;p24"/>
          <p:cNvSpPr txBox="1"/>
          <p:nvPr/>
        </p:nvSpPr>
        <p:spPr>
          <a:xfrm>
            <a:off x="666751" y="1143000"/>
            <a:ext cx="11049000" cy="5429250"/>
          </a:xfrm>
          <a:prstGeom prst="rect">
            <a:avLst/>
          </a:prstGeom>
          <a:noFill/>
          <a:ln>
            <a:noFill/>
          </a:ln>
        </p:spPr>
        <p:txBody>
          <a:bodyPr spcFirstLastPara="1" wrap="square" lIns="90000" tIns="46800" rIns="90000" bIns="46800" anchor="t" anchorCtr="0">
            <a:noAutofit/>
          </a:bodyPr>
          <a:lstStyle/>
          <a:p>
            <a:pPr marL="261938" marR="0" lvl="0" indent="-261938" algn="l" rtl="0">
              <a:lnSpc>
                <a:spcPct val="90000"/>
              </a:lnSpc>
              <a:spcBef>
                <a:spcPts val="0"/>
              </a:spcBef>
              <a:spcAft>
                <a:spcPts val="0"/>
              </a:spcAft>
              <a:buClr>
                <a:srgbClr val="F3A447"/>
              </a:buClr>
              <a:buSzPts val="3000"/>
              <a:buFont typeface="Noto Sans Symbols"/>
              <a:buChar char="⚫"/>
            </a:pPr>
            <a:r>
              <a:rPr lang="en-US" sz="3000" b="1" i="0" u="none" strike="noStrike" cap="none" dirty="0">
                <a:solidFill>
                  <a:schemeClr val="accent6"/>
                </a:solidFill>
                <a:latin typeface="Constantia"/>
                <a:ea typeface="Constantia"/>
                <a:cs typeface="Constantia"/>
                <a:sym typeface="Constantia"/>
              </a:rPr>
              <a:t>DIV </a:t>
            </a:r>
            <a:r>
              <a:rPr lang="en-US" sz="3000" b="1" i="0" u="none" strike="noStrike" cap="none" dirty="0" err="1">
                <a:solidFill>
                  <a:schemeClr val="accent6"/>
                </a:solidFill>
                <a:latin typeface="Constantia"/>
                <a:ea typeface="Constantia"/>
                <a:cs typeface="Constantia"/>
                <a:sym typeface="Constantia"/>
              </a:rPr>
              <a:t>Src</a:t>
            </a:r>
            <a:r>
              <a:rPr lang="en-US" sz="3000" b="1" i="0" u="none" strike="noStrike" cap="none" dirty="0">
                <a:solidFill>
                  <a:schemeClr val="accent6"/>
                </a:solidFill>
                <a:latin typeface="Constantia"/>
                <a:ea typeface="Constantia"/>
                <a:cs typeface="Constantia"/>
                <a:sym typeface="Constantia"/>
              </a:rPr>
              <a:t>:</a:t>
            </a:r>
            <a:endParaRPr sz="1400" b="0" i="0" u="none" strike="noStrike" cap="none" dirty="0">
              <a:solidFill>
                <a:schemeClr val="accent6"/>
              </a:solidFill>
              <a:sym typeface="Arial"/>
            </a:endParaRPr>
          </a:p>
          <a:p>
            <a:pPr marL="628650" marR="0" lvl="1" indent="-239712" algn="l" rtl="0">
              <a:lnSpc>
                <a:spcPct val="90000"/>
              </a:lnSpc>
              <a:spcBef>
                <a:spcPts val="1900"/>
              </a:spcBef>
              <a:spcAft>
                <a:spcPts val="0"/>
              </a:spcAft>
              <a:buClr>
                <a:srgbClr val="F3A447"/>
              </a:buClr>
              <a:buSzPts val="2800"/>
              <a:buFont typeface="Noto Sans Symbols"/>
              <a:buChar char="⚫"/>
            </a:pPr>
            <a:r>
              <a:rPr lang="en-US" sz="2800" b="0" i="0" u="none" strike="noStrike" cap="none" dirty="0">
                <a:solidFill>
                  <a:schemeClr val="accent6"/>
                </a:solidFill>
                <a:latin typeface="Constantia"/>
                <a:ea typeface="Constantia"/>
                <a:cs typeface="Constantia"/>
                <a:sym typeface="Constantia"/>
              </a:rPr>
              <a:t>It is an unsigned division instruction.</a:t>
            </a:r>
            <a:endParaRPr sz="1400" b="0" i="0" u="none" strike="noStrike" cap="none" dirty="0">
              <a:solidFill>
                <a:schemeClr val="accent6"/>
              </a:solidFill>
              <a:sym typeface="Arial"/>
            </a:endParaRPr>
          </a:p>
          <a:p>
            <a:pPr marL="628650" marR="0" lvl="1" indent="-239712" algn="l" rtl="0">
              <a:lnSpc>
                <a:spcPct val="90000"/>
              </a:lnSpc>
              <a:spcBef>
                <a:spcPts val="1900"/>
              </a:spcBef>
              <a:spcAft>
                <a:spcPts val="0"/>
              </a:spcAft>
              <a:buClr>
                <a:srgbClr val="F3A447"/>
              </a:buClr>
              <a:buSzPts val="2800"/>
              <a:buFont typeface="Noto Sans Symbols"/>
              <a:buChar char="⚫"/>
            </a:pPr>
            <a:r>
              <a:rPr lang="en-US" sz="2800" b="0" i="0" u="none" strike="noStrike" cap="none" dirty="0">
                <a:solidFill>
                  <a:schemeClr val="accent6"/>
                </a:solidFill>
                <a:latin typeface="Constantia"/>
                <a:ea typeface="Constantia"/>
                <a:cs typeface="Constantia"/>
                <a:sym typeface="Constantia"/>
              </a:rPr>
              <a:t>It divides word by byte or double word by word.</a:t>
            </a:r>
            <a:endParaRPr sz="1400" b="0" i="0" u="none" strike="noStrike" cap="none" dirty="0">
              <a:solidFill>
                <a:schemeClr val="accent6"/>
              </a:solidFill>
              <a:sym typeface="Arial"/>
            </a:endParaRPr>
          </a:p>
          <a:p>
            <a:pPr marL="628650" marR="0" lvl="1" indent="-239712" algn="l" rtl="0">
              <a:lnSpc>
                <a:spcPct val="90000"/>
              </a:lnSpc>
              <a:spcBef>
                <a:spcPts val="1900"/>
              </a:spcBef>
              <a:spcAft>
                <a:spcPts val="0"/>
              </a:spcAft>
              <a:buClr>
                <a:srgbClr val="F3A447"/>
              </a:buClr>
              <a:buSzPts val="2800"/>
              <a:buFont typeface="Noto Sans Symbols"/>
              <a:buChar char="⚫"/>
            </a:pPr>
            <a:r>
              <a:rPr lang="en-US" sz="2800" b="0" i="0" u="none" strike="noStrike" cap="none" dirty="0">
                <a:solidFill>
                  <a:schemeClr val="accent6"/>
                </a:solidFill>
                <a:latin typeface="Constantia"/>
                <a:ea typeface="Constantia"/>
                <a:cs typeface="Constantia"/>
                <a:sym typeface="Constantia"/>
              </a:rPr>
              <a:t>The operand is stored in AX, divisor is </a:t>
            </a:r>
            <a:r>
              <a:rPr lang="en-US" sz="2800" b="0" i="0" u="none" strike="noStrike" cap="none" dirty="0" err="1">
                <a:solidFill>
                  <a:schemeClr val="accent6"/>
                </a:solidFill>
                <a:latin typeface="Constantia"/>
                <a:ea typeface="Constantia"/>
                <a:cs typeface="Constantia"/>
                <a:sym typeface="Constantia"/>
              </a:rPr>
              <a:t>Src</a:t>
            </a:r>
            <a:r>
              <a:rPr lang="en-US" sz="2800" b="0" i="0" u="none" strike="noStrike" cap="none" dirty="0">
                <a:solidFill>
                  <a:schemeClr val="accent6"/>
                </a:solidFill>
                <a:latin typeface="Constantia"/>
                <a:ea typeface="Constantia"/>
                <a:cs typeface="Constantia"/>
                <a:sym typeface="Constantia"/>
              </a:rPr>
              <a:t> and the result is stored as:</a:t>
            </a:r>
            <a:endParaRPr sz="1400" b="0" i="0" u="none" strike="noStrike" cap="none" dirty="0">
              <a:solidFill>
                <a:schemeClr val="accent6"/>
              </a:solidFill>
              <a:sym typeface="Arial"/>
            </a:endParaRPr>
          </a:p>
          <a:p>
            <a:pPr marL="903288" marR="0" lvl="2" indent="-236537" algn="l" rtl="0">
              <a:lnSpc>
                <a:spcPct val="90000"/>
              </a:lnSpc>
              <a:spcBef>
                <a:spcPts val="1825"/>
              </a:spcBef>
              <a:spcAft>
                <a:spcPts val="0"/>
              </a:spcAft>
              <a:buClr>
                <a:srgbClr val="F3A447"/>
              </a:buClr>
              <a:buSzPts val="2500"/>
              <a:buFont typeface="Noto Sans Symbols"/>
              <a:buChar char="⚫"/>
            </a:pPr>
            <a:r>
              <a:rPr lang="en-US" sz="2500" b="0" i="0" u="none" strike="noStrike" cap="none" dirty="0">
                <a:solidFill>
                  <a:schemeClr val="accent6"/>
                </a:solidFill>
                <a:latin typeface="Constantia"/>
                <a:ea typeface="Constantia"/>
                <a:cs typeface="Constantia"/>
                <a:sym typeface="Constantia"/>
              </a:rPr>
              <a:t>AH = remainder, AL = quotient (for word/byte)</a:t>
            </a:r>
            <a:endParaRPr sz="1400" b="0" i="0" u="none" strike="noStrike" cap="none" dirty="0">
              <a:solidFill>
                <a:schemeClr val="accent6"/>
              </a:solidFill>
              <a:sym typeface="Arial"/>
            </a:endParaRPr>
          </a:p>
          <a:p>
            <a:pPr marL="903288" marR="0" lvl="2" indent="-236537" algn="l" rtl="0">
              <a:lnSpc>
                <a:spcPct val="90000"/>
              </a:lnSpc>
              <a:spcBef>
                <a:spcPts val="1825"/>
              </a:spcBef>
              <a:spcAft>
                <a:spcPts val="0"/>
              </a:spcAft>
              <a:buClr>
                <a:srgbClr val="F3A447"/>
              </a:buClr>
              <a:buSzPts val="2500"/>
              <a:buFont typeface="Noto Sans Symbols"/>
              <a:buChar char="⚫"/>
            </a:pPr>
            <a:r>
              <a:rPr lang="en-US" sz="2500" b="0" i="0" u="none" strike="noStrike" cap="none" dirty="0">
                <a:solidFill>
                  <a:schemeClr val="accent6"/>
                </a:solidFill>
                <a:latin typeface="Constantia"/>
                <a:ea typeface="Constantia"/>
                <a:cs typeface="Constantia"/>
                <a:sym typeface="Constantia"/>
              </a:rPr>
              <a:t>DX=remainder, AX=quotient (for D-word/word)</a:t>
            </a:r>
            <a:endParaRPr sz="1400" b="0" i="0" u="none" strike="noStrike" cap="none" dirty="0">
              <a:solidFill>
                <a:schemeClr val="accent6"/>
              </a:solidFill>
              <a:sym typeface="Arial"/>
            </a:endParaRPr>
          </a:p>
          <a:p>
            <a:pPr marL="261938" marR="0" lvl="0" indent="-261938" algn="l" rtl="0">
              <a:lnSpc>
                <a:spcPct val="90000"/>
              </a:lnSpc>
              <a:spcBef>
                <a:spcPts val="1950"/>
              </a:spcBef>
              <a:spcAft>
                <a:spcPts val="0"/>
              </a:spcAft>
              <a:buClr>
                <a:srgbClr val="F3A447"/>
              </a:buClr>
              <a:buSzPts val="3000"/>
              <a:buFont typeface="Noto Sans Symbols"/>
              <a:buChar char="⚫"/>
            </a:pPr>
            <a:r>
              <a:rPr lang="en-US" sz="3000" b="1" i="0" u="none" strike="noStrike" cap="none" dirty="0">
                <a:solidFill>
                  <a:schemeClr val="accent6"/>
                </a:solidFill>
                <a:latin typeface="Constantia"/>
                <a:ea typeface="Constantia"/>
                <a:cs typeface="Constantia"/>
                <a:sym typeface="Constantia"/>
              </a:rPr>
              <a:t>IDIV </a:t>
            </a:r>
            <a:r>
              <a:rPr lang="en-US" sz="3000" b="1" i="0" u="none" strike="noStrike" cap="none" dirty="0" err="1">
                <a:solidFill>
                  <a:schemeClr val="accent6"/>
                </a:solidFill>
                <a:latin typeface="Constantia"/>
                <a:ea typeface="Constantia"/>
                <a:cs typeface="Constantia"/>
                <a:sym typeface="Constantia"/>
              </a:rPr>
              <a:t>Src</a:t>
            </a:r>
            <a:r>
              <a:rPr lang="en-US" sz="3000" b="1" i="0" u="none" strike="noStrike" cap="none" dirty="0">
                <a:solidFill>
                  <a:schemeClr val="accent6"/>
                </a:solidFill>
                <a:latin typeface="Constantia"/>
                <a:ea typeface="Constantia"/>
                <a:cs typeface="Constantia"/>
                <a:sym typeface="Constantia"/>
              </a:rPr>
              <a:t>:</a:t>
            </a:r>
            <a:endParaRPr sz="1400" b="0" i="0" u="none" strike="noStrike" cap="none" dirty="0">
              <a:solidFill>
                <a:schemeClr val="accent6"/>
              </a:solidFill>
              <a:sym typeface="Arial"/>
            </a:endParaRPr>
          </a:p>
          <a:p>
            <a:pPr marL="628650" marR="0" lvl="1" indent="-239712" algn="l" rtl="0">
              <a:lnSpc>
                <a:spcPct val="90000"/>
              </a:lnSpc>
              <a:spcBef>
                <a:spcPts val="1900"/>
              </a:spcBef>
              <a:spcAft>
                <a:spcPts val="0"/>
              </a:spcAft>
              <a:buClr>
                <a:srgbClr val="F3A447"/>
              </a:buClr>
              <a:buSzPts val="2800"/>
              <a:buFont typeface="Noto Sans Symbols"/>
              <a:buChar char="⚫"/>
            </a:pPr>
            <a:r>
              <a:rPr lang="en-US" sz="2800" b="0" i="0" u="none" strike="noStrike" cap="none" dirty="0">
                <a:solidFill>
                  <a:schemeClr val="accent6"/>
                </a:solidFill>
                <a:latin typeface="Constantia"/>
                <a:ea typeface="Constantia"/>
                <a:cs typeface="Constantia"/>
                <a:sym typeface="Constantia"/>
              </a:rPr>
              <a:t>It is a signed division instruction.</a:t>
            </a:r>
            <a:endParaRPr sz="1400" b="0" i="0" u="none" strike="noStrike" cap="none" dirty="0">
              <a:solidFill>
                <a:schemeClr val="accent6"/>
              </a:solidFill>
              <a:sym typeface="Arial"/>
            </a:endParaRPr>
          </a:p>
        </p:txBody>
      </p:sp>
      <p:sp>
        <p:nvSpPr>
          <p:cNvPr id="367" name="Google Shape;367;p24"/>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17</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5"/>
          <p:cNvSpPr txBox="1"/>
          <p:nvPr/>
        </p:nvSpPr>
        <p:spPr>
          <a:xfrm>
            <a:off x="304800" y="0"/>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rgbClr val="C00000"/>
                </a:solidFill>
                <a:latin typeface="Calibri"/>
                <a:ea typeface="Calibri"/>
                <a:cs typeface="Calibri"/>
                <a:sym typeface="Calibri"/>
              </a:rPr>
              <a:t>Arithmetic Instructions</a:t>
            </a:r>
            <a:endParaRPr sz="1400" b="0" i="0" u="none" strike="noStrike" cap="none" dirty="0">
              <a:solidFill>
                <a:srgbClr val="C00000"/>
              </a:solidFill>
              <a:sym typeface="Arial"/>
            </a:endParaRPr>
          </a:p>
        </p:txBody>
      </p:sp>
      <p:sp>
        <p:nvSpPr>
          <p:cNvPr id="376" name="Google Shape;376;p25"/>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2800"/>
              <a:buFont typeface="Noto Sans Symbols"/>
              <a:buChar char="⚫"/>
            </a:pPr>
            <a:r>
              <a:rPr lang="en-US" sz="2800" b="1" i="0" u="none" strike="noStrike" cap="none" dirty="0">
                <a:solidFill>
                  <a:schemeClr val="accent6"/>
                </a:solidFill>
                <a:latin typeface="Constantia"/>
                <a:ea typeface="Constantia"/>
                <a:cs typeface="Constantia"/>
                <a:sym typeface="Constantia"/>
              </a:rPr>
              <a:t>CBW (Convert Byte to Word):</a:t>
            </a:r>
            <a:endParaRPr sz="1400" b="0" i="0" u="none" strike="noStrike" cap="none" dirty="0">
              <a:solidFill>
                <a:schemeClr val="accent6"/>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This instruction converts byte in AL to word in AX.</a:t>
            </a:r>
            <a:endParaRPr sz="1400" b="0" i="0" u="none" strike="noStrike" cap="none" dirty="0">
              <a:solidFill>
                <a:schemeClr val="accent6"/>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The conversion is done by extending the sign bit of AL throughout AH.</a:t>
            </a:r>
            <a:endParaRPr sz="1400" b="0" i="0" u="none" strike="noStrike" cap="none" dirty="0">
              <a:solidFill>
                <a:schemeClr val="accent6"/>
              </a:solidFill>
              <a:sym typeface="Arial"/>
            </a:endParaRPr>
          </a:p>
          <a:p>
            <a:pPr marL="261938" marR="0" lvl="0" indent="-261938" algn="l" rtl="0">
              <a:lnSpc>
                <a:spcPct val="100000"/>
              </a:lnSpc>
              <a:spcBef>
                <a:spcPts val="1850"/>
              </a:spcBef>
              <a:spcAft>
                <a:spcPts val="0"/>
              </a:spcAft>
              <a:buClr>
                <a:srgbClr val="F3A447"/>
              </a:buClr>
              <a:buSzPts val="2600"/>
              <a:buFont typeface="Noto Sans Symbols"/>
              <a:buChar char="⚫"/>
            </a:pPr>
            <a:r>
              <a:rPr lang="en-US" sz="2600" b="1" i="0" u="none" strike="noStrike" cap="none" dirty="0">
                <a:solidFill>
                  <a:schemeClr val="accent6"/>
                </a:solidFill>
                <a:latin typeface="Constantia"/>
                <a:ea typeface="Constantia"/>
                <a:cs typeface="Constantia"/>
                <a:sym typeface="Constantia"/>
              </a:rPr>
              <a:t>CWD (Convert Word to Double Word):</a:t>
            </a:r>
            <a:endParaRPr sz="1400" b="0" i="0" u="none" strike="noStrike" cap="none" dirty="0">
              <a:solidFill>
                <a:schemeClr val="accent6"/>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This instruction converts word in AX to double word in DX : AX.</a:t>
            </a:r>
            <a:endParaRPr sz="1400" b="0" i="0" u="none" strike="noStrike" cap="none" dirty="0">
              <a:solidFill>
                <a:schemeClr val="accent6"/>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The conversion is done by extending the sign bit of AX throughout DX.</a:t>
            </a:r>
            <a:endParaRPr sz="1400" b="0" i="0" u="none" strike="noStrike" cap="none" dirty="0">
              <a:solidFill>
                <a:schemeClr val="accent6"/>
              </a:solidFill>
              <a:sym typeface="Arial"/>
            </a:endParaRPr>
          </a:p>
        </p:txBody>
      </p:sp>
      <p:sp>
        <p:nvSpPr>
          <p:cNvPr id="378" name="Google Shape;378;p25"/>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18</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6"/>
          <p:cNvSpPr txBox="1"/>
          <p:nvPr/>
        </p:nvSpPr>
        <p:spPr>
          <a:xfrm>
            <a:off x="609600" y="0"/>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rgbClr val="C00000"/>
                </a:solidFill>
                <a:latin typeface="Calibri"/>
                <a:ea typeface="Calibri"/>
                <a:cs typeface="Calibri"/>
                <a:sym typeface="Calibri"/>
              </a:rPr>
              <a:t>Arithmetic Instructions</a:t>
            </a:r>
            <a:endParaRPr sz="1400" b="0" i="0" u="none" strike="noStrike" cap="none" dirty="0">
              <a:solidFill>
                <a:srgbClr val="C00000"/>
              </a:solidFill>
              <a:sym typeface="Arial"/>
            </a:endParaRPr>
          </a:p>
        </p:txBody>
      </p:sp>
      <p:sp>
        <p:nvSpPr>
          <p:cNvPr id="387" name="Google Shape;387;p26"/>
          <p:cNvSpPr txBox="1"/>
          <p:nvPr/>
        </p:nvSpPr>
        <p:spPr>
          <a:xfrm>
            <a:off x="259484" y="1033463"/>
            <a:ext cx="5393171" cy="485775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chemeClr val="accent3"/>
              </a:buClr>
              <a:buSzPts val="3200"/>
              <a:buFont typeface="Noto Sans Symbols"/>
              <a:buChar char="⚫"/>
            </a:pPr>
            <a:r>
              <a:rPr lang="en-US" sz="3200" b="1" i="0" u="none" strike="noStrike" cap="none" dirty="0">
                <a:solidFill>
                  <a:schemeClr val="accent6"/>
                </a:solidFill>
                <a:latin typeface="Constantia"/>
                <a:ea typeface="Constantia"/>
                <a:cs typeface="Constantia"/>
                <a:sym typeface="Constantia"/>
              </a:rPr>
              <a:t>INC </a:t>
            </a:r>
            <a:r>
              <a:rPr lang="en-US" sz="3200" b="1" i="0" u="none" strike="noStrike" cap="none" dirty="0" err="1">
                <a:solidFill>
                  <a:schemeClr val="accent6"/>
                </a:solidFill>
                <a:latin typeface="Constantia"/>
                <a:ea typeface="Constantia"/>
                <a:cs typeface="Constantia"/>
                <a:sym typeface="Constantia"/>
              </a:rPr>
              <a:t>Src</a:t>
            </a:r>
            <a:r>
              <a:rPr lang="en-US" sz="3200" b="1" i="0" u="none" strike="noStrike" cap="none" dirty="0">
                <a:solidFill>
                  <a:schemeClr val="accent6"/>
                </a:solidFill>
                <a:latin typeface="Constantia"/>
                <a:ea typeface="Constantia"/>
                <a:cs typeface="Constantia"/>
                <a:sym typeface="Constantia"/>
              </a:rPr>
              <a:t>:</a:t>
            </a:r>
            <a:endParaRPr sz="1400" b="0" i="0" u="none" strike="noStrike" cap="none" dirty="0">
              <a:solidFill>
                <a:schemeClr val="accent6"/>
              </a:solidFill>
              <a:sym typeface="Arial"/>
            </a:endParaRPr>
          </a:p>
          <a:p>
            <a:pPr marL="628650" marR="0" lvl="1" indent="-239712" algn="l" rtl="0">
              <a:lnSpc>
                <a:spcPct val="100000"/>
              </a:lnSpc>
              <a:spcBef>
                <a:spcPts val="1900"/>
              </a:spcBef>
              <a:spcAft>
                <a:spcPts val="0"/>
              </a:spcAft>
              <a:buClr>
                <a:schemeClr val="accent3"/>
              </a:buClr>
              <a:buSzPts val="2800"/>
              <a:buFont typeface="Noto Sans Symbols"/>
              <a:buChar char="⚫"/>
            </a:pPr>
            <a:r>
              <a:rPr lang="en-US" sz="2800" b="0" i="0" u="none" strike="noStrike" cap="none" dirty="0">
                <a:solidFill>
                  <a:schemeClr val="accent6"/>
                </a:solidFill>
                <a:latin typeface="Constantia"/>
                <a:ea typeface="Constantia"/>
                <a:cs typeface="Constantia"/>
                <a:sym typeface="Constantia"/>
              </a:rPr>
              <a:t>It increments the byte or word by one.</a:t>
            </a:r>
            <a:endParaRPr sz="1400" b="0" i="0" u="none" strike="noStrike" cap="none" dirty="0">
              <a:solidFill>
                <a:schemeClr val="accent6"/>
              </a:solidFill>
              <a:sym typeface="Arial"/>
            </a:endParaRPr>
          </a:p>
          <a:p>
            <a:pPr marL="628650" marR="0" lvl="1" indent="-239712" algn="l" rtl="0">
              <a:lnSpc>
                <a:spcPct val="100000"/>
              </a:lnSpc>
              <a:spcBef>
                <a:spcPts val="1900"/>
              </a:spcBef>
              <a:spcAft>
                <a:spcPts val="0"/>
              </a:spcAft>
              <a:buClr>
                <a:schemeClr val="accent3"/>
              </a:buClr>
              <a:buSzPts val="2800"/>
              <a:buFont typeface="Noto Sans Symbols"/>
              <a:buChar char="⚫"/>
            </a:pPr>
            <a:r>
              <a:rPr lang="en-US" sz="2800" b="0" i="0" u="none" strike="noStrike" cap="none" dirty="0">
                <a:solidFill>
                  <a:schemeClr val="accent6"/>
                </a:solidFill>
                <a:latin typeface="Constantia"/>
                <a:ea typeface="Constantia"/>
                <a:cs typeface="Constantia"/>
                <a:sym typeface="Constantia"/>
              </a:rPr>
              <a:t>The operand can be a register or memory location.</a:t>
            </a:r>
            <a:endParaRPr sz="1400" b="0" i="0" u="none" strike="noStrike" cap="none" dirty="0">
              <a:solidFill>
                <a:schemeClr val="accent6"/>
              </a:solidFill>
              <a:sym typeface="Arial"/>
            </a:endParaRPr>
          </a:p>
          <a:p>
            <a:pPr marL="628650" marR="0" lvl="1" indent="-239712" algn="l" rtl="0">
              <a:lnSpc>
                <a:spcPct val="100000"/>
              </a:lnSpc>
              <a:spcBef>
                <a:spcPts val="1900"/>
              </a:spcBef>
              <a:spcAft>
                <a:spcPts val="0"/>
              </a:spcAft>
              <a:buClr>
                <a:schemeClr val="accent3"/>
              </a:buClr>
              <a:buSzPts val="2800"/>
              <a:buFont typeface="Noto Sans Symbols"/>
              <a:buChar char="⚫"/>
            </a:pPr>
            <a:r>
              <a:rPr lang="en-US" sz="2800" b="0" i="0" u="none" strike="noStrike" cap="none" dirty="0">
                <a:solidFill>
                  <a:schemeClr val="accent6"/>
                </a:solidFill>
                <a:latin typeface="Constantia"/>
                <a:ea typeface="Constantia"/>
                <a:cs typeface="Constantia"/>
                <a:sym typeface="Constantia"/>
              </a:rPr>
              <a:t>E.g.: INC AX</a:t>
            </a:r>
            <a:endParaRPr sz="1400" b="0" i="0" u="none" strike="noStrike" cap="none" dirty="0">
              <a:solidFill>
                <a:schemeClr val="accent6"/>
              </a:solidFill>
              <a:sym typeface="Arial"/>
            </a:endParaRPr>
          </a:p>
          <a:p>
            <a:pPr marL="628650" marR="0" lvl="1" indent="-239712" algn="l" rtl="0">
              <a:lnSpc>
                <a:spcPct val="100000"/>
              </a:lnSpc>
              <a:spcBef>
                <a:spcPts val="1900"/>
              </a:spcBef>
              <a:spcAft>
                <a:spcPts val="0"/>
              </a:spcAft>
              <a:buClr>
                <a:schemeClr val="accent3"/>
              </a:buClr>
              <a:buSzPts val="2800"/>
              <a:buFont typeface="Noto Sans Symbols"/>
              <a:buChar char="⚫"/>
            </a:pPr>
            <a:r>
              <a:rPr lang="en-US" sz="2800" b="0" i="0" u="none" strike="noStrike" cap="none" dirty="0">
                <a:solidFill>
                  <a:schemeClr val="accent6"/>
                </a:solidFill>
                <a:latin typeface="Constantia"/>
                <a:ea typeface="Constantia"/>
                <a:cs typeface="Constantia"/>
                <a:sym typeface="Constantia"/>
              </a:rPr>
              <a:t>INC [SI]</a:t>
            </a:r>
            <a:endParaRPr sz="1400" b="0" i="0" u="none" strike="noStrike" cap="none" dirty="0">
              <a:solidFill>
                <a:schemeClr val="accent6"/>
              </a:solidFill>
              <a:sym typeface="Arial"/>
            </a:endParaRPr>
          </a:p>
          <a:p>
            <a:pPr marL="630238" marR="0" lvl="1" indent="-238123" algn="l" rtl="0">
              <a:lnSpc>
                <a:spcPct val="100000"/>
              </a:lnSpc>
              <a:spcBef>
                <a:spcPts val="1900"/>
              </a:spcBef>
              <a:spcAft>
                <a:spcPts val="0"/>
              </a:spcAft>
              <a:buClr>
                <a:schemeClr val="lt1"/>
              </a:buClr>
              <a:buSzPts val="2800"/>
              <a:buFont typeface="Century Gothic"/>
              <a:buNone/>
            </a:pPr>
            <a:endParaRPr sz="2800" b="0" i="0" u="none" strike="noStrike" cap="none" dirty="0">
              <a:solidFill>
                <a:srgbClr val="000000"/>
              </a:solidFill>
              <a:latin typeface="Constantia"/>
              <a:ea typeface="Constantia"/>
              <a:cs typeface="Constantia"/>
              <a:sym typeface="Constantia"/>
            </a:endParaRPr>
          </a:p>
        </p:txBody>
      </p:sp>
      <p:sp>
        <p:nvSpPr>
          <p:cNvPr id="389" name="Google Shape;389;p26"/>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19</a:t>
            </a:fld>
            <a:endParaRPr sz="1200" b="0" i="0" u="none" strike="noStrike" cap="none">
              <a:solidFill>
                <a:srgbClr val="404924"/>
              </a:solidFill>
              <a:latin typeface="Constantia"/>
              <a:ea typeface="Constantia"/>
              <a:cs typeface="Constantia"/>
              <a:sym typeface="Constantia"/>
            </a:endParaRPr>
          </a:p>
        </p:txBody>
      </p:sp>
      <p:sp>
        <p:nvSpPr>
          <p:cNvPr id="2" name="Rectangle 1"/>
          <p:cNvSpPr/>
          <p:nvPr/>
        </p:nvSpPr>
        <p:spPr>
          <a:xfrm>
            <a:off x="6442364" y="902277"/>
            <a:ext cx="5347854" cy="4144724"/>
          </a:xfrm>
          <a:prstGeom prst="rect">
            <a:avLst/>
          </a:prstGeom>
        </p:spPr>
        <p:txBody>
          <a:bodyPr wrap="square">
            <a:spAutoFit/>
          </a:bodyPr>
          <a:lstStyle/>
          <a:p>
            <a:pPr marL="261938" lvl="0" indent="-261938">
              <a:buClr>
                <a:schemeClr val="accent3"/>
              </a:buClr>
              <a:buSzPts val="3200"/>
              <a:buFont typeface="Noto Sans Symbols"/>
              <a:buChar char="⚫"/>
            </a:pPr>
            <a:r>
              <a:rPr lang="en-US" sz="3200" b="1" dirty="0">
                <a:solidFill>
                  <a:schemeClr val="accent6"/>
                </a:solidFill>
                <a:latin typeface="Constantia"/>
                <a:ea typeface="Constantia"/>
                <a:cs typeface="Constantia"/>
                <a:sym typeface="Constantia"/>
              </a:rPr>
              <a:t>DEC </a:t>
            </a:r>
            <a:r>
              <a:rPr lang="en-US" sz="3200" b="1" dirty="0" err="1">
                <a:solidFill>
                  <a:schemeClr val="accent6"/>
                </a:solidFill>
                <a:latin typeface="Constantia"/>
                <a:ea typeface="Constantia"/>
                <a:cs typeface="Constantia"/>
                <a:sym typeface="Constantia"/>
              </a:rPr>
              <a:t>Src</a:t>
            </a:r>
            <a:r>
              <a:rPr lang="en-US" sz="3200" b="1" dirty="0">
                <a:solidFill>
                  <a:schemeClr val="accent6"/>
                </a:solidFill>
                <a:latin typeface="Constantia"/>
                <a:ea typeface="Constantia"/>
                <a:cs typeface="Constantia"/>
                <a:sym typeface="Constantia"/>
              </a:rPr>
              <a:t>:</a:t>
            </a:r>
            <a:endParaRPr lang="en-US" dirty="0">
              <a:solidFill>
                <a:schemeClr val="accent6"/>
              </a:solidFill>
            </a:endParaRPr>
          </a:p>
          <a:p>
            <a:pPr marL="628650" lvl="1" indent="-239712">
              <a:spcBef>
                <a:spcPts val="1900"/>
              </a:spcBef>
              <a:buClr>
                <a:schemeClr val="accent3"/>
              </a:buClr>
              <a:buSzPts val="2800"/>
              <a:buFont typeface="Noto Sans Symbols"/>
              <a:buChar char="⚫"/>
            </a:pPr>
            <a:r>
              <a:rPr lang="en-US" sz="2800" dirty="0">
                <a:solidFill>
                  <a:schemeClr val="accent6"/>
                </a:solidFill>
                <a:latin typeface="Constantia"/>
                <a:ea typeface="Constantia"/>
                <a:cs typeface="Constantia"/>
                <a:sym typeface="Constantia"/>
              </a:rPr>
              <a:t>It decrements the byte or word by one.</a:t>
            </a:r>
            <a:endParaRPr lang="en-US" dirty="0">
              <a:solidFill>
                <a:schemeClr val="accent6"/>
              </a:solidFill>
            </a:endParaRPr>
          </a:p>
          <a:p>
            <a:pPr marL="628650" lvl="1" indent="-239712">
              <a:spcBef>
                <a:spcPts val="1900"/>
              </a:spcBef>
              <a:buClr>
                <a:schemeClr val="accent3"/>
              </a:buClr>
              <a:buSzPts val="2800"/>
              <a:buFont typeface="Noto Sans Symbols"/>
              <a:buChar char="⚫"/>
            </a:pPr>
            <a:r>
              <a:rPr lang="en-US" sz="2800" dirty="0">
                <a:solidFill>
                  <a:schemeClr val="accent6"/>
                </a:solidFill>
                <a:latin typeface="Constantia"/>
                <a:ea typeface="Constantia"/>
                <a:cs typeface="Constantia"/>
                <a:sym typeface="Constantia"/>
              </a:rPr>
              <a:t>The operand can be a register or memory location.</a:t>
            </a:r>
            <a:endParaRPr lang="en-US" dirty="0">
              <a:solidFill>
                <a:schemeClr val="accent6"/>
              </a:solidFill>
            </a:endParaRPr>
          </a:p>
          <a:p>
            <a:pPr marL="628650" lvl="1" indent="-239712">
              <a:spcBef>
                <a:spcPts val="1900"/>
              </a:spcBef>
              <a:buClr>
                <a:schemeClr val="accent3"/>
              </a:buClr>
              <a:buSzPts val="2800"/>
              <a:buFont typeface="Noto Sans Symbols"/>
              <a:buChar char="⚫"/>
            </a:pPr>
            <a:r>
              <a:rPr lang="en-US" sz="2800" dirty="0">
                <a:solidFill>
                  <a:schemeClr val="accent6"/>
                </a:solidFill>
                <a:latin typeface="Constantia"/>
                <a:ea typeface="Constantia"/>
                <a:cs typeface="Constantia"/>
                <a:sym typeface="Constantia"/>
              </a:rPr>
              <a:t>E.g.: DEC AX</a:t>
            </a:r>
            <a:endParaRPr lang="en-US" dirty="0">
              <a:solidFill>
                <a:schemeClr val="accent6"/>
              </a:solidFill>
            </a:endParaRPr>
          </a:p>
          <a:p>
            <a:pPr marL="263525" lvl="0" indent="-261938">
              <a:spcBef>
                <a:spcPts val="1900"/>
              </a:spcBef>
              <a:buSzPts val="2800"/>
            </a:pPr>
            <a:r>
              <a:rPr lang="en-US" sz="2800" dirty="0">
                <a:solidFill>
                  <a:schemeClr val="accent6"/>
                </a:solidFill>
                <a:latin typeface="Constantia"/>
                <a:ea typeface="Constantia"/>
                <a:cs typeface="Constantia"/>
                <a:sym typeface="Constantia"/>
              </a:rPr>
              <a:t>     DEC [SI]</a:t>
            </a:r>
            <a:endParaRPr lang="en-US" dirty="0">
              <a:solidFill>
                <a:schemeClr val="accent6"/>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28"/>
          <p:cNvSpPr txBox="1"/>
          <p:nvPr/>
        </p:nvSpPr>
        <p:spPr>
          <a:xfrm>
            <a:off x="748145" y="0"/>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rgbClr val="C00000"/>
                </a:solidFill>
                <a:latin typeface="Calibri"/>
                <a:ea typeface="Calibri"/>
                <a:cs typeface="Calibri"/>
                <a:sym typeface="Calibri"/>
              </a:rPr>
              <a:t>Arithmetic Instructions</a:t>
            </a:r>
            <a:endParaRPr sz="1400" b="0" i="0" u="none" strike="noStrike" cap="none" dirty="0">
              <a:solidFill>
                <a:srgbClr val="C00000"/>
              </a:solidFill>
              <a:sym typeface="Arial"/>
            </a:endParaRPr>
          </a:p>
        </p:txBody>
      </p:sp>
      <p:sp>
        <p:nvSpPr>
          <p:cNvPr id="409" name="Google Shape;409;p28"/>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80000"/>
              </a:lnSpc>
              <a:spcBef>
                <a:spcPts val="0"/>
              </a:spcBef>
              <a:spcAft>
                <a:spcPts val="0"/>
              </a:spcAft>
              <a:buClr>
                <a:schemeClr val="accent3"/>
              </a:buClr>
              <a:buSzPts val="2500"/>
              <a:buFont typeface="Noto Sans Symbols"/>
              <a:buChar char="⚫"/>
            </a:pPr>
            <a:r>
              <a:rPr lang="en-US" sz="2500" b="1" i="0" u="none" strike="noStrike" cap="none" dirty="0">
                <a:solidFill>
                  <a:schemeClr val="accent6"/>
                </a:solidFill>
                <a:latin typeface="Constantia"/>
                <a:ea typeface="Constantia"/>
                <a:cs typeface="Constantia"/>
                <a:sym typeface="Constantia"/>
              </a:rPr>
              <a:t>CMP Des, </a:t>
            </a:r>
            <a:r>
              <a:rPr lang="en-US" sz="2500" b="1" i="0" u="none" strike="noStrike" cap="none" dirty="0" err="1">
                <a:solidFill>
                  <a:schemeClr val="accent6"/>
                </a:solidFill>
                <a:latin typeface="Constantia"/>
                <a:ea typeface="Constantia"/>
                <a:cs typeface="Constantia"/>
                <a:sym typeface="Constantia"/>
              </a:rPr>
              <a:t>Src</a:t>
            </a:r>
            <a:r>
              <a:rPr lang="en-US" sz="2500" b="1" i="0" u="none" strike="noStrike" cap="none" dirty="0">
                <a:solidFill>
                  <a:schemeClr val="accent6"/>
                </a:solidFill>
                <a:latin typeface="Constantia"/>
                <a:ea typeface="Constantia"/>
                <a:cs typeface="Constantia"/>
                <a:sym typeface="Constantia"/>
              </a:rPr>
              <a:t>:</a:t>
            </a:r>
            <a:endParaRPr sz="1400" b="0" i="0" u="none" strike="noStrike" cap="none" dirty="0">
              <a:solidFill>
                <a:schemeClr val="accent6"/>
              </a:solidFill>
              <a:sym typeface="Arial"/>
            </a:endParaRPr>
          </a:p>
          <a:p>
            <a:pPr marL="628650" marR="0" lvl="1" indent="-239712" algn="l" rtl="0">
              <a:lnSpc>
                <a:spcPct val="80000"/>
              </a:lnSpc>
              <a:spcBef>
                <a:spcPts val="1775"/>
              </a:spcBef>
              <a:spcAft>
                <a:spcPts val="0"/>
              </a:spcAft>
              <a:buClr>
                <a:schemeClr val="accent3"/>
              </a:buClr>
              <a:buSzPts val="2300"/>
              <a:buFont typeface="Noto Sans Symbols"/>
              <a:buChar char="⚫"/>
            </a:pPr>
            <a:r>
              <a:rPr lang="en-US" sz="2300" b="0" i="0" u="none" strike="noStrike" cap="none" dirty="0">
                <a:solidFill>
                  <a:schemeClr val="accent6"/>
                </a:solidFill>
                <a:latin typeface="Constantia"/>
                <a:ea typeface="Constantia"/>
                <a:cs typeface="Constantia"/>
                <a:sym typeface="Constantia"/>
              </a:rPr>
              <a:t>It compares two specified bytes or words.</a:t>
            </a:r>
            <a:endParaRPr sz="1400" b="0" i="0" u="none" strike="noStrike" cap="none" dirty="0">
              <a:solidFill>
                <a:schemeClr val="accent6"/>
              </a:solidFill>
              <a:sym typeface="Arial"/>
            </a:endParaRPr>
          </a:p>
          <a:p>
            <a:pPr marL="628650" marR="0" lvl="1" indent="-239712" algn="l" rtl="0">
              <a:lnSpc>
                <a:spcPct val="80000"/>
              </a:lnSpc>
              <a:spcBef>
                <a:spcPts val="1775"/>
              </a:spcBef>
              <a:spcAft>
                <a:spcPts val="0"/>
              </a:spcAft>
              <a:buClr>
                <a:schemeClr val="accent3"/>
              </a:buClr>
              <a:buSzPts val="2300"/>
              <a:buFont typeface="Noto Sans Symbols"/>
              <a:buChar char="⚫"/>
            </a:pPr>
            <a:r>
              <a:rPr lang="en-US" sz="2300" b="0" i="0" u="none" strike="noStrike" cap="none" dirty="0">
                <a:solidFill>
                  <a:schemeClr val="accent6"/>
                </a:solidFill>
                <a:latin typeface="Constantia"/>
                <a:ea typeface="Constantia"/>
                <a:cs typeface="Constantia"/>
                <a:sym typeface="Constantia"/>
              </a:rPr>
              <a:t>The </a:t>
            </a:r>
            <a:r>
              <a:rPr lang="en-US" sz="2300" b="0" i="0" u="none" strike="noStrike" cap="none" dirty="0" err="1">
                <a:solidFill>
                  <a:schemeClr val="accent6"/>
                </a:solidFill>
                <a:latin typeface="Constantia"/>
                <a:ea typeface="Constantia"/>
                <a:cs typeface="Constantia"/>
                <a:sym typeface="Constantia"/>
              </a:rPr>
              <a:t>Src</a:t>
            </a:r>
            <a:r>
              <a:rPr lang="en-US" sz="2300" b="0" i="0" u="none" strike="noStrike" cap="none" dirty="0">
                <a:solidFill>
                  <a:schemeClr val="accent6"/>
                </a:solidFill>
                <a:latin typeface="Constantia"/>
                <a:ea typeface="Constantia"/>
                <a:cs typeface="Constantia"/>
                <a:sym typeface="Constantia"/>
              </a:rPr>
              <a:t> and Des can be a constant, register or memory location.</a:t>
            </a:r>
            <a:endParaRPr sz="1400" b="0" i="0" u="none" strike="noStrike" cap="none" dirty="0">
              <a:solidFill>
                <a:schemeClr val="accent6"/>
              </a:solidFill>
              <a:sym typeface="Arial"/>
            </a:endParaRPr>
          </a:p>
          <a:p>
            <a:pPr marL="628650" marR="0" lvl="1" indent="-239712" algn="l" rtl="0">
              <a:lnSpc>
                <a:spcPct val="80000"/>
              </a:lnSpc>
              <a:spcBef>
                <a:spcPts val="1775"/>
              </a:spcBef>
              <a:spcAft>
                <a:spcPts val="0"/>
              </a:spcAft>
              <a:buClr>
                <a:schemeClr val="accent3"/>
              </a:buClr>
              <a:buSzPts val="2300"/>
              <a:buFont typeface="Noto Sans Symbols"/>
              <a:buChar char="⚫"/>
            </a:pPr>
            <a:r>
              <a:rPr lang="en-US" sz="2300" b="0" i="0" u="none" strike="noStrike" cap="none" dirty="0">
                <a:solidFill>
                  <a:schemeClr val="accent6"/>
                </a:solidFill>
                <a:latin typeface="Constantia"/>
                <a:ea typeface="Constantia"/>
                <a:cs typeface="Constantia"/>
                <a:sym typeface="Constantia"/>
              </a:rPr>
              <a:t>Both operands cannot be a memory location at the same time.</a:t>
            </a:r>
            <a:endParaRPr sz="1400" b="0" i="0" u="none" strike="noStrike" cap="none" dirty="0">
              <a:solidFill>
                <a:schemeClr val="accent6"/>
              </a:solidFill>
              <a:sym typeface="Arial"/>
            </a:endParaRPr>
          </a:p>
          <a:p>
            <a:pPr marL="628650" marR="0" lvl="1" indent="-239712" algn="l" rtl="0">
              <a:lnSpc>
                <a:spcPct val="80000"/>
              </a:lnSpc>
              <a:spcBef>
                <a:spcPts val="1775"/>
              </a:spcBef>
              <a:spcAft>
                <a:spcPts val="0"/>
              </a:spcAft>
              <a:buClr>
                <a:schemeClr val="accent3"/>
              </a:buClr>
              <a:buSzPts val="2300"/>
              <a:buFont typeface="Noto Sans Symbols"/>
              <a:buChar char="⚫"/>
            </a:pPr>
            <a:r>
              <a:rPr lang="en-US" sz="2300" b="0" i="0" u="none" strike="noStrike" cap="none" dirty="0">
                <a:solidFill>
                  <a:schemeClr val="accent6"/>
                </a:solidFill>
                <a:latin typeface="Constantia"/>
                <a:ea typeface="Constantia"/>
                <a:cs typeface="Constantia"/>
                <a:sym typeface="Constantia"/>
              </a:rPr>
              <a:t>The comparison is done simply by internally subtracting the source from destination.</a:t>
            </a:r>
            <a:endParaRPr sz="1400" b="0" i="0" u="none" strike="noStrike" cap="none" dirty="0">
              <a:solidFill>
                <a:schemeClr val="accent6"/>
              </a:solidFill>
              <a:sym typeface="Arial"/>
            </a:endParaRPr>
          </a:p>
          <a:p>
            <a:pPr marL="628650" marR="0" lvl="1" indent="-239712" algn="l" rtl="0">
              <a:lnSpc>
                <a:spcPct val="80000"/>
              </a:lnSpc>
              <a:spcBef>
                <a:spcPts val="1775"/>
              </a:spcBef>
              <a:spcAft>
                <a:spcPts val="0"/>
              </a:spcAft>
              <a:buClr>
                <a:schemeClr val="accent3"/>
              </a:buClr>
              <a:buSzPts val="2300"/>
              <a:buFont typeface="Noto Sans Symbols"/>
              <a:buChar char="⚫"/>
            </a:pPr>
            <a:r>
              <a:rPr lang="en-US" sz="2300" b="0" i="0" u="none" strike="noStrike" cap="none" dirty="0">
                <a:solidFill>
                  <a:schemeClr val="accent6"/>
                </a:solidFill>
                <a:latin typeface="Constantia"/>
                <a:ea typeface="Constantia"/>
                <a:cs typeface="Constantia"/>
                <a:sym typeface="Constantia"/>
              </a:rPr>
              <a:t>The value of source and destination does not change, but the flags CF, ZF, SF are modified to indicate the result.</a:t>
            </a:r>
            <a:endParaRPr sz="1400" b="0" i="0" u="none" strike="noStrike" cap="none" dirty="0">
              <a:solidFill>
                <a:schemeClr val="accent6"/>
              </a:solidFill>
              <a:sym typeface="Arial"/>
            </a:endParaRPr>
          </a:p>
        </p:txBody>
      </p:sp>
      <p:sp>
        <p:nvSpPr>
          <p:cNvPr id="411" name="Google Shape;411;p28"/>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20</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30"/>
          <p:cNvSpPr txBox="1"/>
          <p:nvPr/>
        </p:nvSpPr>
        <p:spPr>
          <a:xfrm>
            <a:off x="609600" y="-112567"/>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rgbClr val="C00000"/>
                </a:solidFill>
                <a:latin typeface="Calibri"/>
                <a:ea typeface="Calibri"/>
                <a:cs typeface="Calibri"/>
                <a:sym typeface="Calibri"/>
              </a:rPr>
              <a:t>Arithmetic Instructions</a:t>
            </a:r>
            <a:endParaRPr sz="1400" b="0" i="0" u="none" strike="noStrike" cap="none" dirty="0">
              <a:solidFill>
                <a:srgbClr val="C00000"/>
              </a:solidFill>
              <a:sym typeface="Arial"/>
            </a:endParaRPr>
          </a:p>
        </p:txBody>
      </p:sp>
      <p:sp>
        <p:nvSpPr>
          <p:cNvPr id="431" name="Google Shape;431;p30"/>
          <p:cNvSpPr txBox="1"/>
          <p:nvPr/>
        </p:nvSpPr>
        <p:spPr>
          <a:xfrm>
            <a:off x="443345" y="1021773"/>
            <a:ext cx="4849091"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2800"/>
              <a:buFont typeface="Noto Sans Symbols"/>
              <a:buChar char="⚫"/>
            </a:pPr>
            <a:r>
              <a:rPr lang="en-US" sz="2800" b="1" i="0" u="none" strike="noStrike" cap="none" dirty="0">
                <a:solidFill>
                  <a:schemeClr val="accent6"/>
                </a:solidFill>
                <a:latin typeface="Constantia"/>
                <a:ea typeface="Constantia"/>
                <a:cs typeface="Constantia"/>
                <a:sym typeface="Constantia"/>
              </a:rPr>
              <a:t>DAA (Decimal Adjust after Addition)</a:t>
            </a:r>
            <a:endParaRPr sz="1400" b="0" i="0" u="none" strike="noStrike" cap="none" dirty="0">
              <a:solidFill>
                <a:schemeClr val="accent6"/>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It is used to make sure that the result of adding two BCD numbers is adjusted to be a correct BCD number.</a:t>
            </a:r>
            <a:endParaRPr sz="1400" b="0" i="0" u="none" strike="noStrike" cap="none" dirty="0">
              <a:solidFill>
                <a:schemeClr val="accent6"/>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It only works on AL register.</a:t>
            </a:r>
            <a:endParaRPr sz="1400" b="0" i="0" u="none" strike="noStrike" cap="none" dirty="0">
              <a:solidFill>
                <a:schemeClr val="accent6"/>
              </a:solidFill>
              <a:sym typeface="Arial"/>
            </a:endParaRPr>
          </a:p>
          <a:p>
            <a:pPr marL="261938" marR="0" lvl="0" indent="-261938" algn="l" rtl="0">
              <a:lnSpc>
                <a:spcPct val="100000"/>
              </a:lnSpc>
              <a:spcBef>
                <a:spcPts val="1850"/>
              </a:spcBef>
              <a:spcAft>
                <a:spcPts val="0"/>
              </a:spcAft>
              <a:buClr>
                <a:srgbClr val="F3A447"/>
              </a:buClr>
              <a:buSzPts val="2600"/>
              <a:buFont typeface="Noto Sans Symbols"/>
              <a:buChar char="⚫"/>
            </a:pPr>
            <a:r>
              <a:rPr lang="en-US" sz="2600" b="1" i="0" u="none" strike="noStrike" cap="none" dirty="0">
                <a:solidFill>
                  <a:schemeClr val="accent6"/>
                </a:solidFill>
                <a:latin typeface="Constantia"/>
                <a:ea typeface="Constantia"/>
                <a:cs typeface="Constantia"/>
                <a:sym typeface="Constantia"/>
              </a:rPr>
              <a:t>For Subtraction : DAS (Decimal Adjust after Subtraction)</a:t>
            </a:r>
            <a:endParaRPr sz="1400" b="0" i="0" u="none" strike="noStrike" cap="none" dirty="0">
              <a:solidFill>
                <a:schemeClr val="accent6"/>
              </a:solidFill>
              <a:sym typeface="Arial"/>
            </a:endParaRPr>
          </a:p>
        </p:txBody>
      </p:sp>
      <p:sp>
        <p:nvSpPr>
          <p:cNvPr id="433" name="Google Shape;433;p30"/>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21</a:t>
            </a:fld>
            <a:endParaRPr sz="1200" b="0" i="0" u="none" strike="noStrike" cap="none">
              <a:solidFill>
                <a:srgbClr val="404924"/>
              </a:solidFill>
              <a:latin typeface="Constantia"/>
              <a:ea typeface="Constantia"/>
              <a:cs typeface="Constantia"/>
              <a:sym typeface="Constantia"/>
            </a:endParaRPr>
          </a:p>
        </p:txBody>
      </p:sp>
      <p:sp>
        <p:nvSpPr>
          <p:cNvPr id="2" name="Rectangle 1"/>
          <p:cNvSpPr/>
          <p:nvPr/>
        </p:nvSpPr>
        <p:spPr>
          <a:xfrm>
            <a:off x="5486400" y="919375"/>
            <a:ext cx="6096000" cy="5802101"/>
          </a:xfrm>
          <a:prstGeom prst="rect">
            <a:avLst/>
          </a:prstGeom>
        </p:spPr>
        <p:txBody>
          <a:bodyPr>
            <a:spAutoFit/>
          </a:bodyPr>
          <a:lstStyle/>
          <a:p>
            <a:pPr marL="261938" lvl="0" indent="-261938">
              <a:lnSpc>
                <a:spcPct val="80000"/>
              </a:lnSpc>
              <a:buClr>
                <a:srgbClr val="F3A447"/>
              </a:buClr>
              <a:buSzPts val="2600"/>
              <a:buFont typeface="Noto Sans Symbols"/>
              <a:buChar char="⚫"/>
            </a:pPr>
            <a:r>
              <a:rPr lang="en-US" sz="2600" b="1" dirty="0">
                <a:solidFill>
                  <a:schemeClr val="accent6"/>
                </a:solidFill>
                <a:latin typeface="Constantia"/>
                <a:ea typeface="Constantia"/>
                <a:cs typeface="Constantia"/>
                <a:sym typeface="Constantia"/>
              </a:rPr>
              <a:t>AAA (ASCII Adjust after Addition):</a:t>
            </a:r>
            <a:endParaRPr lang="en-US" dirty="0">
              <a:solidFill>
                <a:schemeClr val="accent6"/>
              </a:solidFill>
            </a:endParaRPr>
          </a:p>
          <a:p>
            <a:pPr marL="628650" lvl="1" indent="-239712">
              <a:lnSpc>
                <a:spcPct val="80000"/>
              </a:lnSpc>
              <a:spcBef>
                <a:spcPts val="1750"/>
              </a:spcBef>
              <a:buClr>
                <a:srgbClr val="F3A447"/>
              </a:buClr>
              <a:buSzPts val="2200"/>
              <a:buFont typeface="Noto Sans Symbols"/>
              <a:buChar char="⚫"/>
            </a:pPr>
            <a:r>
              <a:rPr lang="en-US" sz="2200" dirty="0">
                <a:solidFill>
                  <a:schemeClr val="accent6"/>
                </a:solidFill>
                <a:latin typeface="Constantia"/>
                <a:ea typeface="Constantia"/>
                <a:cs typeface="Constantia"/>
                <a:sym typeface="Constantia"/>
              </a:rPr>
              <a:t>This Instruction Can be used to convert the contents of the AL register to unpacked BCD result</a:t>
            </a:r>
            <a:endParaRPr lang="en-US" dirty="0">
              <a:solidFill>
                <a:schemeClr val="accent6"/>
              </a:solidFill>
            </a:endParaRPr>
          </a:p>
          <a:p>
            <a:pPr marL="628650" lvl="1" indent="-239712">
              <a:lnSpc>
                <a:spcPct val="80000"/>
              </a:lnSpc>
              <a:spcBef>
                <a:spcPts val="1750"/>
              </a:spcBef>
              <a:buClr>
                <a:srgbClr val="F3A447"/>
              </a:buClr>
              <a:buSzPts val="2200"/>
              <a:buFont typeface="Noto Sans Symbols"/>
              <a:buChar char="⚫"/>
            </a:pPr>
            <a:r>
              <a:rPr lang="en-US" sz="2200" dirty="0">
                <a:solidFill>
                  <a:schemeClr val="accent6"/>
                </a:solidFill>
                <a:latin typeface="Constantia"/>
                <a:ea typeface="Constantia"/>
                <a:cs typeface="Constantia"/>
                <a:sym typeface="Constantia"/>
              </a:rPr>
              <a:t>i.e. If lower nibble of AL&gt;9  then</a:t>
            </a:r>
            <a:endParaRPr lang="en-US" dirty="0">
              <a:solidFill>
                <a:schemeClr val="accent6"/>
              </a:solidFill>
            </a:endParaRPr>
          </a:p>
          <a:p>
            <a:pPr marL="630238" lvl="1" indent="-238123">
              <a:lnSpc>
                <a:spcPct val="80000"/>
              </a:lnSpc>
              <a:spcBef>
                <a:spcPts val="1750"/>
              </a:spcBef>
              <a:buSzPts val="2200"/>
            </a:pPr>
            <a:r>
              <a:rPr lang="en-US" sz="2200" dirty="0">
                <a:solidFill>
                  <a:schemeClr val="accent6"/>
                </a:solidFill>
                <a:latin typeface="Constantia"/>
                <a:ea typeface="Constantia"/>
                <a:cs typeface="Constantia"/>
                <a:sym typeface="Constantia"/>
              </a:rPr>
              <a:t>1. AL=AL+6      2. AH=AH+1</a:t>
            </a:r>
            <a:endParaRPr lang="en-US" dirty="0">
              <a:solidFill>
                <a:schemeClr val="accent6"/>
              </a:solidFill>
            </a:endParaRPr>
          </a:p>
          <a:p>
            <a:pPr marL="630238" lvl="1" indent="-238123">
              <a:lnSpc>
                <a:spcPct val="80000"/>
              </a:lnSpc>
              <a:spcBef>
                <a:spcPts val="1750"/>
              </a:spcBef>
              <a:buSzPts val="2200"/>
            </a:pPr>
            <a:r>
              <a:rPr lang="en-US" sz="2200" dirty="0">
                <a:solidFill>
                  <a:schemeClr val="accent6"/>
                </a:solidFill>
                <a:latin typeface="Constantia"/>
                <a:ea typeface="Constantia"/>
                <a:cs typeface="Constantia"/>
                <a:sym typeface="Constantia"/>
              </a:rPr>
              <a:t>3. AL=AL AND 0FH</a:t>
            </a:r>
            <a:endParaRPr lang="en-US" dirty="0">
              <a:solidFill>
                <a:schemeClr val="accent6"/>
              </a:solidFill>
            </a:endParaRPr>
          </a:p>
          <a:p>
            <a:pPr marL="628650" lvl="1" indent="-239712">
              <a:lnSpc>
                <a:spcPct val="80000"/>
              </a:lnSpc>
              <a:spcBef>
                <a:spcPts val="1750"/>
              </a:spcBef>
              <a:buClr>
                <a:srgbClr val="F3A447"/>
              </a:buClr>
              <a:buSzPts val="2200"/>
              <a:buFont typeface="Noto Sans Symbols"/>
              <a:buChar char="⚫"/>
            </a:pPr>
            <a:r>
              <a:rPr lang="en-US" sz="2200" dirty="0">
                <a:solidFill>
                  <a:schemeClr val="accent6"/>
                </a:solidFill>
                <a:latin typeface="Constantia"/>
                <a:ea typeface="Constantia"/>
                <a:cs typeface="Constantia"/>
                <a:sym typeface="Constantia"/>
              </a:rPr>
              <a:t>This instruction does not have any operand.</a:t>
            </a:r>
            <a:endParaRPr lang="en-US" dirty="0">
              <a:solidFill>
                <a:schemeClr val="accent6"/>
              </a:solidFill>
            </a:endParaRPr>
          </a:p>
          <a:p>
            <a:pPr marL="261938" lvl="0" indent="-261938">
              <a:lnSpc>
                <a:spcPct val="80000"/>
              </a:lnSpc>
              <a:spcBef>
                <a:spcPts val="1850"/>
              </a:spcBef>
              <a:buClr>
                <a:srgbClr val="F3A447"/>
              </a:buClr>
              <a:buSzPts val="2600"/>
              <a:buFont typeface="Noto Sans Symbols"/>
              <a:buChar char="⚫"/>
            </a:pPr>
            <a:r>
              <a:rPr lang="en-US" sz="2600" b="1" dirty="0">
                <a:solidFill>
                  <a:schemeClr val="accent6"/>
                </a:solidFill>
                <a:latin typeface="Constantia"/>
                <a:ea typeface="Constantia"/>
                <a:cs typeface="Constantia"/>
                <a:sym typeface="Constantia"/>
              </a:rPr>
              <a:t>Other ASCII Instructions:</a:t>
            </a:r>
            <a:endParaRPr lang="en-US" dirty="0">
              <a:solidFill>
                <a:schemeClr val="accent6"/>
              </a:solidFill>
            </a:endParaRPr>
          </a:p>
          <a:p>
            <a:pPr marL="628650" lvl="1" indent="-239712">
              <a:lnSpc>
                <a:spcPct val="80000"/>
              </a:lnSpc>
              <a:spcBef>
                <a:spcPts val="1750"/>
              </a:spcBef>
              <a:buClr>
                <a:srgbClr val="F3A447"/>
              </a:buClr>
              <a:buSzPts val="2200"/>
              <a:buFont typeface="Noto Sans Symbols"/>
              <a:buChar char="⚫"/>
            </a:pPr>
            <a:r>
              <a:rPr lang="en-US" sz="2200" b="1" dirty="0">
                <a:solidFill>
                  <a:schemeClr val="accent6"/>
                </a:solidFill>
                <a:latin typeface="Constantia"/>
                <a:ea typeface="Constantia"/>
                <a:cs typeface="Constantia"/>
                <a:sym typeface="Constantia"/>
              </a:rPr>
              <a:t>AAS</a:t>
            </a:r>
            <a:r>
              <a:rPr lang="en-US" sz="2200" dirty="0">
                <a:solidFill>
                  <a:schemeClr val="accent6"/>
                </a:solidFill>
                <a:latin typeface="Constantia"/>
                <a:ea typeface="Constantia"/>
                <a:cs typeface="Constantia"/>
                <a:sym typeface="Constantia"/>
              </a:rPr>
              <a:t> (ASCII Adjust after Subtraction)</a:t>
            </a:r>
            <a:endParaRPr lang="en-US" dirty="0">
              <a:solidFill>
                <a:schemeClr val="accent6"/>
              </a:solidFill>
            </a:endParaRPr>
          </a:p>
          <a:p>
            <a:pPr marL="628650" lvl="1" indent="-239712">
              <a:lnSpc>
                <a:spcPct val="80000"/>
              </a:lnSpc>
              <a:spcBef>
                <a:spcPts val="1750"/>
              </a:spcBef>
              <a:buClr>
                <a:srgbClr val="F3A447"/>
              </a:buClr>
              <a:buSzPts val="2200"/>
              <a:buFont typeface="Noto Sans Symbols"/>
              <a:buChar char="⚫"/>
            </a:pPr>
            <a:r>
              <a:rPr lang="en-US" sz="2200" b="1" dirty="0">
                <a:solidFill>
                  <a:schemeClr val="accent6"/>
                </a:solidFill>
                <a:latin typeface="Constantia"/>
                <a:ea typeface="Constantia"/>
                <a:cs typeface="Constantia"/>
                <a:sym typeface="Constantia"/>
              </a:rPr>
              <a:t>AAM</a:t>
            </a:r>
            <a:r>
              <a:rPr lang="en-US" sz="2200" dirty="0">
                <a:solidFill>
                  <a:schemeClr val="accent6"/>
                </a:solidFill>
                <a:latin typeface="Constantia"/>
                <a:ea typeface="Constantia"/>
                <a:cs typeface="Constantia"/>
                <a:sym typeface="Constantia"/>
              </a:rPr>
              <a:t> (ASCII Adjust after Multiplication)</a:t>
            </a:r>
            <a:endParaRPr lang="en-US" dirty="0">
              <a:solidFill>
                <a:schemeClr val="accent6"/>
              </a:solidFill>
            </a:endParaRPr>
          </a:p>
          <a:p>
            <a:pPr marL="628650" lvl="1" indent="-239712">
              <a:lnSpc>
                <a:spcPct val="80000"/>
              </a:lnSpc>
              <a:spcBef>
                <a:spcPts val="1750"/>
              </a:spcBef>
              <a:buClr>
                <a:srgbClr val="F3A447"/>
              </a:buClr>
              <a:buSzPts val="2200"/>
              <a:buFont typeface="Noto Sans Symbols"/>
              <a:buChar char="⚫"/>
            </a:pPr>
            <a:r>
              <a:rPr lang="en-US" sz="2200" b="1" dirty="0">
                <a:solidFill>
                  <a:schemeClr val="accent6"/>
                </a:solidFill>
                <a:latin typeface="Constantia"/>
                <a:ea typeface="Constantia"/>
                <a:cs typeface="Constantia"/>
                <a:sym typeface="Constantia"/>
              </a:rPr>
              <a:t>AAD</a:t>
            </a:r>
            <a:r>
              <a:rPr lang="en-US" sz="2200" dirty="0">
                <a:solidFill>
                  <a:schemeClr val="accent6"/>
                </a:solidFill>
                <a:latin typeface="Constantia"/>
                <a:ea typeface="Constantia"/>
                <a:cs typeface="Constantia"/>
                <a:sym typeface="Constantia"/>
              </a:rPr>
              <a:t> (ASCII Adjust Before Division)</a:t>
            </a:r>
            <a:endParaRPr lang="en-IN" dirty="0">
              <a:solidFill>
                <a:schemeClr val="accent6"/>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16032"/>
            <a:ext cx="6331527" cy="4286250"/>
          </a:xfrm>
          <a:prstGeom prst="rect">
            <a:avLst/>
          </a:prstGeom>
        </p:spPr>
      </p:pic>
      <p:pic>
        <p:nvPicPr>
          <p:cNvPr id="4" name="Picture 3"/>
          <p:cNvPicPr>
            <a:picLocks noChangeAspect="1"/>
          </p:cNvPicPr>
          <p:nvPr/>
        </p:nvPicPr>
        <p:blipFill>
          <a:blip r:embed="rId3"/>
          <a:stretch>
            <a:fillRect/>
          </a:stretch>
        </p:blipFill>
        <p:spPr>
          <a:xfrm>
            <a:off x="142009" y="4069773"/>
            <a:ext cx="6047508" cy="2899064"/>
          </a:xfrm>
          <a:prstGeom prst="rect">
            <a:avLst/>
          </a:prstGeom>
        </p:spPr>
      </p:pic>
      <p:pic>
        <p:nvPicPr>
          <p:cNvPr id="5" name="Picture 4"/>
          <p:cNvPicPr>
            <a:picLocks noChangeAspect="1"/>
          </p:cNvPicPr>
          <p:nvPr/>
        </p:nvPicPr>
        <p:blipFill>
          <a:blip r:embed="rId4"/>
          <a:stretch>
            <a:fillRect/>
          </a:stretch>
        </p:blipFill>
        <p:spPr>
          <a:xfrm>
            <a:off x="6331526" y="0"/>
            <a:ext cx="5652656" cy="5084618"/>
          </a:xfrm>
          <a:prstGeom prst="rect">
            <a:avLst/>
          </a:prstGeom>
        </p:spPr>
      </p:pic>
      <p:pic>
        <p:nvPicPr>
          <p:cNvPr id="6" name="Picture 5"/>
          <p:cNvPicPr>
            <a:picLocks noChangeAspect="1"/>
          </p:cNvPicPr>
          <p:nvPr/>
        </p:nvPicPr>
        <p:blipFill>
          <a:blip r:embed="rId5"/>
          <a:stretch>
            <a:fillRect/>
          </a:stretch>
        </p:blipFill>
        <p:spPr>
          <a:xfrm>
            <a:off x="6250780" y="5020541"/>
            <a:ext cx="5814147" cy="1130877"/>
          </a:xfrm>
          <a:prstGeom prst="rect">
            <a:avLst/>
          </a:prstGeom>
        </p:spPr>
      </p:pic>
      <p:sp>
        <p:nvSpPr>
          <p:cNvPr id="7" name="Rectangle 6"/>
          <p:cNvSpPr/>
          <p:nvPr/>
        </p:nvSpPr>
        <p:spPr>
          <a:xfrm>
            <a:off x="6567055" y="6212032"/>
            <a:ext cx="6096000" cy="523220"/>
          </a:xfrm>
          <a:prstGeom prst="rect">
            <a:avLst/>
          </a:prstGeom>
        </p:spPr>
        <p:txBody>
          <a:bodyPr>
            <a:spAutoFit/>
          </a:bodyPr>
          <a:lstStyle/>
          <a:p>
            <a:r>
              <a:rPr lang="en-US" dirty="0">
                <a:solidFill>
                  <a:srgbClr val="273239"/>
                </a:solidFill>
                <a:latin typeface="Nunito" panose="020B0604020202020204" charset="0"/>
              </a:rPr>
              <a:t>Here D stands for destination and S stands for source.</a:t>
            </a:r>
            <a:r>
              <a:rPr lang="en-US" dirty="0"/>
              <a:t/>
            </a:r>
            <a:br>
              <a:rPr lang="en-US" dirty="0"/>
            </a:br>
            <a:r>
              <a:rPr lang="en-US" dirty="0">
                <a:solidFill>
                  <a:srgbClr val="273239"/>
                </a:solidFill>
                <a:latin typeface="Nunito" panose="020B0604020202020204" charset="0"/>
              </a:rPr>
              <a:t>D and S can either be register, data or memory address.</a:t>
            </a:r>
            <a:endParaRPr lang="en-IN" dirty="0"/>
          </a:p>
        </p:txBody>
      </p:sp>
    </p:spTree>
    <p:extLst>
      <p:ext uri="{BB962C8B-B14F-4D97-AF65-F5344CB8AC3E}">
        <p14:creationId xmlns:p14="http://schemas.microsoft.com/office/powerpoint/2010/main" val="14428523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2"/>
          <p:cNvSpPr txBox="1"/>
          <p:nvPr/>
        </p:nvSpPr>
        <p:spPr>
          <a:xfrm>
            <a:off x="448189" y="1439257"/>
            <a:ext cx="5084618"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F9900"/>
              </a:buClr>
              <a:buSzPts val="2600"/>
              <a:buFont typeface="Noto Sans Symbols"/>
              <a:buChar char="⚫"/>
            </a:pPr>
            <a:r>
              <a:rPr lang="en-US" sz="2600" b="1" i="0" u="none" strike="noStrike" cap="none" dirty="0">
                <a:solidFill>
                  <a:schemeClr val="accent6"/>
                </a:solidFill>
                <a:latin typeface="Constantia"/>
                <a:ea typeface="Constantia"/>
                <a:cs typeface="Constantia"/>
                <a:sym typeface="Constantia"/>
              </a:rPr>
              <a:t>NOT </a:t>
            </a:r>
            <a:r>
              <a:rPr lang="en-US" sz="2600" b="1" i="0" u="none" strike="noStrike" cap="none" dirty="0" err="1">
                <a:solidFill>
                  <a:schemeClr val="accent6"/>
                </a:solidFill>
                <a:latin typeface="Constantia"/>
                <a:ea typeface="Constantia"/>
                <a:cs typeface="Constantia"/>
                <a:sym typeface="Constantia"/>
              </a:rPr>
              <a:t>Src</a:t>
            </a:r>
            <a:r>
              <a:rPr lang="en-US" sz="2600" b="1" i="0" u="none" strike="noStrike" cap="none" dirty="0">
                <a:solidFill>
                  <a:schemeClr val="accent6"/>
                </a:solidFill>
                <a:latin typeface="Constantia"/>
                <a:ea typeface="Constantia"/>
                <a:cs typeface="Constantia"/>
                <a:sym typeface="Constantia"/>
              </a:rPr>
              <a:t>:</a:t>
            </a:r>
            <a:endParaRPr sz="1400" b="0" i="0" u="none" strike="noStrike" cap="none" dirty="0">
              <a:solidFill>
                <a:schemeClr val="accent6"/>
              </a:solidFill>
              <a:sym typeface="Arial"/>
            </a:endParaRPr>
          </a:p>
          <a:p>
            <a:pPr marL="628650" marR="0" lvl="1" indent="-239712" algn="l" rtl="0">
              <a:lnSpc>
                <a:spcPct val="100000"/>
              </a:lnSpc>
              <a:spcBef>
                <a:spcPts val="1800"/>
              </a:spcBef>
              <a:spcAft>
                <a:spcPts val="0"/>
              </a:spcAft>
              <a:buClr>
                <a:srgbClr val="FF9900"/>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It complements each bit of </a:t>
            </a:r>
            <a:r>
              <a:rPr lang="en-US" sz="2400" b="0" i="0" u="none" strike="noStrike" cap="none" dirty="0" err="1">
                <a:solidFill>
                  <a:schemeClr val="accent6"/>
                </a:solidFill>
                <a:latin typeface="Constantia"/>
                <a:ea typeface="Constantia"/>
                <a:cs typeface="Constantia"/>
                <a:sym typeface="Constantia"/>
              </a:rPr>
              <a:t>Src</a:t>
            </a:r>
            <a:r>
              <a:rPr lang="en-US" sz="2400" b="0" i="0" u="none" strike="noStrike" cap="none" dirty="0">
                <a:solidFill>
                  <a:schemeClr val="accent6"/>
                </a:solidFill>
                <a:latin typeface="Constantia"/>
                <a:ea typeface="Constantia"/>
                <a:cs typeface="Constantia"/>
                <a:sym typeface="Constantia"/>
              </a:rPr>
              <a:t> to produce 1’s complement of the specified operand.</a:t>
            </a:r>
            <a:endParaRPr sz="1400" b="0" i="0" u="none" strike="noStrike" cap="none" dirty="0">
              <a:solidFill>
                <a:schemeClr val="accent6"/>
              </a:solidFill>
              <a:sym typeface="Arial"/>
            </a:endParaRPr>
          </a:p>
          <a:p>
            <a:pPr marL="628650" marR="0" lvl="1" indent="-239712" algn="l" rtl="0">
              <a:lnSpc>
                <a:spcPct val="100000"/>
              </a:lnSpc>
              <a:spcBef>
                <a:spcPts val="1800"/>
              </a:spcBef>
              <a:spcAft>
                <a:spcPts val="0"/>
              </a:spcAft>
              <a:buClr>
                <a:srgbClr val="FF9900"/>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The operand can be a register or memory location.</a:t>
            </a:r>
            <a:endParaRPr sz="1400" b="0" i="0" u="none" strike="noStrike" cap="none" dirty="0">
              <a:solidFill>
                <a:schemeClr val="accent6"/>
              </a:solidFill>
              <a:sym typeface="Arial"/>
            </a:endParaRPr>
          </a:p>
          <a:p>
            <a:pPr marL="388938" marR="0" lvl="1" algn="l" rtl="0">
              <a:lnSpc>
                <a:spcPct val="100000"/>
              </a:lnSpc>
              <a:spcBef>
                <a:spcPts val="1800"/>
              </a:spcBef>
              <a:spcAft>
                <a:spcPts val="0"/>
              </a:spcAft>
              <a:buClr>
                <a:srgbClr val="FF9900"/>
              </a:buClr>
              <a:buSzPts val="2400"/>
            </a:pPr>
            <a:r>
              <a:rPr lang="en-US" sz="2400" b="0" i="0" u="none" strike="noStrike" cap="none" dirty="0" err="1">
                <a:solidFill>
                  <a:schemeClr val="accent6"/>
                </a:solidFill>
                <a:latin typeface="Constantia"/>
                <a:ea typeface="Constantia"/>
                <a:cs typeface="Constantia"/>
                <a:sym typeface="Constantia"/>
              </a:rPr>
              <a:t>e,.g</a:t>
            </a:r>
            <a:r>
              <a:rPr lang="en-US" sz="2400" b="0" i="0" u="none" strike="noStrike" cap="none" dirty="0">
                <a:solidFill>
                  <a:schemeClr val="accent6"/>
                </a:solidFill>
                <a:latin typeface="Constantia"/>
                <a:ea typeface="Constantia"/>
                <a:cs typeface="Constantia"/>
                <a:sym typeface="Constantia"/>
              </a:rPr>
              <a:t>  NOT AX</a:t>
            </a:r>
            <a:endParaRPr sz="1400" b="0" i="0" u="none" strike="noStrike" cap="none" dirty="0">
              <a:solidFill>
                <a:schemeClr val="accent6"/>
              </a:solidFill>
              <a:sym typeface="Arial"/>
            </a:endParaRPr>
          </a:p>
        </p:txBody>
      </p:sp>
      <p:sp>
        <p:nvSpPr>
          <p:cNvPr id="454" name="Google Shape;454;p32"/>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23</a:t>
            </a:fld>
            <a:endParaRPr sz="1200" b="0" i="0" u="none" strike="noStrike" cap="none">
              <a:solidFill>
                <a:srgbClr val="404924"/>
              </a:solidFill>
              <a:latin typeface="Constantia"/>
              <a:ea typeface="Constantia"/>
              <a:cs typeface="Constantia"/>
              <a:sym typeface="Constantia"/>
            </a:endParaRPr>
          </a:p>
        </p:txBody>
      </p:sp>
      <p:sp>
        <p:nvSpPr>
          <p:cNvPr id="456" name="Google Shape;456;p32"/>
          <p:cNvSpPr txBox="1"/>
          <p:nvPr/>
        </p:nvSpPr>
        <p:spPr>
          <a:xfrm>
            <a:off x="448189" y="0"/>
            <a:ext cx="10972800" cy="866700"/>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rgbClr val="C00000"/>
                </a:solidFill>
                <a:latin typeface="Calibri"/>
                <a:ea typeface="Calibri"/>
                <a:cs typeface="Calibri"/>
                <a:sym typeface="Calibri"/>
              </a:rPr>
              <a:t>Logical Instructions</a:t>
            </a:r>
            <a:endParaRPr sz="1400" b="0" i="0" u="none" strike="noStrike" cap="none" dirty="0">
              <a:solidFill>
                <a:srgbClr val="C00000"/>
              </a:solidFill>
              <a:sym typeface="Arial"/>
            </a:endParaRPr>
          </a:p>
        </p:txBody>
      </p:sp>
      <p:sp>
        <p:nvSpPr>
          <p:cNvPr id="2" name="Rectangle 1"/>
          <p:cNvSpPr/>
          <p:nvPr/>
        </p:nvSpPr>
        <p:spPr>
          <a:xfrm>
            <a:off x="6123709" y="997401"/>
            <a:ext cx="5597236" cy="5493812"/>
          </a:xfrm>
          <a:prstGeom prst="rect">
            <a:avLst/>
          </a:prstGeom>
        </p:spPr>
        <p:txBody>
          <a:bodyPr wrap="square">
            <a:spAutoFit/>
          </a:bodyPr>
          <a:lstStyle/>
          <a:p>
            <a:pPr marL="261938" lvl="0" indent="-261938">
              <a:lnSpc>
                <a:spcPct val="90000"/>
              </a:lnSpc>
              <a:buClr>
                <a:srgbClr val="F3A447"/>
              </a:buClr>
              <a:buSzPts val="2600"/>
              <a:buFont typeface="Noto Sans Symbols"/>
              <a:buChar char="⚫"/>
            </a:pPr>
            <a:r>
              <a:rPr lang="en-US" sz="2600" b="1" dirty="0">
                <a:solidFill>
                  <a:schemeClr val="accent6"/>
                </a:solidFill>
                <a:latin typeface="Constantia"/>
                <a:ea typeface="Constantia"/>
                <a:cs typeface="Constantia"/>
                <a:sym typeface="Constantia"/>
              </a:rPr>
              <a:t>AND Des, </a:t>
            </a:r>
            <a:r>
              <a:rPr lang="en-US" sz="2600" b="1" dirty="0" err="1">
                <a:solidFill>
                  <a:schemeClr val="accent6"/>
                </a:solidFill>
                <a:latin typeface="Constantia"/>
                <a:ea typeface="Constantia"/>
                <a:cs typeface="Constantia"/>
                <a:sym typeface="Constantia"/>
              </a:rPr>
              <a:t>Src</a:t>
            </a:r>
            <a:r>
              <a:rPr lang="en-US" sz="2600" b="1" dirty="0">
                <a:solidFill>
                  <a:schemeClr val="accent6"/>
                </a:solidFill>
                <a:latin typeface="Constantia"/>
                <a:ea typeface="Constantia"/>
                <a:cs typeface="Constantia"/>
                <a:sym typeface="Constantia"/>
              </a:rPr>
              <a:t>:</a:t>
            </a:r>
            <a:endParaRPr lang="en-US" dirty="0">
              <a:solidFill>
                <a:schemeClr val="accent6"/>
              </a:solidFill>
            </a:endParaRPr>
          </a:p>
          <a:p>
            <a:pPr marL="628650" lvl="1" indent="-239712">
              <a:lnSpc>
                <a:spcPct val="90000"/>
              </a:lnSpc>
              <a:spcBef>
                <a:spcPts val="1800"/>
              </a:spcBef>
              <a:buClr>
                <a:srgbClr val="F3A447"/>
              </a:buClr>
              <a:buSzPts val="2400"/>
              <a:buFont typeface="Noto Sans Symbols"/>
              <a:buChar char="⚫"/>
            </a:pPr>
            <a:r>
              <a:rPr lang="en-US" sz="2400" dirty="0">
                <a:solidFill>
                  <a:schemeClr val="accent6"/>
                </a:solidFill>
                <a:latin typeface="Constantia"/>
                <a:ea typeface="Constantia"/>
                <a:cs typeface="Constantia"/>
                <a:sym typeface="Constantia"/>
              </a:rPr>
              <a:t>It performs AND operation of Des and </a:t>
            </a:r>
            <a:r>
              <a:rPr lang="en-US" sz="2400" dirty="0" err="1">
                <a:solidFill>
                  <a:schemeClr val="accent6"/>
                </a:solidFill>
                <a:latin typeface="Constantia"/>
                <a:ea typeface="Constantia"/>
                <a:cs typeface="Constantia"/>
                <a:sym typeface="Constantia"/>
              </a:rPr>
              <a:t>Src</a:t>
            </a:r>
            <a:r>
              <a:rPr lang="en-US" sz="2400" dirty="0">
                <a:solidFill>
                  <a:schemeClr val="accent6"/>
                </a:solidFill>
                <a:latin typeface="Constantia"/>
                <a:ea typeface="Constantia"/>
                <a:cs typeface="Constantia"/>
                <a:sym typeface="Constantia"/>
              </a:rPr>
              <a:t>.</a:t>
            </a:r>
            <a:endParaRPr lang="en-US" dirty="0">
              <a:solidFill>
                <a:schemeClr val="accent6"/>
              </a:solidFill>
            </a:endParaRPr>
          </a:p>
          <a:p>
            <a:pPr marL="628650" lvl="1" indent="-239712">
              <a:lnSpc>
                <a:spcPct val="90000"/>
              </a:lnSpc>
              <a:spcBef>
                <a:spcPts val="1800"/>
              </a:spcBef>
              <a:buClr>
                <a:srgbClr val="F3A447"/>
              </a:buClr>
              <a:buSzPts val="2400"/>
              <a:buFont typeface="Noto Sans Symbols"/>
              <a:buChar char="⚫"/>
            </a:pPr>
            <a:r>
              <a:rPr lang="en-US" sz="2400" dirty="0" err="1">
                <a:solidFill>
                  <a:schemeClr val="accent6"/>
                </a:solidFill>
                <a:latin typeface="Constantia"/>
                <a:ea typeface="Constantia"/>
                <a:cs typeface="Constantia"/>
                <a:sym typeface="Constantia"/>
              </a:rPr>
              <a:t>Src</a:t>
            </a:r>
            <a:r>
              <a:rPr lang="en-US" sz="2400" dirty="0">
                <a:solidFill>
                  <a:schemeClr val="accent6"/>
                </a:solidFill>
                <a:latin typeface="Constantia"/>
                <a:ea typeface="Constantia"/>
                <a:cs typeface="Constantia"/>
                <a:sym typeface="Constantia"/>
              </a:rPr>
              <a:t> can be immediate number, register or memory location.</a:t>
            </a:r>
            <a:endParaRPr lang="en-US" dirty="0">
              <a:solidFill>
                <a:schemeClr val="accent6"/>
              </a:solidFill>
            </a:endParaRPr>
          </a:p>
          <a:p>
            <a:pPr marL="628650" lvl="1" indent="-239712">
              <a:lnSpc>
                <a:spcPct val="90000"/>
              </a:lnSpc>
              <a:spcBef>
                <a:spcPts val="1800"/>
              </a:spcBef>
              <a:buClr>
                <a:srgbClr val="F3A447"/>
              </a:buClr>
              <a:buSzPts val="2400"/>
              <a:buFont typeface="Noto Sans Symbols"/>
              <a:buChar char="⚫"/>
            </a:pPr>
            <a:r>
              <a:rPr lang="en-US" sz="2400" dirty="0">
                <a:solidFill>
                  <a:schemeClr val="accent6"/>
                </a:solidFill>
                <a:latin typeface="Constantia"/>
                <a:ea typeface="Constantia"/>
                <a:cs typeface="Constantia"/>
                <a:sym typeface="Constantia"/>
              </a:rPr>
              <a:t>Des can be register or memory location.</a:t>
            </a:r>
            <a:endParaRPr lang="en-US" dirty="0">
              <a:solidFill>
                <a:schemeClr val="accent6"/>
              </a:solidFill>
            </a:endParaRPr>
          </a:p>
          <a:p>
            <a:pPr marL="628650" lvl="1" indent="-239712">
              <a:lnSpc>
                <a:spcPct val="90000"/>
              </a:lnSpc>
              <a:spcBef>
                <a:spcPts val="1800"/>
              </a:spcBef>
              <a:buClr>
                <a:srgbClr val="F3A447"/>
              </a:buClr>
              <a:buSzPts val="2400"/>
              <a:buFont typeface="Noto Sans Symbols"/>
              <a:buChar char="⚫"/>
            </a:pPr>
            <a:r>
              <a:rPr lang="en-US" sz="2400" dirty="0">
                <a:solidFill>
                  <a:schemeClr val="accent6"/>
                </a:solidFill>
                <a:latin typeface="Constantia"/>
                <a:ea typeface="Constantia"/>
                <a:cs typeface="Constantia"/>
                <a:sym typeface="Constantia"/>
              </a:rPr>
              <a:t>Both operands cannot be memory locations at the same time.</a:t>
            </a:r>
            <a:endParaRPr lang="en-US" dirty="0">
              <a:solidFill>
                <a:schemeClr val="accent6"/>
              </a:solidFill>
            </a:endParaRPr>
          </a:p>
          <a:p>
            <a:pPr marL="628650" lvl="1" indent="-239712">
              <a:lnSpc>
                <a:spcPct val="90000"/>
              </a:lnSpc>
              <a:spcBef>
                <a:spcPts val="1800"/>
              </a:spcBef>
              <a:buClr>
                <a:srgbClr val="F3A447"/>
              </a:buClr>
              <a:buSzPts val="2400"/>
              <a:buFont typeface="Noto Sans Symbols"/>
              <a:buChar char="⚫"/>
            </a:pPr>
            <a:r>
              <a:rPr lang="en-US" sz="2400" dirty="0">
                <a:solidFill>
                  <a:schemeClr val="accent6"/>
                </a:solidFill>
                <a:latin typeface="Constantia"/>
                <a:ea typeface="Constantia"/>
                <a:cs typeface="Constantia"/>
                <a:sym typeface="Constantia"/>
              </a:rPr>
              <a:t>CF and OF become zero after the operation.</a:t>
            </a:r>
            <a:endParaRPr lang="en-US" dirty="0">
              <a:solidFill>
                <a:schemeClr val="accent6"/>
              </a:solidFill>
            </a:endParaRPr>
          </a:p>
          <a:p>
            <a:pPr marL="628650" lvl="1" indent="-239712">
              <a:lnSpc>
                <a:spcPct val="90000"/>
              </a:lnSpc>
              <a:spcBef>
                <a:spcPts val="1800"/>
              </a:spcBef>
              <a:buClr>
                <a:srgbClr val="F3A447"/>
              </a:buClr>
              <a:buSzPts val="2400"/>
              <a:buFont typeface="Noto Sans Symbols"/>
              <a:buChar char="⚫"/>
            </a:pPr>
            <a:r>
              <a:rPr lang="en-US" sz="2400" dirty="0">
                <a:solidFill>
                  <a:schemeClr val="accent6"/>
                </a:solidFill>
                <a:latin typeface="Constantia"/>
                <a:ea typeface="Constantia"/>
                <a:cs typeface="Constantia"/>
                <a:sym typeface="Constantia"/>
              </a:rPr>
              <a:t>PF, SF and ZF are updated.</a:t>
            </a:r>
            <a:endParaRPr lang="en-US" dirty="0">
              <a:solidFill>
                <a:schemeClr val="accent6"/>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34"/>
          <p:cNvSpPr txBox="1"/>
          <p:nvPr/>
        </p:nvSpPr>
        <p:spPr>
          <a:xfrm>
            <a:off x="304800" y="0"/>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rgbClr val="C00000"/>
                </a:solidFill>
                <a:latin typeface="Calibri"/>
                <a:ea typeface="Calibri"/>
                <a:cs typeface="Calibri"/>
                <a:sym typeface="Calibri"/>
              </a:rPr>
              <a:t>Bit Manipulation Instructions</a:t>
            </a:r>
            <a:endParaRPr sz="1400" b="0" i="0" u="none" strike="noStrike" cap="none" dirty="0">
              <a:solidFill>
                <a:srgbClr val="C00000"/>
              </a:solidFill>
              <a:sym typeface="Arial"/>
            </a:endParaRPr>
          </a:p>
        </p:txBody>
      </p:sp>
      <p:sp>
        <p:nvSpPr>
          <p:cNvPr id="475" name="Google Shape;475;p34"/>
          <p:cNvSpPr txBox="1"/>
          <p:nvPr/>
        </p:nvSpPr>
        <p:spPr>
          <a:xfrm>
            <a:off x="304800" y="866775"/>
            <a:ext cx="5902036"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90000"/>
              </a:lnSpc>
              <a:spcBef>
                <a:spcPts val="0"/>
              </a:spcBef>
              <a:spcAft>
                <a:spcPts val="0"/>
              </a:spcAft>
              <a:buClr>
                <a:srgbClr val="F3A447"/>
              </a:buClr>
              <a:buSzPts val="2600"/>
              <a:buFont typeface="Noto Sans Symbols"/>
              <a:buChar char="⚫"/>
            </a:pPr>
            <a:r>
              <a:rPr lang="en-US" sz="2600" b="1" i="0" u="none" strike="noStrike" cap="none" dirty="0">
                <a:solidFill>
                  <a:schemeClr val="accent6"/>
                </a:solidFill>
                <a:latin typeface="Constantia"/>
                <a:ea typeface="Constantia"/>
                <a:cs typeface="Constantia"/>
                <a:sym typeface="Constantia"/>
              </a:rPr>
              <a:t>OR Des, </a:t>
            </a:r>
            <a:r>
              <a:rPr lang="en-US" sz="2600" b="1" i="0" u="none" strike="noStrike" cap="none" dirty="0" err="1">
                <a:solidFill>
                  <a:schemeClr val="accent6"/>
                </a:solidFill>
                <a:latin typeface="Constantia"/>
                <a:ea typeface="Constantia"/>
                <a:cs typeface="Constantia"/>
                <a:sym typeface="Constantia"/>
              </a:rPr>
              <a:t>Src</a:t>
            </a:r>
            <a:r>
              <a:rPr lang="en-US" sz="2600" b="1" i="0" u="none" strike="noStrike" cap="none" dirty="0">
                <a:solidFill>
                  <a:schemeClr val="accent6"/>
                </a:solidFill>
                <a:latin typeface="Constantia"/>
                <a:ea typeface="Constantia"/>
                <a:cs typeface="Constantia"/>
                <a:sym typeface="Constantia"/>
              </a:rPr>
              <a:t>:</a:t>
            </a:r>
            <a:endParaRPr sz="1400" b="0" i="0" u="none" strike="noStrike" cap="none" dirty="0">
              <a:solidFill>
                <a:schemeClr val="accent6"/>
              </a:solidFil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It performs OR operation of Des and </a:t>
            </a:r>
            <a:r>
              <a:rPr lang="en-US" sz="2400" b="0" i="0" u="none" strike="noStrike" cap="none" dirty="0" err="1">
                <a:solidFill>
                  <a:schemeClr val="accent6"/>
                </a:solidFill>
                <a:latin typeface="Constantia"/>
                <a:ea typeface="Constantia"/>
                <a:cs typeface="Constantia"/>
                <a:sym typeface="Constantia"/>
              </a:rPr>
              <a:t>Src</a:t>
            </a:r>
            <a:r>
              <a:rPr lang="en-US" sz="2400" b="0" i="0" u="none" strike="noStrike" cap="none" dirty="0">
                <a:solidFill>
                  <a:schemeClr val="accent6"/>
                </a:solidFill>
                <a:latin typeface="Constantia"/>
                <a:ea typeface="Constantia"/>
                <a:cs typeface="Constantia"/>
                <a:sym typeface="Constantia"/>
              </a:rPr>
              <a:t>.</a:t>
            </a:r>
            <a:endParaRPr sz="1400" b="0" i="0" u="none" strike="noStrike" cap="none" dirty="0">
              <a:solidFill>
                <a:schemeClr val="accent6"/>
              </a:solidFil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dirty="0" err="1">
                <a:solidFill>
                  <a:schemeClr val="accent6"/>
                </a:solidFill>
                <a:latin typeface="Constantia"/>
                <a:ea typeface="Constantia"/>
                <a:cs typeface="Constantia"/>
                <a:sym typeface="Constantia"/>
              </a:rPr>
              <a:t>Src</a:t>
            </a:r>
            <a:r>
              <a:rPr lang="en-US" sz="2400" b="0" i="0" u="none" strike="noStrike" cap="none" dirty="0">
                <a:solidFill>
                  <a:schemeClr val="accent6"/>
                </a:solidFill>
                <a:latin typeface="Constantia"/>
                <a:ea typeface="Constantia"/>
                <a:cs typeface="Constantia"/>
                <a:sym typeface="Constantia"/>
              </a:rPr>
              <a:t> can be immediate number, register or memory location.</a:t>
            </a:r>
            <a:endParaRPr sz="1400" b="0" i="0" u="none" strike="noStrike" cap="none" dirty="0">
              <a:solidFill>
                <a:schemeClr val="accent6"/>
              </a:solidFil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Des can be register or memory location.</a:t>
            </a:r>
            <a:endParaRPr sz="1400" b="0" i="0" u="none" strike="noStrike" cap="none" dirty="0">
              <a:solidFill>
                <a:schemeClr val="accent6"/>
              </a:solidFil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Both operands cannot be memory locations at the same time.</a:t>
            </a:r>
            <a:endParaRPr sz="1400" b="0" i="0" u="none" strike="noStrike" cap="none" dirty="0">
              <a:solidFill>
                <a:schemeClr val="accent6"/>
              </a:solidFil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CF and OF become zero after the operation.</a:t>
            </a:r>
            <a:endParaRPr sz="1400" b="0" i="0" u="none" strike="noStrike" cap="none" dirty="0">
              <a:solidFill>
                <a:schemeClr val="accent6"/>
              </a:solidFil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PF, SF and ZF are updated.</a:t>
            </a:r>
            <a:endParaRPr sz="1400" b="0" i="0" u="none" strike="noStrike" cap="none" dirty="0">
              <a:solidFill>
                <a:schemeClr val="accent6"/>
              </a:solidFill>
              <a:sym typeface="Arial"/>
            </a:endParaRPr>
          </a:p>
        </p:txBody>
      </p:sp>
      <p:sp>
        <p:nvSpPr>
          <p:cNvPr id="477" name="Google Shape;477;p34"/>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24</a:t>
            </a:fld>
            <a:endParaRPr sz="1200" b="0" i="0" u="none" strike="noStrike" cap="none">
              <a:solidFill>
                <a:srgbClr val="404924"/>
              </a:solidFill>
              <a:latin typeface="Constantia"/>
              <a:ea typeface="Constantia"/>
              <a:cs typeface="Constantia"/>
              <a:sym typeface="Constantia"/>
            </a:endParaRPr>
          </a:p>
        </p:txBody>
      </p:sp>
      <p:sp>
        <p:nvSpPr>
          <p:cNvPr id="2" name="Rectangle 1"/>
          <p:cNvSpPr/>
          <p:nvPr/>
        </p:nvSpPr>
        <p:spPr>
          <a:xfrm>
            <a:off x="5694218" y="864657"/>
            <a:ext cx="6096000" cy="5493812"/>
          </a:xfrm>
          <a:prstGeom prst="rect">
            <a:avLst/>
          </a:prstGeom>
        </p:spPr>
        <p:txBody>
          <a:bodyPr>
            <a:spAutoFit/>
          </a:bodyPr>
          <a:lstStyle/>
          <a:p>
            <a:pPr marL="261938" lvl="0" indent="-261938">
              <a:lnSpc>
                <a:spcPct val="90000"/>
              </a:lnSpc>
              <a:buClr>
                <a:srgbClr val="F3A447"/>
              </a:buClr>
              <a:buSzPts val="2600"/>
              <a:buFont typeface="Noto Sans Symbols"/>
              <a:buChar char="⚫"/>
            </a:pPr>
            <a:r>
              <a:rPr lang="en-US" sz="2600" b="1" dirty="0">
                <a:solidFill>
                  <a:schemeClr val="accent6"/>
                </a:solidFill>
                <a:latin typeface="Constantia"/>
                <a:ea typeface="Constantia"/>
                <a:cs typeface="Constantia"/>
                <a:sym typeface="Constantia"/>
              </a:rPr>
              <a:t>XOR Des, </a:t>
            </a:r>
            <a:r>
              <a:rPr lang="en-US" sz="2600" b="1" dirty="0" err="1">
                <a:solidFill>
                  <a:schemeClr val="accent6"/>
                </a:solidFill>
                <a:latin typeface="Constantia"/>
                <a:ea typeface="Constantia"/>
                <a:cs typeface="Constantia"/>
                <a:sym typeface="Constantia"/>
              </a:rPr>
              <a:t>Src</a:t>
            </a:r>
            <a:r>
              <a:rPr lang="en-US" sz="2600" b="1" dirty="0">
                <a:solidFill>
                  <a:schemeClr val="accent6"/>
                </a:solidFill>
                <a:latin typeface="Constantia"/>
                <a:ea typeface="Constantia"/>
                <a:cs typeface="Constantia"/>
                <a:sym typeface="Constantia"/>
              </a:rPr>
              <a:t>:</a:t>
            </a:r>
            <a:endParaRPr lang="en-US" dirty="0">
              <a:solidFill>
                <a:schemeClr val="accent6"/>
              </a:solidFill>
            </a:endParaRPr>
          </a:p>
          <a:p>
            <a:pPr marL="628650" lvl="1" indent="-239712">
              <a:lnSpc>
                <a:spcPct val="90000"/>
              </a:lnSpc>
              <a:spcBef>
                <a:spcPts val="1800"/>
              </a:spcBef>
              <a:buClr>
                <a:srgbClr val="F3A447"/>
              </a:buClr>
              <a:buSzPts val="2400"/>
              <a:buFont typeface="Noto Sans Symbols"/>
              <a:buChar char="⚫"/>
            </a:pPr>
            <a:r>
              <a:rPr lang="en-US" sz="2400" dirty="0">
                <a:solidFill>
                  <a:schemeClr val="accent6"/>
                </a:solidFill>
                <a:latin typeface="Constantia"/>
                <a:ea typeface="Constantia"/>
                <a:cs typeface="Constantia"/>
                <a:sym typeface="Constantia"/>
              </a:rPr>
              <a:t>It performs XOR operation of Des and </a:t>
            </a:r>
            <a:r>
              <a:rPr lang="en-US" sz="2400" dirty="0" err="1">
                <a:solidFill>
                  <a:schemeClr val="accent6"/>
                </a:solidFill>
                <a:latin typeface="Constantia"/>
                <a:ea typeface="Constantia"/>
                <a:cs typeface="Constantia"/>
                <a:sym typeface="Constantia"/>
              </a:rPr>
              <a:t>Src</a:t>
            </a:r>
            <a:r>
              <a:rPr lang="en-US" sz="2400" dirty="0">
                <a:solidFill>
                  <a:schemeClr val="accent6"/>
                </a:solidFill>
                <a:latin typeface="Constantia"/>
                <a:ea typeface="Constantia"/>
                <a:cs typeface="Constantia"/>
                <a:sym typeface="Constantia"/>
              </a:rPr>
              <a:t>.</a:t>
            </a:r>
            <a:endParaRPr lang="en-US" dirty="0">
              <a:solidFill>
                <a:schemeClr val="accent6"/>
              </a:solidFill>
            </a:endParaRPr>
          </a:p>
          <a:p>
            <a:pPr marL="628650" lvl="1" indent="-239712">
              <a:lnSpc>
                <a:spcPct val="90000"/>
              </a:lnSpc>
              <a:spcBef>
                <a:spcPts val="1800"/>
              </a:spcBef>
              <a:buClr>
                <a:srgbClr val="F3A447"/>
              </a:buClr>
              <a:buSzPts val="2400"/>
              <a:buFont typeface="Noto Sans Symbols"/>
              <a:buChar char="⚫"/>
            </a:pPr>
            <a:r>
              <a:rPr lang="en-US" sz="2400" dirty="0" err="1">
                <a:solidFill>
                  <a:schemeClr val="accent6"/>
                </a:solidFill>
                <a:latin typeface="Constantia"/>
                <a:ea typeface="Constantia"/>
                <a:cs typeface="Constantia"/>
                <a:sym typeface="Constantia"/>
              </a:rPr>
              <a:t>Src</a:t>
            </a:r>
            <a:r>
              <a:rPr lang="en-US" sz="2400" dirty="0">
                <a:solidFill>
                  <a:schemeClr val="accent6"/>
                </a:solidFill>
                <a:latin typeface="Constantia"/>
                <a:ea typeface="Constantia"/>
                <a:cs typeface="Constantia"/>
                <a:sym typeface="Constantia"/>
              </a:rPr>
              <a:t> can be immediate number, register or memory location.</a:t>
            </a:r>
            <a:endParaRPr lang="en-US" dirty="0">
              <a:solidFill>
                <a:schemeClr val="accent6"/>
              </a:solidFill>
            </a:endParaRPr>
          </a:p>
          <a:p>
            <a:pPr marL="628650" lvl="1" indent="-239712">
              <a:lnSpc>
                <a:spcPct val="90000"/>
              </a:lnSpc>
              <a:spcBef>
                <a:spcPts val="1800"/>
              </a:spcBef>
              <a:buClr>
                <a:srgbClr val="F3A447"/>
              </a:buClr>
              <a:buSzPts val="2400"/>
              <a:buFont typeface="Noto Sans Symbols"/>
              <a:buChar char="⚫"/>
            </a:pPr>
            <a:r>
              <a:rPr lang="en-US" sz="2400" dirty="0">
                <a:solidFill>
                  <a:schemeClr val="accent6"/>
                </a:solidFill>
                <a:latin typeface="Constantia"/>
                <a:ea typeface="Constantia"/>
                <a:cs typeface="Constantia"/>
                <a:sym typeface="Constantia"/>
              </a:rPr>
              <a:t>Des can be register or memory location.</a:t>
            </a:r>
            <a:endParaRPr lang="en-US" dirty="0">
              <a:solidFill>
                <a:schemeClr val="accent6"/>
              </a:solidFill>
            </a:endParaRPr>
          </a:p>
          <a:p>
            <a:pPr marL="628650" lvl="1" indent="-239712">
              <a:lnSpc>
                <a:spcPct val="90000"/>
              </a:lnSpc>
              <a:spcBef>
                <a:spcPts val="1800"/>
              </a:spcBef>
              <a:buClr>
                <a:srgbClr val="F3A447"/>
              </a:buClr>
              <a:buSzPts val="2400"/>
              <a:buFont typeface="Noto Sans Symbols"/>
              <a:buChar char="⚫"/>
            </a:pPr>
            <a:r>
              <a:rPr lang="en-US" sz="2400" dirty="0">
                <a:solidFill>
                  <a:schemeClr val="accent6"/>
                </a:solidFill>
                <a:latin typeface="Constantia"/>
                <a:ea typeface="Constantia"/>
                <a:cs typeface="Constantia"/>
                <a:sym typeface="Constantia"/>
              </a:rPr>
              <a:t>Both operands cannot be memory locations at the same time.</a:t>
            </a:r>
            <a:endParaRPr lang="en-US" dirty="0">
              <a:solidFill>
                <a:schemeClr val="accent6"/>
              </a:solidFill>
            </a:endParaRPr>
          </a:p>
          <a:p>
            <a:pPr marL="628650" lvl="1" indent="-239712">
              <a:lnSpc>
                <a:spcPct val="90000"/>
              </a:lnSpc>
              <a:spcBef>
                <a:spcPts val="1800"/>
              </a:spcBef>
              <a:buClr>
                <a:srgbClr val="F3A447"/>
              </a:buClr>
              <a:buSzPts val="2400"/>
              <a:buFont typeface="Noto Sans Symbols"/>
              <a:buChar char="⚫"/>
            </a:pPr>
            <a:r>
              <a:rPr lang="en-US" sz="2400" dirty="0">
                <a:solidFill>
                  <a:schemeClr val="accent6"/>
                </a:solidFill>
                <a:latin typeface="Constantia"/>
                <a:ea typeface="Constantia"/>
                <a:cs typeface="Constantia"/>
                <a:sym typeface="Constantia"/>
              </a:rPr>
              <a:t>CF and OF become zero after the operation.</a:t>
            </a:r>
            <a:endParaRPr lang="en-US" dirty="0">
              <a:solidFill>
                <a:schemeClr val="accent6"/>
              </a:solidFill>
            </a:endParaRPr>
          </a:p>
          <a:p>
            <a:pPr marL="628650" lvl="1" indent="-239712">
              <a:lnSpc>
                <a:spcPct val="90000"/>
              </a:lnSpc>
              <a:spcBef>
                <a:spcPts val="1800"/>
              </a:spcBef>
              <a:buClr>
                <a:srgbClr val="F3A447"/>
              </a:buClr>
              <a:buSzPts val="2400"/>
              <a:buFont typeface="Noto Sans Symbols"/>
              <a:buChar char="⚫"/>
            </a:pPr>
            <a:r>
              <a:rPr lang="en-US" sz="2400" dirty="0">
                <a:solidFill>
                  <a:schemeClr val="accent6"/>
                </a:solidFill>
                <a:latin typeface="Constantia"/>
                <a:ea typeface="Constantia"/>
                <a:cs typeface="Constantia"/>
                <a:sym typeface="Constantia"/>
              </a:rPr>
              <a:t>PF, SF and ZF are updated.</a:t>
            </a:r>
            <a:endParaRPr lang="en-US" dirty="0">
              <a:solidFill>
                <a:schemeClr val="accent6"/>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36"/>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1"/>
                </a:solidFill>
                <a:latin typeface="Calibri"/>
                <a:ea typeface="Calibri"/>
                <a:cs typeface="Calibri"/>
                <a:sym typeface="Calibri"/>
              </a:rPr>
              <a:t>Bit Manipulation Instructions</a:t>
            </a:r>
            <a:endParaRPr sz="1400" b="0" i="0" u="none" strike="noStrike" cap="none">
              <a:solidFill>
                <a:schemeClr val="accent1"/>
              </a:solidFill>
              <a:latin typeface="Arial"/>
              <a:ea typeface="Arial"/>
              <a:cs typeface="Arial"/>
              <a:sym typeface="Arial"/>
            </a:endParaRPr>
          </a:p>
        </p:txBody>
      </p:sp>
      <p:sp>
        <p:nvSpPr>
          <p:cNvPr id="497" name="Google Shape;497;p36"/>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90000"/>
              </a:lnSpc>
              <a:spcBef>
                <a:spcPts val="0"/>
              </a:spcBef>
              <a:spcAft>
                <a:spcPts val="0"/>
              </a:spcAft>
              <a:buClr>
                <a:srgbClr val="F3A447"/>
              </a:buClr>
              <a:buSzPts val="2600"/>
              <a:buFont typeface="Noto Sans Symbols"/>
              <a:buChar char="⚫"/>
            </a:pPr>
            <a:r>
              <a:rPr lang="en-US" sz="2600" b="1" i="0" u="none" strike="noStrike" cap="none" dirty="0">
                <a:solidFill>
                  <a:schemeClr val="accent6"/>
                </a:solidFill>
                <a:latin typeface="Constantia"/>
                <a:ea typeface="Constantia"/>
                <a:cs typeface="Constantia"/>
                <a:sym typeface="Constantia"/>
              </a:rPr>
              <a:t>TEST Des, </a:t>
            </a:r>
            <a:r>
              <a:rPr lang="en-US" sz="2600" b="1" i="0" u="none" strike="noStrike" cap="none" dirty="0" err="1">
                <a:solidFill>
                  <a:schemeClr val="accent6"/>
                </a:solidFill>
                <a:latin typeface="Constantia"/>
                <a:ea typeface="Constantia"/>
                <a:cs typeface="Constantia"/>
                <a:sym typeface="Constantia"/>
              </a:rPr>
              <a:t>Src</a:t>
            </a:r>
            <a:r>
              <a:rPr lang="en-US" sz="2600" b="1" i="0" u="none" strike="noStrike" cap="none" dirty="0">
                <a:solidFill>
                  <a:schemeClr val="accent6"/>
                </a:solidFill>
                <a:latin typeface="Constantia"/>
                <a:ea typeface="Constantia"/>
                <a:cs typeface="Constantia"/>
                <a:sym typeface="Constantia"/>
              </a:rPr>
              <a:t>:</a:t>
            </a:r>
            <a:endParaRPr sz="1400" b="0" i="0" u="none" strike="noStrike" cap="none" dirty="0">
              <a:solidFill>
                <a:schemeClr val="accent6"/>
              </a:solidFil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It performs AND operation of Des and </a:t>
            </a:r>
            <a:r>
              <a:rPr lang="en-US" sz="2400" b="0" i="0" u="none" strike="noStrike" cap="none" dirty="0" err="1">
                <a:solidFill>
                  <a:schemeClr val="accent6"/>
                </a:solidFill>
                <a:latin typeface="Constantia"/>
                <a:ea typeface="Constantia"/>
                <a:cs typeface="Constantia"/>
                <a:sym typeface="Constantia"/>
              </a:rPr>
              <a:t>Src</a:t>
            </a:r>
            <a:r>
              <a:rPr lang="en-US" sz="2400" b="0" i="0" u="none" strike="noStrike" cap="none" dirty="0">
                <a:solidFill>
                  <a:schemeClr val="accent6"/>
                </a:solidFill>
                <a:latin typeface="Constantia"/>
                <a:ea typeface="Constantia"/>
                <a:cs typeface="Constantia"/>
                <a:sym typeface="Constantia"/>
              </a:rPr>
              <a:t>.</a:t>
            </a:r>
            <a:endParaRPr sz="1400" b="0" i="0" u="none" strike="noStrike" cap="none" dirty="0">
              <a:solidFill>
                <a:schemeClr val="accent6"/>
              </a:solidFil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dirty="0" err="1">
                <a:solidFill>
                  <a:schemeClr val="accent6"/>
                </a:solidFill>
                <a:latin typeface="Constantia"/>
                <a:ea typeface="Constantia"/>
                <a:cs typeface="Constantia"/>
                <a:sym typeface="Constantia"/>
              </a:rPr>
              <a:t>Src</a:t>
            </a:r>
            <a:r>
              <a:rPr lang="en-US" sz="2400" b="0" i="0" u="none" strike="noStrike" cap="none" dirty="0">
                <a:solidFill>
                  <a:schemeClr val="accent6"/>
                </a:solidFill>
                <a:latin typeface="Constantia"/>
                <a:ea typeface="Constantia"/>
                <a:cs typeface="Constantia"/>
                <a:sym typeface="Constantia"/>
              </a:rPr>
              <a:t> can be immediate number, and </a:t>
            </a:r>
            <a:r>
              <a:rPr lang="en-US" sz="2400" b="0" i="0" u="none" strike="noStrike" cap="none" dirty="0" err="1">
                <a:solidFill>
                  <a:schemeClr val="accent6"/>
                </a:solidFill>
                <a:latin typeface="Constantia"/>
                <a:ea typeface="Constantia"/>
                <a:cs typeface="Constantia"/>
                <a:sym typeface="Constantia"/>
              </a:rPr>
              <a:t>src</a:t>
            </a:r>
            <a:r>
              <a:rPr lang="en-US" sz="2400" b="0" i="0" u="none" strike="noStrike" cap="none" dirty="0">
                <a:solidFill>
                  <a:schemeClr val="accent6"/>
                </a:solidFill>
                <a:latin typeface="Constantia"/>
                <a:ea typeface="Constantia"/>
                <a:cs typeface="Constantia"/>
                <a:sym typeface="Constantia"/>
              </a:rPr>
              <a:t>/Des can be register or memory location.</a:t>
            </a:r>
            <a:endParaRPr sz="1400" b="0" i="0" u="none" strike="noStrike" cap="none" dirty="0">
              <a:solidFill>
                <a:schemeClr val="accent6"/>
              </a:solidFil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It is Non-Destructive And means </a:t>
            </a:r>
            <a:r>
              <a:rPr lang="en-US" sz="2400" b="0" i="0" u="none" strike="noStrike" cap="none" dirty="0" err="1">
                <a:solidFill>
                  <a:schemeClr val="accent6"/>
                </a:solidFill>
                <a:latin typeface="Constantia"/>
                <a:ea typeface="Constantia"/>
                <a:cs typeface="Constantia"/>
                <a:sym typeface="Constantia"/>
              </a:rPr>
              <a:t>Dest</a:t>
            </a:r>
            <a:r>
              <a:rPr lang="en-US" sz="2400" b="0" i="0" u="none" strike="noStrike" cap="none" dirty="0">
                <a:solidFill>
                  <a:schemeClr val="accent6"/>
                </a:solidFill>
                <a:latin typeface="Constantia"/>
                <a:ea typeface="Constantia"/>
                <a:cs typeface="Constantia"/>
                <a:sym typeface="Constantia"/>
              </a:rPr>
              <a:t> is not modified only flags are affected.</a:t>
            </a:r>
            <a:endParaRPr sz="1400" b="0" i="0" u="none" strike="noStrike" cap="none" dirty="0">
              <a:solidFill>
                <a:schemeClr val="accent6"/>
              </a:solidFil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Both operands cannot be memory locations at the same time.</a:t>
            </a:r>
            <a:endParaRPr sz="1400" b="0" i="0" u="none" strike="noStrike" cap="none" dirty="0">
              <a:solidFill>
                <a:schemeClr val="accent6"/>
              </a:solidFil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CF and OF become zero after the operation.</a:t>
            </a:r>
            <a:endParaRPr sz="1400" b="0" i="0" u="none" strike="noStrike" cap="none" dirty="0">
              <a:solidFill>
                <a:schemeClr val="accent6"/>
              </a:solidFil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dirty="0">
                <a:solidFill>
                  <a:schemeClr val="accent6"/>
                </a:solidFill>
                <a:latin typeface="Constantia"/>
                <a:ea typeface="Constantia"/>
                <a:cs typeface="Constantia"/>
                <a:sym typeface="Constantia"/>
              </a:rPr>
              <a:t>PF, SF and ZF are updated.</a:t>
            </a:r>
            <a:endParaRPr sz="1400" b="0" i="0" u="none" strike="noStrike" cap="none" dirty="0">
              <a:solidFill>
                <a:schemeClr val="accent6"/>
              </a:solidFill>
              <a:sym typeface="Arial"/>
            </a:endParaRPr>
          </a:p>
        </p:txBody>
      </p:sp>
      <p:sp>
        <p:nvSpPr>
          <p:cNvPr id="499" name="Google Shape;499;p36"/>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25</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37"/>
          <p:cNvSpPr txBox="1"/>
          <p:nvPr/>
        </p:nvSpPr>
        <p:spPr>
          <a:xfrm>
            <a:off x="609600" y="0"/>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rgbClr val="C00000"/>
                </a:solidFill>
                <a:latin typeface="Calibri"/>
                <a:ea typeface="Calibri"/>
                <a:cs typeface="Calibri"/>
                <a:sym typeface="Calibri"/>
              </a:rPr>
              <a:t>2. Data Transfer Instructions</a:t>
            </a:r>
            <a:endParaRPr sz="1400" b="0" i="0" u="none" strike="noStrike" cap="none" dirty="0">
              <a:solidFill>
                <a:srgbClr val="C00000"/>
              </a:solidFill>
              <a:sym typeface="Arial"/>
            </a:endParaRPr>
          </a:p>
        </p:txBody>
      </p:sp>
      <p:sp>
        <p:nvSpPr>
          <p:cNvPr id="508" name="Google Shape;508;p37"/>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26</a:t>
            </a:fld>
            <a:endParaRPr sz="1200" b="0" i="0" u="none" strike="noStrike" cap="none">
              <a:solidFill>
                <a:srgbClr val="404924"/>
              </a:solidFill>
              <a:latin typeface="Constantia"/>
              <a:ea typeface="Constantia"/>
              <a:cs typeface="Constantia"/>
              <a:sym typeface="Constantia"/>
            </a:endParaRPr>
          </a:p>
        </p:txBody>
      </p:sp>
      <p:sp>
        <p:nvSpPr>
          <p:cNvPr id="2" name="Rectangle 1"/>
          <p:cNvSpPr/>
          <p:nvPr/>
        </p:nvSpPr>
        <p:spPr>
          <a:xfrm>
            <a:off x="180109" y="2000494"/>
            <a:ext cx="4031873" cy="369332"/>
          </a:xfrm>
          <a:prstGeom prst="rect">
            <a:avLst/>
          </a:prstGeom>
        </p:spPr>
        <p:txBody>
          <a:bodyPr wrap="none">
            <a:spAutoFit/>
          </a:bodyPr>
          <a:lstStyle/>
          <a:p>
            <a:r>
              <a:rPr lang="en-US" sz="1800" b="1" dirty="0">
                <a:solidFill>
                  <a:srgbClr val="273239"/>
                </a:solidFill>
                <a:latin typeface="Nunito" panose="020B0604020202020204" charset="0"/>
              </a:rPr>
              <a:t>Types of Data transfer instructions :</a:t>
            </a:r>
            <a:endParaRPr lang="en-IN" sz="1800" dirty="0"/>
          </a:p>
        </p:txBody>
      </p:sp>
      <p:sp>
        <p:nvSpPr>
          <p:cNvPr id="3" name="Rectangle 2"/>
          <p:cNvSpPr/>
          <p:nvPr/>
        </p:nvSpPr>
        <p:spPr>
          <a:xfrm>
            <a:off x="180109" y="866775"/>
            <a:ext cx="12192000" cy="1015663"/>
          </a:xfrm>
          <a:prstGeom prst="rect">
            <a:avLst/>
          </a:prstGeom>
        </p:spPr>
        <p:txBody>
          <a:bodyPr wrap="square">
            <a:spAutoFit/>
          </a:bodyPr>
          <a:lstStyle/>
          <a:p>
            <a:r>
              <a:rPr lang="en-US" sz="2000" b="1" dirty="0">
                <a:solidFill>
                  <a:srgbClr val="273239"/>
                </a:solidFill>
                <a:latin typeface="Nunito" panose="020B0604020202020204" charset="0"/>
              </a:rPr>
              <a:t>Data transfer instructions in the 8086 microprocessor are used to move data between memory locations, registers, and input/output (I/O) devices. These instructions are essential for manipulating data within a program, as well as for communicating with external devices.</a:t>
            </a:r>
            <a:endParaRPr lang="en-IN" sz="2000" b="1" dirty="0"/>
          </a:p>
        </p:txBody>
      </p:sp>
      <p:sp>
        <p:nvSpPr>
          <p:cNvPr id="4" name="Rectangle 3"/>
          <p:cNvSpPr/>
          <p:nvPr/>
        </p:nvSpPr>
        <p:spPr>
          <a:xfrm>
            <a:off x="180109" y="2640282"/>
            <a:ext cx="5513909" cy="4401205"/>
          </a:xfrm>
          <a:prstGeom prst="rect">
            <a:avLst/>
          </a:prstGeom>
        </p:spPr>
        <p:txBody>
          <a:bodyPr wrap="square">
            <a:spAutoFit/>
          </a:bodyPr>
          <a:lstStyle/>
          <a:p>
            <a:pPr fontAlgn="base"/>
            <a:r>
              <a:rPr lang="en-US" sz="2000" b="1" dirty="0">
                <a:solidFill>
                  <a:srgbClr val="273239"/>
                </a:solidFill>
                <a:latin typeface="Nunito" panose="020B0604020202020204" charset="0"/>
              </a:rPr>
              <a:t>1. Move instructions: </a:t>
            </a:r>
            <a:endParaRPr lang="en-US" sz="2000" dirty="0">
              <a:solidFill>
                <a:srgbClr val="273239"/>
              </a:solidFill>
              <a:latin typeface="Nunito" panose="020B0604020202020204" charset="0"/>
            </a:endParaRPr>
          </a:p>
          <a:p>
            <a:pPr fontAlgn="base"/>
            <a:r>
              <a:rPr lang="en-US" sz="2000" dirty="0">
                <a:solidFill>
                  <a:srgbClr val="273239"/>
                </a:solidFill>
                <a:latin typeface="Nunito" panose="020B0604020202020204" charset="0"/>
              </a:rPr>
              <a:t>These instructions are used to move data from one memory location to another or between a memory location and a register. They include the following instructions:</a:t>
            </a:r>
          </a:p>
          <a:p>
            <a:pPr fontAlgn="base">
              <a:buFont typeface="Arial" panose="020B0604020202020204" pitchFamily="34" charset="0"/>
              <a:buChar char="•"/>
            </a:pPr>
            <a:r>
              <a:rPr lang="en-US" sz="2000" b="1" dirty="0">
                <a:solidFill>
                  <a:srgbClr val="273239"/>
                </a:solidFill>
                <a:latin typeface="Nunito" panose="020B0604020202020204" charset="0"/>
              </a:rPr>
              <a:t>MOV</a:t>
            </a:r>
            <a:r>
              <a:rPr lang="en-US" sz="2000" dirty="0">
                <a:solidFill>
                  <a:srgbClr val="273239"/>
                </a:solidFill>
                <a:latin typeface="Nunito" panose="020B0604020202020204" charset="0"/>
              </a:rPr>
              <a:t>: Moves data from a source operand to a destination operand.</a:t>
            </a:r>
          </a:p>
          <a:p>
            <a:pPr fontAlgn="base">
              <a:buFont typeface="Arial" panose="020B0604020202020204" pitchFamily="34" charset="0"/>
              <a:buChar char="•"/>
            </a:pPr>
            <a:r>
              <a:rPr lang="en-US" sz="2000" b="1" dirty="0">
                <a:solidFill>
                  <a:srgbClr val="273239"/>
                </a:solidFill>
                <a:latin typeface="Nunito" panose="020B0604020202020204" charset="0"/>
              </a:rPr>
              <a:t>XCHG</a:t>
            </a:r>
            <a:r>
              <a:rPr lang="en-US" sz="2000" dirty="0">
                <a:solidFill>
                  <a:srgbClr val="273239"/>
                </a:solidFill>
                <a:latin typeface="Nunito" panose="020B0604020202020204" charset="0"/>
              </a:rPr>
              <a:t>: Swaps the contents of two operands.</a:t>
            </a:r>
          </a:p>
          <a:p>
            <a:pPr fontAlgn="base">
              <a:buFont typeface="Arial" panose="020B0604020202020204" pitchFamily="34" charset="0"/>
              <a:buChar char="•"/>
            </a:pPr>
            <a:r>
              <a:rPr lang="en-US" sz="2000" b="1" dirty="0">
                <a:solidFill>
                  <a:srgbClr val="273239"/>
                </a:solidFill>
                <a:latin typeface="Nunito" panose="020B0604020202020204" charset="0"/>
              </a:rPr>
              <a:t>XLAT</a:t>
            </a:r>
            <a:r>
              <a:rPr lang="en-US" sz="2000" dirty="0">
                <a:solidFill>
                  <a:srgbClr val="273239"/>
                </a:solidFill>
                <a:latin typeface="Nunito" panose="020B0604020202020204" charset="0"/>
              </a:rPr>
              <a:t>: Translates a byte in memory using a lookup table pointed to by the contents of the AL register.</a:t>
            </a:r>
          </a:p>
          <a:p>
            <a:pPr fontAlgn="base">
              <a:buFont typeface="Arial" panose="020B0604020202020204" pitchFamily="34" charset="0"/>
              <a:buChar char="•"/>
            </a:pPr>
            <a:r>
              <a:rPr lang="en-US" sz="2000" b="1" dirty="0">
                <a:solidFill>
                  <a:srgbClr val="273239"/>
                </a:solidFill>
                <a:latin typeface="Nunito" panose="020B0604020202020204" charset="0"/>
              </a:rPr>
              <a:t>LEA</a:t>
            </a:r>
            <a:r>
              <a:rPr lang="en-US" sz="2000" dirty="0">
                <a:solidFill>
                  <a:srgbClr val="273239"/>
                </a:solidFill>
                <a:latin typeface="Nunito" panose="020B0604020202020204" charset="0"/>
              </a:rPr>
              <a:t>: Loads a 16-bit offset address into a register.</a:t>
            </a:r>
          </a:p>
          <a:p>
            <a:pPr fontAlgn="base"/>
            <a:r>
              <a:rPr lang="en-US" sz="2000" b="1" dirty="0">
                <a:solidFill>
                  <a:srgbClr val="273239"/>
                </a:solidFill>
                <a:latin typeface="Nunito" panose="020B0604020202020204" charset="0"/>
              </a:rPr>
              <a:t>   </a:t>
            </a:r>
            <a:endParaRPr lang="en-US" sz="2000" dirty="0">
              <a:solidFill>
                <a:srgbClr val="273239"/>
              </a:solidFill>
              <a:latin typeface="Nunito" panose="020B0604020202020204" charset="0"/>
            </a:endParaRPr>
          </a:p>
        </p:txBody>
      </p:sp>
      <p:sp>
        <p:nvSpPr>
          <p:cNvPr id="5" name="Rectangle 4"/>
          <p:cNvSpPr/>
          <p:nvPr/>
        </p:nvSpPr>
        <p:spPr>
          <a:xfrm>
            <a:off x="5694018" y="2199713"/>
            <a:ext cx="6096000" cy="4708981"/>
          </a:xfrm>
          <a:prstGeom prst="rect">
            <a:avLst/>
          </a:prstGeom>
        </p:spPr>
        <p:txBody>
          <a:bodyPr>
            <a:spAutoFit/>
          </a:bodyPr>
          <a:lstStyle/>
          <a:p>
            <a:pPr fontAlgn="base"/>
            <a:r>
              <a:rPr lang="en-US" sz="2000" b="1" dirty="0">
                <a:solidFill>
                  <a:srgbClr val="273239"/>
                </a:solidFill>
                <a:latin typeface="Nunito" panose="020B0604020202020204" charset="0"/>
              </a:rPr>
              <a:t> 2. Load instructions: </a:t>
            </a:r>
            <a:endParaRPr lang="en-US" sz="2000" dirty="0">
              <a:solidFill>
                <a:srgbClr val="273239"/>
              </a:solidFill>
              <a:latin typeface="Nunito" panose="020B0604020202020204" charset="0"/>
            </a:endParaRPr>
          </a:p>
          <a:p>
            <a:pPr fontAlgn="base"/>
            <a:r>
              <a:rPr lang="en-US" sz="2000" dirty="0">
                <a:solidFill>
                  <a:srgbClr val="273239"/>
                </a:solidFill>
                <a:latin typeface="Nunito" panose="020B0604020202020204" charset="0"/>
              </a:rPr>
              <a:t>These instructions are used to load data from a memory location or I/O device into a register. They include the following instructions:</a:t>
            </a:r>
          </a:p>
          <a:p>
            <a:pPr fontAlgn="base">
              <a:buFont typeface="Arial" panose="020B0604020202020204" pitchFamily="34" charset="0"/>
              <a:buChar char="•"/>
            </a:pPr>
            <a:r>
              <a:rPr lang="en-US" sz="2000" b="1" dirty="0">
                <a:solidFill>
                  <a:srgbClr val="273239"/>
                </a:solidFill>
                <a:latin typeface="Nunito" panose="020B0604020202020204" charset="0"/>
              </a:rPr>
              <a:t>LDS</a:t>
            </a:r>
            <a:r>
              <a:rPr lang="en-US" sz="2000" dirty="0">
                <a:solidFill>
                  <a:srgbClr val="273239"/>
                </a:solidFill>
                <a:latin typeface="Nunito" panose="020B0604020202020204" charset="0"/>
              </a:rPr>
              <a:t>: Loads a 16-bit pointer value from a memory location into a register pair and loads the 8-bit value from the next memory location into another register.</a:t>
            </a:r>
          </a:p>
          <a:p>
            <a:pPr fontAlgn="base">
              <a:buFont typeface="Arial" panose="020B0604020202020204" pitchFamily="34" charset="0"/>
              <a:buChar char="•"/>
            </a:pPr>
            <a:r>
              <a:rPr lang="en-US" sz="2000" b="1" dirty="0">
                <a:solidFill>
                  <a:srgbClr val="273239"/>
                </a:solidFill>
                <a:latin typeface="Nunito" panose="020B0604020202020204" charset="0"/>
              </a:rPr>
              <a:t>LSS</a:t>
            </a:r>
            <a:r>
              <a:rPr lang="en-US" sz="2000" dirty="0">
                <a:solidFill>
                  <a:srgbClr val="273239"/>
                </a:solidFill>
                <a:latin typeface="Nunito" panose="020B0604020202020204" charset="0"/>
              </a:rPr>
              <a:t>: Loads a 16-bit pointer value from a memory location into a register pair and loads the 16-bit value from the next memory location into another register.</a:t>
            </a:r>
          </a:p>
          <a:p>
            <a:pPr fontAlgn="base">
              <a:buFont typeface="Arial" panose="020B0604020202020204" pitchFamily="34" charset="0"/>
              <a:buChar char="•"/>
            </a:pPr>
            <a:r>
              <a:rPr lang="en-US" sz="2000" b="1" dirty="0">
                <a:solidFill>
                  <a:srgbClr val="273239"/>
                </a:solidFill>
                <a:latin typeface="Nunito" panose="020B0604020202020204" charset="0"/>
              </a:rPr>
              <a:t>LXI: </a:t>
            </a:r>
            <a:r>
              <a:rPr lang="en-US" sz="2000" dirty="0">
                <a:solidFill>
                  <a:srgbClr val="273239"/>
                </a:solidFill>
                <a:latin typeface="Nunito" panose="020B0604020202020204" charset="0"/>
              </a:rPr>
              <a:t>Loads a 16-bit value into a register pair.</a:t>
            </a:r>
          </a:p>
          <a:p>
            <a:pPr fontAlgn="base">
              <a:buFont typeface="Arial" panose="020B0604020202020204" pitchFamily="34" charset="0"/>
              <a:buChar char="•"/>
            </a:pPr>
            <a:r>
              <a:rPr lang="en-US" sz="2000" dirty="0">
                <a:solidFill>
                  <a:srgbClr val="273239"/>
                </a:solidFill>
                <a:latin typeface="Nunito" panose="020B0604020202020204" charset="0"/>
              </a:rPr>
              <a:t>MOV with memory operand: Loads data from a memory location into a register.</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38"/>
          <p:cNvSpPr txBox="1"/>
          <p:nvPr/>
        </p:nvSpPr>
        <p:spPr>
          <a:xfrm>
            <a:off x="609600" y="0"/>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rgbClr val="C00000"/>
                </a:solidFill>
                <a:latin typeface="Calibri"/>
                <a:ea typeface="Calibri"/>
                <a:cs typeface="Calibri"/>
                <a:sym typeface="Calibri"/>
              </a:rPr>
              <a:t>Data Transfer Instructions</a:t>
            </a:r>
            <a:endParaRPr sz="1400" b="0" i="0" u="none" strike="noStrike" cap="none" dirty="0">
              <a:solidFill>
                <a:srgbClr val="C00000"/>
              </a:solidFill>
              <a:sym typeface="Arial"/>
            </a:endParaRPr>
          </a:p>
        </p:txBody>
      </p:sp>
      <p:sp>
        <p:nvSpPr>
          <p:cNvPr id="516" name="Google Shape;516;p38"/>
          <p:cNvSpPr txBox="1"/>
          <p:nvPr/>
        </p:nvSpPr>
        <p:spPr>
          <a:xfrm>
            <a:off x="609600" y="22479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80000"/>
              </a:lnSpc>
              <a:spcBef>
                <a:spcPts val="0"/>
              </a:spcBef>
              <a:spcAft>
                <a:spcPts val="0"/>
              </a:spcAft>
              <a:buClr>
                <a:srgbClr val="FFC000"/>
              </a:buClr>
              <a:buSzPts val="2500"/>
              <a:buFont typeface="Noto Sans Symbols"/>
              <a:buChar char="⚫"/>
            </a:pPr>
            <a:r>
              <a:rPr lang="en-US" sz="2500" b="1" i="0" u="none" strike="noStrike" cap="none" dirty="0">
                <a:solidFill>
                  <a:schemeClr val="accent6"/>
                </a:solidFill>
                <a:latin typeface="Constantia"/>
                <a:ea typeface="Constantia"/>
                <a:cs typeface="Constantia"/>
                <a:sym typeface="Constantia"/>
              </a:rPr>
              <a:t>MOV Des, </a:t>
            </a:r>
            <a:r>
              <a:rPr lang="en-US" sz="2500" b="1" i="0" u="none" strike="noStrike" cap="none" dirty="0" err="1">
                <a:solidFill>
                  <a:schemeClr val="accent6"/>
                </a:solidFill>
                <a:latin typeface="Constantia"/>
                <a:ea typeface="Constantia"/>
                <a:cs typeface="Constantia"/>
                <a:sym typeface="Constantia"/>
              </a:rPr>
              <a:t>Src</a:t>
            </a:r>
            <a:r>
              <a:rPr lang="en-US" sz="2500" b="1" i="0" u="none" strike="noStrike" cap="none" dirty="0">
                <a:solidFill>
                  <a:schemeClr val="accent6"/>
                </a:solidFill>
                <a:latin typeface="Constantia"/>
                <a:ea typeface="Constantia"/>
                <a:cs typeface="Constantia"/>
                <a:sym typeface="Constantia"/>
              </a:rPr>
              <a:t>:</a:t>
            </a:r>
            <a:endParaRPr sz="1400" b="0" i="0" u="none" strike="noStrike" cap="none" dirty="0">
              <a:solidFill>
                <a:schemeClr val="accent6"/>
              </a:solidFill>
              <a:sym typeface="Arial"/>
            </a:endParaRPr>
          </a:p>
          <a:p>
            <a:pPr marL="628650" marR="0" lvl="1" indent="-239712" algn="l" rtl="0">
              <a:lnSpc>
                <a:spcPct val="80000"/>
              </a:lnSpc>
              <a:spcBef>
                <a:spcPts val="1775"/>
              </a:spcBef>
              <a:spcAft>
                <a:spcPts val="0"/>
              </a:spcAft>
              <a:buClr>
                <a:srgbClr val="FFC000"/>
              </a:buClr>
              <a:buSzPts val="2300"/>
              <a:buFont typeface="Noto Sans Symbols"/>
              <a:buChar char="⚫"/>
            </a:pPr>
            <a:r>
              <a:rPr lang="en-US" sz="2300" b="0" i="0" u="none" strike="noStrike" cap="none" dirty="0">
                <a:solidFill>
                  <a:schemeClr val="accent6"/>
                </a:solidFill>
                <a:latin typeface="Constantia"/>
                <a:ea typeface="Constantia"/>
                <a:cs typeface="Constantia"/>
                <a:sym typeface="Constantia"/>
              </a:rPr>
              <a:t>It is used to copy the content of </a:t>
            </a:r>
            <a:r>
              <a:rPr lang="en-US" sz="2300" b="0" i="0" u="none" strike="noStrike" cap="none" dirty="0" err="1">
                <a:solidFill>
                  <a:schemeClr val="accent6"/>
                </a:solidFill>
                <a:latin typeface="Constantia"/>
                <a:ea typeface="Constantia"/>
                <a:cs typeface="Constantia"/>
                <a:sym typeface="Constantia"/>
              </a:rPr>
              <a:t>Src</a:t>
            </a:r>
            <a:r>
              <a:rPr lang="en-US" sz="2300" b="0" i="0" u="none" strike="noStrike" cap="none" dirty="0">
                <a:solidFill>
                  <a:schemeClr val="accent6"/>
                </a:solidFill>
                <a:latin typeface="Constantia"/>
                <a:ea typeface="Constantia"/>
                <a:cs typeface="Constantia"/>
                <a:sym typeface="Constantia"/>
              </a:rPr>
              <a:t> to Des</a:t>
            </a:r>
            <a:endParaRPr sz="1400" b="0" i="0" u="none" strike="noStrike" cap="none" dirty="0">
              <a:solidFill>
                <a:schemeClr val="accent6"/>
              </a:solidFill>
              <a:sym typeface="Arial"/>
            </a:endParaRPr>
          </a:p>
          <a:p>
            <a:pPr marL="628650" marR="0" lvl="1" indent="-239712" algn="l" rtl="0">
              <a:lnSpc>
                <a:spcPct val="80000"/>
              </a:lnSpc>
              <a:spcBef>
                <a:spcPts val="1775"/>
              </a:spcBef>
              <a:spcAft>
                <a:spcPts val="0"/>
              </a:spcAft>
              <a:buClr>
                <a:srgbClr val="FFC000"/>
              </a:buClr>
              <a:buSzPts val="2300"/>
              <a:buFont typeface="Noto Sans Symbols"/>
              <a:buChar char="⚫"/>
            </a:pPr>
            <a:r>
              <a:rPr lang="en-US" sz="2300" b="0" i="0" u="none" strike="noStrike" cap="none" dirty="0" err="1">
                <a:solidFill>
                  <a:schemeClr val="accent6"/>
                </a:solidFill>
                <a:latin typeface="Constantia"/>
                <a:ea typeface="Constantia"/>
                <a:cs typeface="Constantia"/>
                <a:sym typeface="Constantia"/>
              </a:rPr>
              <a:t>Src</a:t>
            </a:r>
            <a:r>
              <a:rPr lang="en-US" sz="2300" b="0" i="0" u="none" strike="noStrike" cap="none" dirty="0">
                <a:solidFill>
                  <a:schemeClr val="accent6"/>
                </a:solidFill>
                <a:latin typeface="Constantia"/>
                <a:ea typeface="Constantia"/>
                <a:cs typeface="Constantia"/>
                <a:sym typeface="Constantia"/>
              </a:rPr>
              <a:t> operand can be register, memory location or immediate operand.</a:t>
            </a:r>
            <a:endParaRPr sz="1400" b="0" i="0" u="none" strike="noStrike" cap="none" dirty="0">
              <a:solidFill>
                <a:schemeClr val="accent6"/>
              </a:solidFill>
              <a:sym typeface="Arial"/>
            </a:endParaRPr>
          </a:p>
          <a:p>
            <a:pPr marL="628650" marR="0" lvl="1" indent="-239712" algn="l" rtl="0">
              <a:lnSpc>
                <a:spcPct val="80000"/>
              </a:lnSpc>
              <a:spcBef>
                <a:spcPts val="1775"/>
              </a:spcBef>
              <a:spcAft>
                <a:spcPts val="0"/>
              </a:spcAft>
              <a:buClr>
                <a:srgbClr val="FFC000"/>
              </a:buClr>
              <a:buSzPts val="2300"/>
              <a:buFont typeface="Noto Sans Symbols"/>
              <a:buChar char="⚫"/>
            </a:pPr>
            <a:r>
              <a:rPr lang="en-US" sz="2300" b="0" i="0" u="none" strike="noStrike" cap="none" dirty="0">
                <a:solidFill>
                  <a:schemeClr val="accent6"/>
                </a:solidFill>
                <a:latin typeface="Constantia"/>
                <a:ea typeface="Constantia"/>
                <a:cs typeface="Constantia"/>
                <a:sym typeface="Constantia"/>
              </a:rPr>
              <a:t>Des can be register or memory operand.</a:t>
            </a:r>
            <a:endParaRPr sz="1400" b="0" i="0" u="none" strike="noStrike" cap="none" dirty="0">
              <a:solidFill>
                <a:schemeClr val="accent6"/>
              </a:solidFill>
              <a:sym typeface="Arial"/>
            </a:endParaRPr>
          </a:p>
          <a:p>
            <a:pPr marL="628650" marR="0" lvl="1" indent="-239712" algn="l" rtl="0">
              <a:lnSpc>
                <a:spcPct val="80000"/>
              </a:lnSpc>
              <a:spcBef>
                <a:spcPts val="1775"/>
              </a:spcBef>
              <a:spcAft>
                <a:spcPts val="0"/>
              </a:spcAft>
              <a:buClr>
                <a:srgbClr val="FFC000"/>
              </a:buClr>
              <a:buSzPts val="2300"/>
              <a:buFont typeface="Noto Sans Symbols"/>
              <a:buChar char="⚫"/>
            </a:pPr>
            <a:r>
              <a:rPr lang="en-US" sz="2300" b="0" i="0" u="none" strike="noStrike" cap="none" dirty="0">
                <a:solidFill>
                  <a:schemeClr val="accent6"/>
                </a:solidFill>
                <a:latin typeface="Constantia"/>
                <a:ea typeface="Constantia"/>
                <a:cs typeface="Constantia"/>
                <a:sym typeface="Constantia"/>
              </a:rPr>
              <a:t>Both </a:t>
            </a:r>
            <a:r>
              <a:rPr lang="en-US" sz="2300" b="0" i="0" u="none" strike="noStrike" cap="none" dirty="0" err="1">
                <a:solidFill>
                  <a:schemeClr val="accent6"/>
                </a:solidFill>
                <a:latin typeface="Constantia"/>
                <a:ea typeface="Constantia"/>
                <a:cs typeface="Constantia"/>
                <a:sym typeface="Constantia"/>
              </a:rPr>
              <a:t>Src</a:t>
            </a:r>
            <a:r>
              <a:rPr lang="en-US" sz="2300" b="0" i="0" u="none" strike="noStrike" cap="none" dirty="0">
                <a:solidFill>
                  <a:schemeClr val="accent6"/>
                </a:solidFill>
                <a:latin typeface="Constantia"/>
                <a:ea typeface="Constantia"/>
                <a:cs typeface="Constantia"/>
                <a:sym typeface="Constantia"/>
              </a:rPr>
              <a:t> and Des cannot be memory location at the same time.</a:t>
            </a:r>
            <a:endParaRPr sz="1400" b="0" i="0" u="none" strike="noStrike" cap="none" dirty="0">
              <a:solidFill>
                <a:schemeClr val="accent6"/>
              </a:solidFill>
              <a:sym typeface="Arial"/>
            </a:endParaRPr>
          </a:p>
          <a:p>
            <a:pPr marL="628650" marR="0" lvl="1" indent="-239712" algn="l" rtl="0">
              <a:lnSpc>
                <a:spcPct val="80000"/>
              </a:lnSpc>
              <a:spcBef>
                <a:spcPts val="1775"/>
              </a:spcBef>
              <a:spcAft>
                <a:spcPts val="0"/>
              </a:spcAft>
              <a:buClr>
                <a:srgbClr val="FFC000"/>
              </a:buClr>
              <a:buSzPts val="2300"/>
              <a:buFont typeface="Noto Sans Symbols"/>
              <a:buChar char="⚫"/>
            </a:pPr>
            <a:r>
              <a:rPr lang="en-US" sz="2300" b="0" i="0" u="none" strike="noStrike" cap="none" dirty="0">
                <a:solidFill>
                  <a:schemeClr val="accent6"/>
                </a:solidFill>
                <a:latin typeface="Constantia"/>
                <a:ea typeface="Constantia"/>
                <a:cs typeface="Constantia"/>
                <a:sym typeface="Constantia"/>
              </a:rPr>
              <a:t>E.g.:</a:t>
            </a:r>
            <a:endParaRPr sz="1400" b="0" i="0" u="none" strike="noStrike" cap="none" dirty="0">
              <a:solidFill>
                <a:schemeClr val="accent6"/>
              </a:solidFill>
              <a:sym typeface="Arial"/>
            </a:endParaRPr>
          </a:p>
          <a:p>
            <a:pPr marL="903288" marR="0" lvl="2" indent="-236536" algn="l" rtl="0">
              <a:lnSpc>
                <a:spcPct val="80000"/>
              </a:lnSpc>
              <a:spcBef>
                <a:spcPts val="1725"/>
              </a:spcBef>
              <a:spcAft>
                <a:spcPts val="0"/>
              </a:spcAft>
              <a:buClr>
                <a:srgbClr val="FFC000"/>
              </a:buClr>
              <a:buSzPts val="2100"/>
              <a:buFont typeface="Noto Sans Symbols"/>
              <a:buChar char="⚫"/>
            </a:pPr>
            <a:r>
              <a:rPr lang="en-US" sz="2100" b="0" i="0" u="none" strike="noStrike" cap="none" dirty="0">
                <a:solidFill>
                  <a:schemeClr val="accent6"/>
                </a:solidFill>
                <a:latin typeface="Constantia"/>
                <a:ea typeface="Constantia"/>
                <a:cs typeface="Constantia"/>
                <a:sym typeface="Constantia"/>
              </a:rPr>
              <a:t>MOV CX, 037A H</a:t>
            </a:r>
            <a:endParaRPr sz="1400" b="0" i="0" u="none" strike="noStrike" cap="none" dirty="0">
              <a:solidFill>
                <a:schemeClr val="accent6"/>
              </a:solidFill>
              <a:sym typeface="Arial"/>
            </a:endParaRPr>
          </a:p>
          <a:p>
            <a:pPr marL="903288" marR="0" lvl="2" indent="-236536" algn="l" rtl="0">
              <a:lnSpc>
                <a:spcPct val="80000"/>
              </a:lnSpc>
              <a:spcBef>
                <a:spcPts val="1725"/>
              </a:spcBef>
              <a:spcAft>
                <a:spcPts val="0"/>
              </a:spcAft>
              <a:buClr>
                <a:srgbClr val="FFC000"/>
              </a:buClr>
              <a:buSzPts val="2100"/>
              <a:buFont typeface="Noto Sans Symbols"/>
              <a:buChar char="⚫"/>
            </a:pPr>
            <a:r>
              <a:rPr lang="en-US" sz="2100" b="0" i="0" u="none" strike="noStrike" cap="none" dirty="0">
                <a:solidFill>
                  <a:schemeClr val="accent6"/>
                </a:solidFill>
                <a:latin typeface="Constantia"/>
                <a:ea typeface="Constantia"/>
                <a:cs typeface="Constantia"/>
                <a:sym typeface="Constantia"/>
              </a:rPr>
              <a:t>MOV AL, BL</a:t>
            </a:r>
            <a:endParaRPr sz="1400" b="0" i="0" u="none" strike="noStrike" cap="none" dirty="0">
              <a:solidFill>
                <a:schemeClr val="accent6"/>
              </a:solidFill>
              <a:sym typeface="Arial"/>
            </a:endParaRPr>
          </a:p>
          <a:p>
            <a:pPr marL="903288" marR="0" lvl="2" indent="-236536" algn="l" rtl="0">
              <a:lnSpc>
                <a:spcPct val="80000"/>
              </a:lnSpc>
              <a:spcBef>
                <a:spcPts val="1725"/>
              </a:spcBef>
              <a:spcAft>
                <a:spcPts val="0"/>
              </a:spcAft>
              <a:buClr>
                <a:srgbClr val="FFC000"/>
              </a:buClr>
              <a:buSzPts val="2100"/>
              <a:buFont typeface="Noto Sans Symbols"/>
              <a:buChar char="⚫"/>
            </a:pPr>
            <a:r>
              <a:rPr lang="en-US" sz="2100" b="0" i="0" u="none" strike="noStrike" cap="none" dirty="0">
                <a:solidFill>
                  <a:schemeClr val="accent6"/>
                </a:solidFill>
                <a:latin typeface="Constantia"/>
                <a:ea typeface="Constantia"/>
                <a:cs typeface="Constantia"/>
                <a:sym typeface="Constantia"/>
              </a:rPr>
              <a:t>MOV BX, [0301 H]</a:t>
            </a:r>
            <a:endParaRPr sz="1400" b="0" i="0" u="none" strike="noStrike" cap="none" dirty="0">
              <a:solidFill>
                <a:schemeClr val="accent6"/>
              </a:solidFill>
              <a:sym typeface="Arial"/>
            </a:endParaRPr>
          </a:p>
        </p:txBody>
      </p:sp>
      <p:sp>
        <p:nvSpPr>
          <p:cNvPr id="517" name="Google Shape;517;p38"/>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27</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39"/>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1"/>
                </a:solidFill>
                <a:latin typeface="Calibri"/>
                <a:ea typeface="Calibri"/>
                <a:cs typeface="Calibri"/>
                <a:sym typeface="Calibri"/>
              </a:rPr>
              <a:t>Data Transfer Instructions</a:t>
            </a:r>
            <a:endParaRPr sz="1400" b="0" i="0" u="none" strike="noStrike" cap="none">
              <a:solidFill>
                <a:schemeClr val="accent1"/>
              </a:solidFill>
              <a:latin typeface="Arial"/>
              <a:ea typeface="Arial"/>
              <a:cs typeface="Arial"/>
              <a:sym typeface="Arial"/>
            </a:endParaRPr>
          </a:p>
        </p:txBody>
      </p:sp>
      <p:sp>
        <p:nvSpPr>
          <p:cNvPr id="525" name="Google Shape;525;p39"/>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90000"/>
              </a:lnSpc>
              <a:spcBef>
                <a:spcPts val="0"/>
              </a:spcBef>
              <a:spcAft>
                <a:spcPts val="0"/>
              </a:spcAft>
              <a:buClr>
                <a:srgbClr val="FFC000"/>
              </a:buClr>
              <a:buSzPts val="2500"/>
              <a:buFont typeface="Noto Sans Symbols"/>
              <a:buChar char="⚫"/>
            </a:pPr>
            <a:r>
              <a:rPr lang="en-US" sz="2500" b="1" i="0" u="none" strike="noStrike" cap="none">
                <a:solidFill>
                  <a:srgbClr val="FFC000"/>
                </a:solidFill>
                <a:latin typeface="Constantia"/>
                <a:ea typeface="Constantia"/>
                <a:cs typeface="Constantia"/>
                <a:sym typeface="Constantia"/>
              </a:rPr>
              <a:t>PUSH Operand:</a:t>
            </a:r>
            <a:endParaRPr sz="1400" b="0" i="0" u="none" strike="noStrike" cap="none">
              <a:solidFill>
                <a:srgbClr val="FFC000"/>
              </a:solidFill>
              <a:latin typeface="Arial"/>
              <a:ea typeface="Arial"/>
              <a:cs typeface="Arial"/>
              <a:sym typeface="Arial"/>
            </a:endParaRPr>
          </a:p>
          <a:p>
            <a:pPr marL="628650" marR="0" lvl="1" indent="-239712" algn="l" rtl="0">
              <a:lnSpc>
                <a:spcPct val="90000"/>
              </a:lnSpc>
              <a:spcBef>
                <a:spcPts val="1775"/>
              </a:spcBef>
              <a:spcAft>
                <a:spcPts val="0"/>
              </a:spcAft>
              <a:buClr>
                <a:srgbClr val="FFC000"/>
              </a:buClr>
              <a:buSzPts val="2300"/>
              <a:buFont typeface="Noto Sans Symbols"/>
              <a:buChar char="⚫"/>
            </a:pPr>
            <a:r>
              <a:rPr lang="en-US" sz="2300" b="0" i="0" u="none" strike="noStrike" cap="none">
                <a:solidFill>
                  <a:srgbClr val="FFC000"/>
                </a:solidFill>
                <a:latin typeface="Constantia"/>
                <a:ea typeface="Constantia"/>
                <a:cs typeface="Constantia"/>
                <a:sym typeface="Constantia"/>
              </a:rPr>
              <a:t>It pushes the operand into top of stack.</a:t>
            </a:r>
            <a:endParaRPr sz="1400" b="0" i="0" u="none" strike="noStrike" cap="none">
              <a:solidFill>
                <a:srgbClr val="FFC000"/>
              </a:solidFill>
              <a:latin typeface="Arial"/>
              <a:ea typeface="Arial"/>
              <a:cs typeface="Arial"/>
              <a:sym typeface="Arial"/>
            </a:endParaRPr>
          </a:p>
          <a:p>
            <a:pPr marL="628650" marR="0" lvl="1" indent="-239712" algn="l" rtl="0">
              <a:lnSpc>
                <a:spcPct val="90000"/>
              </a:lnSpc>
              <a:spcBef>
                <a:spcPts val="1775"/>
              </a:spcBef>
              <a:spcAft>
                <a:spcPts val="0"/>
              </a:spcAft>
              <a:buClr>
                <a:srgbClr val="FFC000"/>
              </a:buClr>
              <a:buSzPts val="2300"/>
              <a:buFont typeface="Noto Sans Symbols"/>
              <a:buChar char="⚫"/>
            </a:pPr>
            <a:r>
              <a:rPr lang="en-US" sz="2300" b="0" i="0" u="none" strike="noStrike" cap="none">
                <a:solidFill>
                  <a:srgbClr val="FFC000"/>
                </a:solidFill>
                <a:latin typeface="Constantia"/>
                <a:ea typeface="Constantia"/>
                <a:cs typeface="Constantia"/>
                <a:sym typeface="Constantia"/>
              </a:rPr>
              <a:t>E.g.: PUSH BX</a:t>
            </a:r>
            <a:endParaRPr sz="1400" b="0" i="0" u="none" strike="noStrike" cap="none">
              <a:solidFill>
                <a:srgbClr val="FFC000"/>
              </a:solidFill>
              <a:latin typeface="Arial"/>
              <a:ea typeface="Arial"/>
              <a:cs typeface="Arial"/>
              <a:sym typeface="Arial"/>
            </a:endParaRPr>
          </a:p>
          <a:p>
            <a:pPr marL="263525" marR="0" lvl="0" indent="-261938" algn="l" rtl="0">
              <a:lnSpc>
                <a:spcPct val="90000"/>
              </a:lnSpc>
              <a:spcBef>
                <a:spcPts val="1825"/>
              </a:spcBef>
              <a:spcAft>
                <a:spcPts val="0"/>
              </a:spcAft>
              <a:buClr>
                <a:schemeClr val="lt1"/>
              </a:buClr>
              <a:buSzPts val="2500"/>
              <a:buFont typeface="Century Gothic"/>
              <a:buNone/>
            </a:pPr>
            <a:endParaRPr sz="2500" b="0" i="0" u="none" strike="noStrike" cap="none">
              <a:solidFill>
                <a:srgbClr val="FFC000"/>
              </a:solidFill>
              <a:latin typeface="Constantia"/>
              <a:ea typeface="Constantia"/>
              <a:cs typeface="Constantia"/>
              <a:sym typeface="Constantia"/>
            </a:endParaRPr>
          </a:p>
          <a:p>
            <a:pPr marL="261938" marR="0" lvl="0" indent="-261938" algn="l" rtl="0">
              <a:lnSpc>
                <a:spcPct val="90000"/>
              </a:lnSpc>
              <a:spcBef>
                <a:spcPts val="1825"/>
              </a:spcBef>
              <a:spcAft>
                <a:spcPts val="0"/>
              </a:spcAft>
              <a:buClr>
                <a:srgbClr val="FFC000"/>
              </a:buClr>
              <a:buSzPts val="2500"/>
              <a:buFont typeface="Noto Sans Symbols"/>
              <a:buChar char="⚫"/>
            </a:pPr>
            <a:r>
              <a:rPr lang="en-US" sz="2500" b="1" i="0" u="none" strike="noStrike" cap="none">
                <a:solidFill>
                  <a:srgbClr val="FFC000"/>
                </a:solidFill>
                <a:latin typeface="Constantia"/>
                <a:ea typeface="Constantia"/>
                <a:cs typeface="Constantia"/>
                <a:sym typeface="Constantia"/>
              </a:rPr>
              <a:t>POP Des:</a:t>
            </a:r>
            <a:endParaRPr sz="1400" b="0" i="0" u="none" strike="noStrike" cap="none">
              <a:solidFill>
                <a:srgbClr val="FFC000"/>
              </a:solidFill>
              <a:latin typeface="Arial"/>
              <a:ea typeface="Arial"/>
              <a:cs typeface="Arial"/>
              <a:sym typeface="Arial"/>
            </a:endParaRPr>
          </a:p>
          <a:p>
            <a:pPr marL="628650" marR="0" lvl="1" indent="-239712" algn="l" rtl="0">
              <a:lnSpc>
                <a:spcPct val="90000"/>
              </a:lnSpc>
              <a:spcBef>
                <a:spcPts val="1775"/>
              </a:spcBef>
              <a:spcAft>
                <a:spcPts val="0"/>
              </a:spcAft>
              <a:buClr>
                <a:srgbClr val="FFC000"/>
              </a:buClr>
              <a:buSzPts val="2300"/>
              <a:buFont typeface="Noto Sans Symbols"/>
              <a:buChar char="⚫"/>
            </a:pPr>
            <a:r>
              <a:rPr lang="en-US" sz="2300" b="0" i="0" u="none" strike="noStrike" cap="none">
                <a:solidFill>
                  <a:srgbClr val="FFC000"/>
                </a:solidFill>
                <a:latin typeface="Constantia"/>
                <a:ea typeface="Constantia"/>
                <a:cs typeface="Constantia"/>
                <a:sym typeface="Constantia"/>
              </a:rPr>
              <a:t>It pops the operand from top of stack to Des.</a:t>
            </a:r>
            <a:endParaRPr sz="1400" b="0" i="0" u="none" strike="noStrike" cap="none">
              <a:solidFill>
                <a:srgbClr val="FFC000"/>
              </a:solidFill>
              <a:latin typeface="Arial"/>
              <a:ea typeface="Arial"/>
              <a:cs typeface="Arial"/>
              <a:sym typeface="Arial"/>
            </a:endParaRPr>
          </a:p>
          <a:p>
            <a:pPr marL="628650" marR="0" lvl="1" indent="-239712" algn="l" rtl="0">
              <a:lnSpc>
                <a:spcPct val="90000"/>
              </a:lnSpc>
              <a:spcBef>
                <a:spcPts val="1775"/>
              </a:spcBef>
              <a:spcAft>
                <a:spcPts val="0"/>
              </a:spcAft>
              <a:buClr>
                <a:srgbClr val="FFC000"/>
              </a:buClr>
              <a:buSzPts val="2300"/>
              <a:buFont typeface="Noto Sans Symbols"/>
              <a:buChar char="⚫"/>
            </a:pPr>
            <a:r>
              <a:rPr lang="en-US" sz="2300" b="0" i="0" u="none" strike="noStrike" cap="none">
                <a:solidFill>
                  <a:srgbClr val="FFC000"/>
                </a:solidFill>
                <a:latin typeface="Constantia"/>
                <a:ea typeface="Constantia"/>
                <a:cs typeface="Constantia"/>
                <a:sym typeface="Constantia"/>
              </a:rPr>
              <a:t>Des can be a general purpose register, segment register (except CS) or memory location.</a:t>
            </a:r>
            <a:endParaRPr sz="1400" b="0" i="0" u="none" strike="noStrike" cap="none">
              <a:solidFill>
                <a:srgbClr val="FFC000"/>
              </a:solidFill>
              <a:latin typeface="Arial"/>
              <a:ea typeface="Arial"/>
              <a:cs typeface="Arial"/>
              <a:sym typeface="Arial"/>
            </a:endParaRPr>
          </a:p>
          <a:p>
            <a:pPr marL="628650" marR="0" lvl="1" indent="-239712" algn="l" rtl="0">
              <a:lnSpc>
                <a:spcPct val="90000"/>
              </a:lnSpc>
              <a:spcBef>
                <a:spcPts val="1775"/>
              </a:spcBef>
              <a:spcAft>
                <a:spcPts val="0"/>
              </a:spcAft>
              <a:buClr>
                <a:srgbClr val="FFC000"/>
              </a:buClr>
              <a:buSzPts val="2300"/>
              <a:buFont typeface="Noto Sans Symbols"/>
              <a:buChar char="⚫"/>
            </a:pPr>
            <a:r>
              <a:rPr lang="en-US" sz="2300" b="0" i="0" u="none" strike="noStrike" cap="none">
                <a:solidFill>
                  <a:srgbClr val="FFC000"/>
                </a:solidFill>
                <a:latin typeface="Constantia"/>
                <a:ea typeface="Constantia"/>
                <a:cs typeface="Constantia"/>
                <a:sym typeface="Constantia"/>
              </a:rPr>
              <a:t>E.g.: POP AX</a:t>
            </a:r>
            <a:endParaRPr sz="1400" b="0" i="0" u="none" strike="noStrike" cap="none">
              <a:solidFill>
                <a:srgbClr val="FFC000"/>
              </a:solidFill>
              <a:latin typeface="Arial"/>
              <a:ea typeface="Arial"/>
              <a:cs typeface="Arial"/>
              <a:sym typeface="Arial"/>
            </a:endParaRPr>
          </a:p>
        </p:txBody>
      </p:sp>
      <p:sp>
        <p:nvSpPr>
          <p:cNvPr id="526" name="Google Shape;526;p39"/>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28</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40"/>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1"/>
                </a:solidFill>
                <a:latin typeface="Calibri"/>
                <a:ea typeface="Calibri"/>
                <a:cs typeface="Calibri"/>
                <a:sym typeface="Calibri"/>
              </a:rPr>
              <a:t>Data Transfer Instructions</a:t>
            </a:r>
            <a:endParaRPr sz="1400" b="0" i="0" u="none" strike="noStrike" cap="none">
              <a:solidFill>
                <a:schemeClr val="accent1"/>
              </a:solidFill>
              <a:latin typeface="Arial"/>
              <a:ea typeface="Arial"/>
              <a:cs typeface="Arial"/>
              <a:sym typeface="Arial"/>
            </a:endParaRPr>
          </a:p>
        </p:txBody>
      </p:sp>
      <p:sp>
        <p:nvSpPr>
          <p:cNvPr id="534" name="Google Shape;534;p40"/>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FC000"/>
              </a:buClr>
              <a:buSzPts val="2500"/>
              <a:buFont typeface="Noto Sans Symbols"/>
              <a:buChar char="⚫"/>
            </a:pPr>
            <a:r>
              <a:rPr lang="en-US" sz="2500" b="1" i="0" u="none" strike="noStrike" cap="none">
                <a:solidFill>
                  <a:srgbClr val="FFC000"/>
                </a:solidFill>
                <a:latin typeface="Constantia"/>
                <a:ea typeface="Constantia"/>
                <a:cs typeface="Constantia"/>
                <a:sym typeface="Constantia"/>
              </a:rPr>
              <a:t>XCHG Des, Src:</a:t>
            </a:r>
            <a:endParaRPr sz="1400" b="0" i="0" u="none" strike="noStrike" cap="none">
              <a:solidFill>
                <a:srgbClr val="FFC000"/>
              </a:solidFill>
              <a:latin typeface="Arial"/>
              <a:ea typeface="Arial"/>
              <a:cs typeface="Arial"/>
              <a:sym typeface="Arial"/>
            </a:endParaRPr>
          </a:p>
          <a:p>
            <a:pPr marL="628650" marR="0" lvl="1" indent="-239712" algn="l" rtl="0">
              <a:lnSpc>
                <a:spcPct val="100000"/>
              </a:lnSpc>
              <a:spcBef>
                <a:spcPts val="1775"/>
              </a:spcBef>
              <a:spcAft>
                <a:spcPts val="0"/>
              </a:spcAft>
              <a:buClr>
                <a:srgbClr val="FFC000"/>
              </a:buClr>
              <a:buSzPts val="2300"/>
              <a:buFont typeface="Noto Sans Symbols"/>
              <a:buChar char="⚫"/>
            </a:pPr>
            <a:r>
              <a:rPr lang="en-US" sz="2300" b="0" i="0" u="none" strike="noStrike" cap="none">
                <a:solidFill>
                  <a:srgbClr val="FFC000"/>
                </a:solidFill>
                <a:latin typeface="Constantia"/>
                <a:ea typeface="Constantia"/>
                <a:cs typeface="Constantia"/>
                <a:sym typeface="Constantia"/>
              </a:rPr>
              <a:t>This instruction exchanges Src with Des.</a:t>
            </a:r>
            <a:endParaRPr sz="1400" b="0" i="0" u="none" strike="noStrike" cap="none">
              <a:solidFill>
                <a:srgbClr val="FFC000"/>
              </a:solidFill>
              <a:latin typeface="Arial"/>
              <a:ea typeface="Arial"/>
              <a:cs typeface="Arial"/>
              <a:sym typeface="Arial"/>
            </a:endParaRPr>
          </a:p>
          <a:p>
            <a:pPr marL="628650" marR="0" lvl="1" indent="-239712" algn="l" rtl="0">
              <a:lnSpc>
                <a:spcPct val="100000"/>
              </a:lnSpc>
              <a:spcBef>
                <a:spcPts val="1775"/>
              </a:spcBef>
              <a:spcAft>
                <a:spcPts val="0"/>
              </a:spcAft>
              <a:buClr>
                <a:srgbClr val="FFC000"/>
              </a:buClr>
              <a:buSzPts val="2300"/>
              <a:buFont typeface="Noto Sans Symbols"/>
              <a:buChar char="⚫"/>
            </a:pPr>
            <a:r>
              <a:rPr lang="en-US" sz="2300" b="0" i="0" u="none" strike="noStrike" cap="none">
                <a:solidFill>
                  <a:srgbClr val="FFC000"/>
                </a:solidFill>
                <a:latin typeface="Constantia"/>
                <a:ea typeface="Constantia"/>
                <a:cs typeface="Constantia"/>
                <a:sym typeface="Constantia"/>
              </a:rPr>
              <a:t>It cannot exchange two memory locations directly.</a:t>
            </a:r>
            <a:endParaRPr sz="1400" b="0" i="0" u="none" strike="noStrike" cap="none">
              <a:solidFill>
                <a:srgbClr val="FFC000"/>
              </a:solidFill>
              <a:latin typeface="Arial"/>
              <a:ea typeface="Arial"/>
              <a:cs typeface="Arial"/>
              <a:sym typeface="Arial"/>
            </a:endParaRPr>
          </a:p>
          <a:p>
            <a:pPr marL="628650" marR="0" lvl="1" indent="-239712" algn="l" rtl="0">
              <a:lnSpc>
                <a:spcPct val="100000"/>
              </a:lnSpc>
              <a:spcBef>
                <a:spcPts val="1775"/>
              </a:spcBef>
              <a:spcAft>
                <a:spcPts val="0"/>
              </a:spcAft>
              <a:buClr>
                <a:srgbClr val="FFC000"/>
              </a:buClr>
              <a:buSzPts val="2300"/>
              <a:buFont typeface="Noto Sans Symbols"/>
              <a:buChar char="⚫"/>
            </a:pPr>
            <a:r>
              <a:rPr lang="en-US" sz="2300" b="0" i="0" u="none" strike="noStrike" cap="none">
                <a:solidFill>
                  <a:srgbClr val="FFC000"/>
                </a:solidFill>
                <a:latin typeface="Constantia"/>
                <a:ea typeface="Constantia"/>
                <a:cs typeface="Constantia"/>
                <a:sym typeface="Constantia"/>
              </a:rPr>
              <a:t>E.g.: XCHG DX, AX</a:t>
            </a:r>
            <a:endParaRPr sz="1400" b="0" i="0" u="none" strike="noStrike" cap="none">
              <a:solidFill>
                <a:srgbClr val="FFC000"/>
              </a:solidFill>
              <a:latin typeface="Arial"/>
              <a:ea typeface="Arial"/>
              <a:cs typeface="Arial"/>
              <a:sym typeface="Arial"/>
            </a:endParaRPr>
          </a:p>
        </p:txBody>
      </p:sp>
      <p:sp>
        <p:nvSpPr>
          <p:cNvPr id="535" name="Google Shape;535;p40"/>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29</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41"/>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1"/>
                </a:solidFill>
                <a:latin typeface="Calibri"/>
                <a:ea typeface="Calibri"/>
                <a:cs typeface="Calibri"/>
                <a:sym typeface="Calibri"/>
              </a:rPr>
              <a:t>Data Transfer Instructions</a:t>
            </a:r>
            <a:endParaRPr sz="1400" b="0" i="0" u="none" strike="noStrike" cap="none">
              <a:solidFill>
                <a:schemeClr val="accent1"/>
              </a:solidFill>
              <a:latin typeface="Arial"/>
              <a:ea typeface="Arial"/>
              <a:cs typeface="Arial"/>
              <a:sym typeface="Arial"/>
            </a:endParaRPr>
          </a:p>
        </p:txBody>
      </p:sp>
      <p:sp>
        <p:nvSpPr>
          <p:cNvPr id="543" name="Google Shape;543;p41"/>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FC000"/>
              </a:buClr>
              <a:buSzPts val="2300"/>
              <a:buFont typeface="Noto Sans Symbols"/>
              <a:buChar char="⚫"/>
            </a:pPr>
            <a:r>
              <a:rPr lang="en-US" sz="2300" b="1" i="0" u="none" strike="noStrike" cap="none">
                <a:solidFill>
                  <a:srgbClr val="FFC000"/>
                </a:solidFill>
                <a:latin typeface="Constantia"/>
                <a:ea typeface="Constantia"/>
                <a:cs typeface="Constantia"/>
                <a:sym typeface="Constantia"/>
              </a:rPr>
              <a:t>IN Accumulator, Port Address:</a:t>
            </a:r>
            <a:endParaRPr sz="1400" b="0" i="0" u="none" strike="noStrike" cap="none">
              <a:solidFill>
                <a:srgbClr val="FFC000"/>
              </a:solidFill>
              <a:latin typeface="Arial"/>
              <a:ea typeface="Arial"/>
              <a:cs typeface="Arial"/>
              <a:sym typeface="Arial"/>
            </a:endParaRPr>
          </a:p>
          <a:p>
            <a:pPr marL="628650" marR="0" lvl="1" indent="-239712" algn="l" rtl="0">
              <a:lnSpc>
                <a:spcPct val="100000"/>
              </a:lnSpc>
              <a:spcBef>
                <a:spcPts val="1725"/>
              </a:spcBef>
              <a:spcAft>
                <a:spcPts val="0"/>
              </a:spcAft>
              <a:buClr>
                <a:srgbClr val="FFC000"/>
              </a:buClr>
              <a:buSzPts val="2100"/>
              <a:buFont typeface="Noto Sans Symbols"/>
              <a:buChar char="⚫"/>
            </a:pPr>
            <a:r>
              <a:rPr lang="en-US" sz="2100" b="0" i="0" u="none" strike="noStrike" cap="none">
                <a:solidFill>
                  <a:srgbClr val="FFC000"/>
                </a:solidFill>
                <a:latin typeface="Constantia"/>
                <a:ea typeface="Constantia"/>
                <a:cs typeface="Constantia"/>
                <a:sym typeface="Constantia"/>
              </a:rPr>
              <a:t>It transfers the operand from specified port to accumulator register.</a:t>
            </a:r>
            <a:endParaRPr sz="1400" b="0" i="0" u="none" strike="noStrike" cap="none">
              <a:solidFill>
                <a:srgbClr val="FFC000"/>
              </a:solidFill>
              <a:latin typeface="Arial"/>
              <a:ea typeface="Arial"/>
              <a:cs typeface="Arial"/>
              <a:sym typeface="Arial"/>
            </a:endParaRPr>
          </a:p>
          <a:p>
            <a:pPr marL="628650" marR="0" lvl="1" indent="-239712" algn="l" rtl="0">
              <a:lnSpc>
                <a:spcPct val="100000"/>
              </a:lnSpc>
              <a:spcBef>
                <a:spcPts val="1725"/>
              </a:spcBef>
              <a:spcAft>
                <a:spcPts val="0"/>
              </a:spcAft>
              <a:buClr>
                <a:srgbClr val="FFC000"/>
              </a:buClr>
              <a:buSzPts val="2100"/>
              <a:buFont typeface="Noto Sans Symbols"/>
              <a:buChar char="⚫"/>
            </a:pPr>
            <a:r>
              <a:rPr lang="en-US" sz="2100" b="0" i="0" u="none" strike="noStrike" cap="none">
                <a:solidFill>
                  <a:srgbClr val="FFC000"/>
                </a:solidFill>
                <a:latin typeface="Constantia"/>
                <a:ea typeface="Constantia"/>
                <a:cs typeface="Constantia"/>
                <a:sym typeface="Constantia"/>
              </a:rPr>
              <a:t>E.g.: IN AX, 0028 H</a:t>
            </a:r>
            <a:endParaRPr sz="1400" b="0" i="0" u="none" strike="noStrike" cap="none">
              <a:solidFill>
                <a:srgbClr val="FFC000"/>
              </a:solidFill>
              <a:latin typeface="Arial"/>
              <a:ea typeface="Arial"/>
              <a:cs typeface="Arial"/>
              <a:sym typeface="Arial"/>
            </a:endParaRPr>
          </a:p>
          <a:p>
            <a:pPr marL="263525" marR="0" lvl="0" indent="-261938" algn="l" rtl="0">
              <a:lnSpc>
                <a:spcPct val="100000"/>
              </a:lnSpc>
              <a:spcBef>
                <a:spcPts val="1775"/>
              </a:spcBef>
              <a:spcAft>
                <a:spcPts val="0"/>
              </a:spcAft>
              <a:buClr>
                <a:schemeClr val="lt1"/>
              </a:buClr>
              <a:buSzPts val="2300"/>
              <a:buFont typeface="Century Gothic"/>
              <a:buNone/>
            </a:pPr>
            <a:endParaRPr sz="2300" b="0" i="0" u="none" strike="noStrike" cap="none">
              <a:solidFill>
                <a:srgbClr val="FFC000"/>
              </a:solidFill>
              <a:latin typeface="Constantia"/>
              <a:ea typeface="Constantia"/>
              <a:cs typeface="Constantia"/>
              <a:sym typeface="Constantia"/>
            </a:endParaRPr>
          </a:p>
          <a:p>
            <a:pPr marL="261938" marR="0" lvl="0" indent="-261938" algn="l" rtl="0">
              <a:lnSpc>
                <a:spcPct val="100000"/>
              </a:lnSpc>
              <a:spcBef>
                <a:spcPts val="1775"/>
              </a:spcBef>
              <a:spcAft>
                <a:spcPts val="0"/>
              </a:spcAft>
              <a:buClr>
                <a:srgbClr val="FFC000"/>
              </a:buClr>
              <a:buSzPts val="2300"/>
              <a:buFont typeface="Noto Sans Symbols"/>
              <a:buChar char="⚫"/>
            </a:pPr>
            <a:r>
              <a:rPr lang="en-US" sz="2300" b="1" i="0" u="none" strike="noStrike" cap="none">
                <a:solidFill>
                  <a:srgbClr val="FFC000"/>
                </a:solidFill>
                <a:latin typeface="Constantia"/>
                <a:ea typeface="Constantia"/>
                <a:cs typeface="Constantia"/>
                <a:sym typeface="Constantia"/>
              </a:rPr>
              <a:t>OUT Port Address, Accumulator:</a:t>
            </a:r>
            <a:endParaRPr sz="1400" b="0" i="0" u="none" strike="noStrike" cap="none">
              <a:solidFill>
                <a:srgbClr val="FFC000"/>
              </a:solidFill>
              <a:latin typeface="Arial"/>
              <a:ea typeface="Arial"/>
              <a:cs typeface="Arial"/>
              <a:sym typeface="Arial"/>
            </a:endParaRPr>
          </a:p>
          <a:p>
            <a:pPr marL="628650" marR="0" lvl="1" indent="-239712" algn="l" rtl="0">
              <a:lnSpc>
                <a:spcPct val="100000"/>
              </a:lnSpc>
              <a:spcBef>
                <a:spcPts val="1725"/>
              </a:spcBef>
              <a:spcAft>
                <a:spcPts val="0"/>
              </a:spcAft>
              <a:buClr>
                <a:srgbClr val="FFC000"/>
              </a:buClr>
              <a:buSzPts val="2100"/>
              <a:buFont typeface="Noto Sans Symbols"/>
              <a:buChar char="⚫"/>
            </a:pPr>
            <a:r>
              <a:rPr lang="en-US" sz="2100" b="0" i="0" u="none" strike="noStrike" cap="none">
                <a:solidFill>
                  <a:srgbClr val="FFC000"/>
                </a:solidFill>
                <a:latin typeface="Constantia"/>
                <a:ea typeface="Constantia"/>
                <a:cs typeface="Constantia"/>
                <a:sym typeface="Constantia"/>
              </a:rPr>
              <a:t>It transfers the operand from accumulator to specified port.</a:t>
            </a:r>
            <a:endParaRPr sz="1400" b="0" i="0" u="none" strike="noStrike" cap="none">
              <a:solidFill>
                <a:srgbClr val="FFC000"/>
              </a:solidFill>
              <a:latin typeface="Arial"/>
              <a:ea typeface="Arial"/>
              <a:cs typeface="Arial"/>
              <a:sym typeface="Arial"/>
            </a:endParaRPr>
          </a:p>
          <a:p>
            <a:pPr marL="628650" marR="0" lvl="1" indent="-239712" algn="l" rtl="0">
              <a:lnSpc>
                <a:spcPct val="100000"/>
              </a:lnSpc>
              <a:spcBef>
                <a:spcPts val="1725"/>
              </a:spcBef>
              <a:spcAft>
                <a:spcPts val="0"/>
              </a:spcAft>
              <a:buClr>
                <a:srgbClr val="FFC000"/>
              </a:buClr>
              <a:buSzPts val="2100"/>
              <a:buFont typeface="Noto Sans Symbols"/>
              <a:buChar char="⚫"/>
            </a:pPr>
            <a:r>
              <a:rPr lang="en-US" sz="2100" b="0" i="0" u="none" strike="noStrike" cap="none">
                <a:solidFill>
                  <a:srgbClr val="FFC000"/>
                </a:solidFill>
                <a:latin typeface="Constantia"/>
                <a:ea typeface="Constantia"/>
                <a:cs typeface="Constantia"/>
                <a:sym typeface="Constantia"/>
              </a:rPr>
              <a:t>E.g.: OUT 0028 H, AX</a:t>
            </a:r>
            <a:endParaRPr sz="1400" b="0" i="0" u="none" strike="noStrike" cap="none">
              <a:solidFill>
                <a:srgbClr val="FFC000"/>
              </a:solidFill>
              <a:latin typeface="Arial"/>
              <a:ea typeface="Arial"/>
              <a:cs typeface="Arial"/>
              <a:sym typeface="Arial"/>
            </a:endParaRPr>
          </a:p>
        </p:txBody>
      </p:sp>
      <p:sp>
        <p:nvSpPr>
          <p:cNvPr id="544" name="Google Shape;544;p41"/>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30</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42"/>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1"/>
                </a:solidFill>
                <a:latin typeface="Calibri"/>
                <a:ea typeface="Calibri"/>
                <a:cs typeface="Calibri"/>
                <a:sym typeface="Calibri"/>
              </a:rPr>
              <a:t>Data Transfer Instructions</a:t>
            </a:r>
            <a:endParaRPr sz="1400" b="0" i="0" u="none" strike="noStrike" cap="none">
              <a:solidFill>
                <a:schemeClr val="accent1"/>
              </a:solidFill>
              <a:latin typeface="Arial"/>
              <a:ea typeface="Arial"/>
              <a:cs typeface="Arial"/>
              <a:sym typeface="Arial"/>
            </a:endParaRPr>
          </a:p>
        </p:txBody>
      </p:sp>
      <p:sp>
        <p:nvSpPr>
          <p:cNvPr id="552" name="Google Shape;552;p42"/>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3600"/>
              <a:buFont typeface="Noto Sans Symbols"/>
              <a:buChar char="⚫"/>
            </a:pPr>
            <a:r>
              <a:rPr lang="en-US" sz="3600" b="1" i="0" u="none" strike="noStrike" cap="none">
                <a:solidFill>
                  <a:srgbClr val="F3A447"/>
                </a:solidFill>
                <a:latin typeface="Constantia"/>
                <a:ea typeface="Constantia"/>
                <a:cs typeface="Constantia"/>
                <a:sym typeface="Constantia"/>
              </a:rPr>
              <a:t>LEA  Register, Src:</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2000"/>
              </a:spcBef>
              <a:spcAft>
                <a:spcPts val="0"/>
              </a:spcAft>
              <a:buClr>
                <a:srgbClr val="F3A447"/>
              </a:buClr>
              <a:buSzPts val="3200"/>
              <a:buFont typeface="Noto Sans Symbols"/>
              <a:buChar char="⚫"/>
            </a:pPr>
            <a:r>
              <a:rPr lang="en-US" sz="3200" b="0" i="0" u="none" strike="noStrike" cap="none">
                <a:solidFill>
                  <a:srgbClr val="F3A447"/>
                </a:solidFill>
                <a:latin typeface="Constantia"/>
                <a:ea typeface="Constantia"/>
                <a:cs typeface="Constantia"/>
                <a:sym typeface="Constantia"/>
              </a:rPr>
              <a:t>It loads a 16-bit register with the offset address of the data specified by the Src.</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2000"/>
              </a:spcBef>
              <a:spcAft>
                <a:spcPts val="0"/>
              </a:spcAft>
              <a:buClr>
                <a:srgbClr val="F3A447"/>
              </a:buClr>
              <a:buSzPts val="3200"/>
              <a:buFont typeface="Noto Sans Symbols"/>
              <a:buChar char="⚫"/>
            </a:pPr>
            <a:r>
              <a:rPr lang="en-US" sz="3200" b="0" i="0" u="none" strike="noStrike" cap="none">
                <a:solidFill>
                  <a:srgbClr val="F3A447"/>
                </a:solidFill>
                <a:latin typeface="Constantia"/>
                <a:ea typeface="Constantia"/>
                <a:cs typeface="Constantia"/>
                <a:sym typeface="Constantia"/>
              </a:rPr>
              <a:t>E.g.: LEA BX, [DI]</a:t>
            </a:r>
            <a:endParaRPr sz="1400" b="0" i="0" u="none" strike="noStrike" cap="none">
              <a:solidFill>
                <a:srgbClr val="F3A447"/>
              </a:solidFill>
              <a:latin typeface="Arial"/>
              <a:ea typeface="Arial"/>
              <a:cs typeface="Arial"/>
              <a:sym typeface="Arial"/>
            </a:endParaRPr>
          </a:p>
          <a:p>
            <a:pPr marL="903288" marR="0" lvl="2" indent="-236537" algn="l" rtl="0">
              <a:lnSpc>
                <a:spcPct val="100000"/>
              </a:lnSpc>
              <a:spcBef>
                <a:spcPts val="1900"/>
              </a:spcBef>
              <a:spcAft>
                <a:spcPts val="0"/>
              </a:spcAft>
              <a:buClr>
                <a:srgbClr val="F3A447"/>
              </a:buClr>
              <a:buSzPts val="2800"/>
              <a:buFont typeface="Noto Sans Symbols"/>
              <a:buChar char="⚫"/>
            </a:pPr>
            <a:r>
              <a:rPr lang="en-US" sz="2800" b="0" i="0" u="none" strike="noStrike" cap="none">
                <a:solidFill>
                  <a:srgbClr val="F3A447"/>
                </a:solidFill>
                <a:latin typeface="Constantia"/>
                <a:ea typeface="Constantia"/>
                <a:cs typeface="Constantia"/>
                <a:sym typeface="Constantia"/>
              </a:rPr>
              <a:t>This instruction loads the contents of DI (offset) into the BX register.</a:t>
            </a:r>
            <a:endParaRPr sz="1400" b="0" i="0" u="none" strike="noStrike" cap="none">
              <a:solidFill>
                <a:srgbClr val="F3A447"/>
              </a:solidFill>
              <a:latin typeface="Arial"/>
              <a:ea typeface="Arial"/>
              <a:cs typeface="Arial"/>
              <a:sym typeface="Arial"/>
            </a:endParaRPr>
          </a:p>
        </p:txBody>
      </p:sp>
      <p:sp>
        <p:nvSpPr>
          <p:cNvPr id="553" name="Google Shape;553;p42"/>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31</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43"/>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1"/>
                </a:solidFill>
                <a:latin typeface="Calibri"/>
                <a:ea typeface="Calibri"/>
                <a:cs typeface="Calibri"/>
                <a:sym typeface="Calibri"/>
              </a:rPr>
              <a:t>Data Transfer Instructions</a:t>
            </a:r>
            <a:endParaRPr sz="1400" b="0" i="0" u="none" strike="noStrike" cap="none">
              <a:solidFill>
                <a:schemeClr val="accent1"/>
              </a:solidFill>
              <a:latin typeface="Arial"/>
              <a:ea typeface="Arial"/>
              <a:cs typeface="Arial"/>
              <a:sym typeface="Arial"/>
            </a:endParaRPr>
          </a:p>
        </p:txBody>
      </p:sp>
      <p:sp>
        <p:nvSpPr>
          <p:cNvPr id="561" name="Google Shape;561;p43"/>
          <p:cNvSpPr txBox="1"/>
          <p:nvPr/>
        </p:nvSpPr>
        <p:spPr>
          <a:xfrm>
            <a:off x="5715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2800"/>
              <a:buFont typeface="Noto Sans Symbols"/>
              <a:buChar char="⚫"/>
            </a:pPr>
            <a:r>
              <a:rPr lang="en-US" sz="2800" b="1" i="0" u="none" strike="noStrike" cap="none">
                <a:solidFill>
                  <a:srgbClr val="F3A447"/>
                </a:solidFill>
                <a:latin typeface="Constantia"/>
                <a:ea typeface="Constantia"/>
                <a:cs typeface="Constantia"/>
                <a:sym typeface="Constantia"/>
              </a:rPr>
              <a:t>LDS Des, Src:</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It loads 32-bit pointer from memory source to destination register  and DS.</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The word is placed in the destination register and the segment is placed in DS.</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This instruction Copies the word at the lower memory address to the Des reg and the word at the higher address to the segment reg i.e. DS.</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E.g.: LDS BX, [0301 H]</a:t>
            </a:r>
            <a:endParaRPr sz="1400" b="0" i="0" u="none" strike="noStrike" cap="none">
              <a:solidFill>
                <a:srgbClr val="F3A447"/>
              </a:solidFill>
              <a:latin typeface="Arial"/>
              <a:ea typeface="Arial"/>
              <a:cs typeface="Arial"/>
              <a:sym typeface="Arial"/>
            </a:endParaRPr>
          </a:p>
        </p:txBody>
      </p:sp>
      <p:sp>
        <p:nvSpPr>
          <p:cNvPr id="562" name="Google Shape;562;p43"/>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32</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44"/>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2"/>
                </a:solidFill>
                <a:latin typeface="Calibri"/>
                <a:ea typeface="Calibri"/>
                <a:cs typeface="Calibri"/>
                <a:sym typeface="Calibri"/>
              </a:rPr>
              <a:t>Data Transfer Instructions</a:t>
            </a:r>
            <a:endParaRPr sz="1400" b="0" i="0" u="none" strike="noStrike" cap="none">
              <a:solidFill>
                <a:schemeClr val="accent2"/>
              </a:solidFill>
              <a:latin typeface="Arial"/>
              <a:ea typeface="Arial"/>
              <a:cs typeface="Arial"/>
              <a:sym typeface="Arial"/>
            </a:endParaRPr>
          </a:p>
        </p:txBody>
      </p:sp>
      <p:sp>
        <p:nvSpPr>
          <p:cNvPr id="570" name="Google Shape;570;p44"/>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2800"/>
              <a:buFont typeface="Noto Sans Symbols"/>
              <a:buChar char="⚫"/>
            </a:pPr>
            <a:r>
              <a:rPr lang="en-US" sz="2800" b="1" i="0" u="none" strike="noStrike" cap="none">
                <a:solidFill>
                  <a:srgbClr val="F3A447"/>
                </a:solidFill>
                <a:latin typeface="Constantia"/>
                <a:ea typeface="Constantia"/>
                <a:cs typeface="Constantia"/>
                <a:sym typeface="Constantia"/>
              </a:rPr>
              <a:t>LES Des, Src:</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It loads 32-bit pointer from memory source to destination register and ES.</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The Word is placed in the destination register and the segment is placed in ES.</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This instruction is very similar to LDS except that it initializes ES instead of DS.</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E.g.: LES BX, [0301 H]</a:t>
            </a:r>
            <a:endParaRPr sz="1400" b="0" i="0" u="none" strike="noStrike" cap="none">
              <a:solidFill>
                <a:srgbClr val="F3A447"/>
              </a:solidFill>
              <a:latin typeface="Arial"/>
              <a:ea typeface="Arial"/>
              <a:cs typeface="Arial"/>
              <a:sym typeface="Arial"/>
            </a:endParaRPr>
          </a:p>
        </p:txBody>
      </p:sp>
      <p:sp>
        <p:nvSpPr>
          <p:cNvPr id="571" name="Google Shape;571;p44"/>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33</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5"/>
          <p:cNvSpPr txBox="1"/>
          <p:nvPr/>
        </p:nvSpPr>
        <p:spPr>
          <a:xfrm>
            <a:off x="512625" y="704851"/>
            <a:ext cx="10972800" cy="866700"/>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2"/>
                </a:solidFill>
                <a:latin typeface="Calibri"/>
                <a:ea typeface="Calibri"/>
                <a:cs typeface="Calibri"/>
                <a:sym typeface="Calibri"/>
              </a:rPr>
              <a:t>Data Transfer Instructions</a:t>
            </a:r>
            <a:endParaRPr sz="1400" b="0" i="0" u="none" strike="noStrike" cap="none">
              <a:solidFill>
                <a:schemeClr val="accent2"/>
              </a:solidFill>
              <a:latin typeface="Arial"/>
              <a:ea typeface="Arial"/>
              <a:cs typeface="Arial"/>
              <a:sym typeface="Arial"/>
            </a:endParaRPr>
          </a:p>
        </p:txBody>
      </p:sp>
      <p:sp>
        <p:nvSpPr>
          <p:cNvPr id="579" name="Google Shape;579;p45"/>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F9900"/>
              </a:buClr>
              <a:buSzPts val="2100"/>
              <a:buFont typeface="Noto Sans Symbols"/>
              <a:buChar char="⚫"/>
            </a:pPr>
            <a:r>
              <a:rPr lang="en-US" sz="2100" b="1" i="0" u="none" strike="noStrike" cap="none">
                <a:solidFill>
                  <a:srgbClr val="FF9900"/>
                </a:solidFill>
                <a:latin typeface="Constantia"/>
                <a:ea typeface="Constantia"/>
                <a:cs typeface="Constantia"/>
                <a:sym typeface="Constantia"/>
              </a:rPr>
              <a:t>LAHF:</a:t>
            </a:r>
            <a:endParaRPr sz="1400" b="0" i="0" u="none" strike="noStrike" cap="none">
              <a:solidFill>
                <a:srgbClr val="FF9900"/>
              </a:solidFill>
              <a:latin typeface="Arial"/>
              <a:ea typeface="Arial"/>
              <a:cs typeface="Arial"/>
              <a:sym typeface="Arial"/>
            </a:endParaRPr>
          </a:p>
          <a:p>
            <a:pPr marL="628650" marR="0" lvl="1" indent="-239712" algn="l" rtl="0">
              <a:lnSpc>
                <a:spcPct val="100000"/>
              </a:lnSpc>
              <a:spcBef>
                <a:spcPts val="1675"/>
              </a:spcBef>
              <a:spcAft>
                <a:spcPts val="0"/>
              </a:spcAft>
              <a:buClr>
                <a:srgbClr val="FF9900"/>
              </a:buClr>
              <a:buSzPts val="1900"/>
              <a:buFont typeface="Noto Sans Symbols"/>
              <a:buChar char="⚫"/>
            </a:pPr>
            <a:r>
              <a:rPr lang="en-US" sz="1900" b="0" i="0" u="none" strike="noStrike" cap="none">
                <a:solidFill>
                  <a:srgbClr val="FF9900"/>
                </a:solidFill>
                <a:latin typeface="Constantia"/>
                <a:ea typeface="Constantia"/>
                <a:cs typeface="Constantia"/>
                <a:sym typeface="Constantia"/>
              </a:rPr>
              <a:t>It copies the lower byte of flag register to AH.</a:t>
            </a:r>
            <a:endParaRPr sz="1400" b="0" i="0" u="none" strike="noStrike" cap="none">
              <a:solidFill>
                <a:srgbClr val="FF9900"/>
              </a:solidFill>
              <a:latin typeface="Arial"/>
              <a:ea typeface="Arial"/>
              <a:cs typeface="Arial"/>
              <a:sym typeface="Arial"/>
            </a:endParaRPr>
          </a:p>
          <a:p>
            <a:pPr marL="261938" marR="0" lvl="0" indent="-261938" algn="l" rtl="0">
              <a:lnSpc>
                <a:spcPct val="100000"/>
              </a:lnSpc>
              <a:spcBef>
                <a:spcPts val="1725"/>
              </a:spcBef>
              <a:spcAft>
                <a:spcPts val="0"/>
              </a:spcAft>
              <a:buClr>
                <a:srgbClr val="FF9900"/>
              </a:buClr>
              <a:buSzPts val="2100"/>
              <a:buFont typeface="Noto Sans Symbols"/>
              <a:buChar char="⚫"/>
            </a:pPr>
            <a:r>
              <a:rPr lang="en-US" sz="2100" b="1" i="0" u="none" strike="noStrike" cap="none">
                <a:solidFill>
                  <a:srgbClr val="FF9900"/>
                </a:solidFill>
                <a:latin typeface="Constantia"/>
                <a:ea typeface="Constantia"/>
                <a:cs typeface="Constantia"/>
                <a:sym typeface="Constantia"/>
              </a:rPr>
              <a:t>SAHF:</a:t>
            </a:r>
            <a:endParaRPr sz="1400" b="0" i="0" u="none" strike="noStrike" cap="none">
              <a:solidFill>
                <a:srgbClr val="FF9900"/>
              </a:solidFill>
              <a:latin typeface="Arial"/>
              <a:ea typeface="Arial"/>
              <a:cs typeface="Arial"/>
              <a:sym typeface="Arial"/>
            </a:endParaRPr>
          </a:p>
          <a:p>
            <a:pPr marL="628650" marR="0" lvl="1" indent="-239712" algn="l" rtl="0">
              <a:lnSpc>
                <a:spcPct val="100000"/>
              </a:lnSpc>
              <a:spcBef>
                <a:spcPts val="1675"/>
              </a:spcBef>
              <a:spcAft>
                <a:spcPts val="0"/>
              </a:spcAft>
              <a:buClr>
                <a:srgbClr val="FF9900"/>
              </a:buClr>
              <a:buSzPts val="1900"/>
              <a:buFont typeface="Noto Sans Symbols"/>
              <a:buChar char="⚫"/>
            </a:pPr>
            <a:r>
              <a:rPr lang="en-US" sz="1900" b="0" i="0" u="none" strike="noStrike" cap="none">
                <a:solidFill>
                  <a:srgbClr val="FF9900"/>
                </a:solidFill>
                <a:latin typeface="Constantia"/>
                <a:ea typeface="Constantia"/>
                <a:cs typeface="Constantia"/>
                <a:sym typeface="Constantia"/>
              </a:rPr>
              <a:t>It copies the contents of AH to lower byte of flag register.</a:t>
            </a:r>
            <a:endParaRPr sz="1400" b="0" i="0" u="none" strike="noStrike" cap="none">
              <a:solidFill>
                <a:srgbClr val="FF9900"/>
              </a:solidFill>
              <a:latin typeface="Arial"/>
              <a:ea typeface="Arial"/>
              <a:cs typeface="Arial"/>
              <a:sym typeface="Arial"/>
            </a:endParaRPr>
          </a:p>
          <a:p>
            <a:pPr marL="261938" marR="0" lvl="0" indent="-261938" algn="l" rtl="0">
              <a:lnSpc>
                <a:spcPct val="100000"/>
              </a:lnSpc>
              <a:spcBef>
                <a:spcPts val="1725"/>
              </a:spcBef>
              <a:spcAft>
                <a:spcPts val="0"/>
              </a:spcAft>
              <a:buClr>
                <a:srgbClr val="FF9900"/>
              </a:buClr>
              <a:buSzPts val="2100"/>
              <a:buFont typeface="Noto Sans Symbols"/>
              <a:buChar char="⚫"/>
            </a:pPr>
            <a:r>
              <a:rPr lang="en-US" sz="2100" b="1" i="0" u="none" strike="noStrike" cap="none">
                <a:solidFill>
                  <a:srgbClr val="FF9900"/>
                </a:solidFill>
                <a:latin typeface="Constantia"/>
                <a:ea typeface="Constantia"/>
                <a:cs typeface="Constantia"/>
                <a:sym typeface="Constantia"/>
              </a:rPr>
              <a:t>PUSHF:</a:t>
            </a:r>
            <a:endParaRPr sz="1400" b="0" i="0" u="none" strike="noStrike" cap="none">
              <a:solidFill>
                <a:srgbClr val="FF9900"/>
              </a:solidFill>
              <a:latin typeface="Arial"/>
              <a:ea typeface="Arial"/>
              <a:cs typeface="Arial"/>
              <a:sym typeface="Arial"/>
            </a:endParaRPr>
          </a:p>
          <a:p>
            <a:pPr marL="628650" marR="0" lvl="1" indent="-239712" algn="l" rtl="0">
              <a:lnSpc>
                <a:spcPct val="100000"/>
              </a:lnSpc>
              <a:spcBef>
                <a:spcPts val="1675"/>
              </a:spcBef>
              <a:spcAft>
                <a:spcPts val="0"/>
              </a:spcAft>
              <a:buClr>
                <a:srgbClr val="FF9900"/>
              </a:buClr>
              <a:buSzPts val="1900"/>
              <a:buFont typeface="Noto Sans Symbols"/>
              <a:buChar char="⚫"/>
            </a:pPr>
            <a:r>
              <a:rPr lang="en-US" sz="1900" b="0" i="0" u="none" strike="noStrike" cap="none">
                <a:solidFill>
                  <a:srgbClr val="FF9900"/>
                </a:solidFill>
                <a:latin typeface="Constantia"/>
                <a:ea typeface="Constantia"/>
                <a:cs typeface="Constantia"/>
                <a:sym typeface="Constantia"/>
              </a:rPr>
              <a:t>Pushes flag register to top of stack.</a:t>
            </a:r>
            <a:endParaRPr sz="1400" b="0" i="0" u="none" strike="noStrike" cap="none">
              <a:solidFill>
                <a:srgbClr val="FF9900"/>
              </a:solidFill>
              <a:latin typeface="Arial"/>
              <a:ea typeface="Arial"/>
              <a:cs typeface="Arial"/>
              <a:sym typeface="Arial"/>
            </a:endParaRPr>
          </a:p>
          <a:p>
            <a:pPr marL="261938" marR="0" lvl="0" indent="-261938" algn="l" rtl="0">
              <a:lnSpc>
                <a:spcPct val="100000"/>
              </a:lnSpc>
              <a:spcBef>
                <a:spcPts val="1725"/>
              </a:spcBef>
              <a:spcAft>
                <a:spcPts val="0"/>
              </a:spcAft>
              <a:buClr>
                <a:srgbClr val="FF9900"/>
              </a:buClr>
              <a:buSzPts val="2100"/>
              <a:buFont typeface="Noto Sans Symbols"/>
              <a:buChar char="⚫"/>
            </a:pPr>
            <a:r>
              <a:rPr lang="en-US" sz="2100" b="1" i="0" u="none" strike="noStrike" cap="none">
                <a:solidFill>
                  <a:srgbClr val="FF9900"/>
                </a:solidFill>
                <a:latin typeface="Constantia"/>
                <a:ea typeface="Constantia"/>
                <a:cs typeface="Constantia"/>
                <a:sym typeface="Constantia"/>
              </a:rPr>
              <a:t>POPF:</a:t>
            </a:r>
            <a:endParaRPr sz="1400" b="0" i="0" u="none" strike="noStrike" cap="none">
              <a:solidFill>
                <a:srgbClr val="FF9900"/>
              </a:solidFill>
              <a:latin typeface="Arial"/>
              <a:ea typeface="Arial"/>
              <a:cs typeface="Arial"/>
              <a:sym typeface="Arial"/>
            </a:endParaRPr>
          </a:p>
          <a:p>
            <a:pPr marL="628650" marR="0" lvl="1" indent="-239712" algn="l" rtl="0">
              <a:lnSpc>
                <a:spcPct val="100000"/>
              </a:lnSpc>
              <a:spcBef>
                <a:spcPts val="1675"/>
              </a:spcBef>
              <a:spcAft>
                <a:spcPts val="0"/>
              </a:spcAft>
              <a:buClr>
                <a:srgbClr val="FF9900"/>
              </a:buClr>
              <a:buSzPts val="1900"/>
              <a:buFont typeface="Noto Sans Symbols"/>
              <a:buChar char="⚫"/>
            </a:pPr>
            <a:r>
              <a:rPr lang="en-US" sz="1900" b="0" i="0" u="none" strike="noStrike" cap="none">
                <a:solidFill>
                  <a:srgbClr val="FF9900"/>
                </a:solidFill>
                <a:latin typeface="Constantia"/>
                <a:ea typeface="Constantia"/>
                <a:cs typeface="Constantia"/>
                <a:sym typeface="Constantia"/>
              </a:rPr>
              <a:t>Pops the stack top to flag register.</a:t>
            </a:r>
            <a:endParaRPr sz="1400" b="0" i="0" u="none" strike="noStrike" cap="none">
              <a:solidFill>
                <a:srgbClr val="FF9900"/>
              </a:solidFill>
              <a:latin typeface="Arial"/>
              <a:ea typeface="Arial"/>
              <a:cs typeface="Arial"/>
              <a:sym typeface="Arial"/>
            </a:endParaRPr>
          </a:p>
        </p:txBody>
      </p:sp>
      <p:sp>
        <p:nvSpPr>
          <p:cNvPr id="580" name="Google Shape;580;p45"/>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34</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46"/>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3600"/>
              <a:buFont typeface="Calibri"/>
              <a:buNone/>
            </a:pPr>
            <a:r>
              <a:rPr lang="en-US" sz="3600" b="1" i="0" u="none" strike="noStrike" cap="none">
                <a:solidFill>
                  <a:schemeClr val="accent1"/>
                </a:solidFill>
                <a:latin typeface="Calibri"/>
                <a:ea typeface="Calibri"/>
                <a:cs typeface="Calibri"/>
                <a:sym typeface="Calibri"/>
              </a:rPr>
              <a:t>3. Branch/Program Execution Transfer Instructions</a:t>
            </a:r>
            <a:endParaRPr sz="1400" b="0" i="0" u="none" strike="noStrike" cap="none">
              <a:solidFill>
                <a:schemeClr val="accent1"/>
              </a:solidFill>
              <a:latin typeface="Arial"/>
              <a:ea typeface="Arial"/>
              <a:cs typeface="Arial"/>
              <a:sym typeface="Arial"/>
            </a:endParaRPr>
          </a:p>
        </p:txBody>
      </p:sp>
      <p:sp>
        <p:nvSpPr>
          <p:cNvPr id="588" name="Google Shape;588;p46"/>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2600"/>
              <a:buFont typeface="Noto Sans Symbols"/>
              <a:buChar char="⚫"/>
            </a:pPr>
            <a:r>
              <a:rPr lang="en-US" sz="2600" b="0" i="0" u="none" strike="noStrike" cap="none">
                <a:solidFill>
                  <a:srgbClr val="F3A447"/>
                </a:solidFill>
                <a:latin typeface="Constantia"/>
                <a:ea typeface="Constantia"/>
                <a:cs typeface="Constantia"/>
                <a:sym typeface="Constantia"/>
              </a:rPr>
              <a:t>These instructions cause change in the sequence of the execution of instruction.</a:t>
            </a:r>
            <a:endParaRPr sz="1400" b="0" i="0" u="none" strike="noStrike" cap="none">
              <a:solidFill>
                <a:srgbClr val="F3A447"/>
              </a:solidFill>
              <a:latin typeface="Arial"/>
              <a:ea typeface="Arial"/>
              <a:cs typeface="Arial"/>
              <a:sym typeface="Arial"/>
            </a:endParaRPr>
          </a:p>
          <a:p>
            <a:pPr marL="261938" marR="0" lvl="0" indent="-261938" algn="l" rtl="0">
              <a:lnSpc>
                <a:spcPct val="100000"/>
              </a:lnSpc>
              <a:spcBef>
                <a:spcPts val="1850"/>
              </a:spcBef>
              <a:spcAft>
                <a:spcPts val="0"/>
              </a:spcAft>
              <a:buClr>
                <a:srgbClr val="F3A447"/>
              </a:buClr>
              <a:buSzPts val="2600"/>
              <a:buFont typeface="Noto Sans Symbols"/>
              <a:buChar char="⚫"/>
            </a:pPr>
            <a:r>
              <a:rPr lang="en-US" sz="2600" b="0" i="0" u="none" strike="noStrike" cap="none">
                <a:solidFill>
                  <a:srgbClr val="F3A447"/>
                </a:solidFill>
                <a:latin typeface="Constantia"/>
                <a:ea typeface="Constantia"/>
                <a:cs typeface="Constantia"/>
                <a:sym typeface="Constantia"/>
              </a:rPr>
              <a:t>This change can be a conditional or sometimes unconditional.</a:t>
            </a:r>
            <a:endParaRPr sz="1400" b="0" i="0" u="none" strike="noStrike" cap="none">
              <a:solidFill>
                <a:srgbClr val="F3A447"/>
              </a:solidFill>
              <a:latin typeface="Arial"/>
              <a:ea typeface="Arial"/>
              <a:cs typeface="Arial"/>
              <a:sym typeface="Arial"/>
            </a:endParaRPr>
          </a:p>
          <a:p>
            <a:pPr marL="261938" marR="0" lvl="0" indent="-261938" algn="l" rtl="0">
              <a:lnSpc>
                <a:spcPct val="100000"/>
              </a:lnSpc>
              <a:spcBef>
                <a:spcPts val="1850"/>
              </a:spcBef>
              <a:spcAft>
                <a:spcPts val="0"/>
              </a:spcAft>
              <a:buClr>
                <a:srgbClr val="F3A447"/>
              </a:buClr>
              <a:buSzPts val="2600"/>
              <a:buFont typeface="Noto Sans Symbols"/>
              <a:buChar char="⚫"/>
            </a:pPr>
            <a:r>
              <a:rPr lang="en-US" sz="2600" b="0" i="0" u="none" strike="noStrike" cap="none">
                <a:solidFill>
                  <a:srgbClr val="F3A447"/>
                </a:solidFill>
                <a:latin typeface="Constantia"/>
                <a:ea typeface="Constantia"/>
                <a:cs typeface="Constantia"/>
                <a:sym typeface="Constantia"/>
              </a:rPr>
              <a:t>The conditions are represented by flags.</a:t>
            </a:r>
            <a:endParaRPr sz="1400" b="0" i="0" u="none" strike="noStrike" cap="none">
              <a:solidFill>
                <a:srgbClr val="F3A447"/>
              </a:solidFill>
              <a:latin typeface="Arial"/>
              <a:ea typeface="Arial"/>
              <a:cs typeface="Arial"/>
              <a:sym typeface="Arial"/>
            </a:endParaRPr>
          </a:p>
        </p:txBody>
      </p:sp>
      <p:sp>
        <p:nvSpPr>
          <p:cNvPr id="589" name="Google Shape;589;p46"/>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35</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47"/>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3600"/>
              <a:buFont typeface="Calibri"/>
              <a:buNone/>
            </a:pPr>
            <a:r>
              <a:rPr lang="en-US" sz="3600" b="1" i="0" u="none" strike="noStrike" cap="none">
                <a:solidFill>
                  <a:schemeClr val="accent1"/>
                </a:solidFill>
                <a:latin typeface="Calibri"/>
                <a:ea typeface="Calibri"/>
                <a:cs typeface="Calibri"/>
                <a:sym typeface="Calibri"/>
              </a:rPr>
              <a:t>Branch Instructions</a:t>
            </a:r>
            <a:endParaRPr sz="1400" b="0" i="0" u="none" strike="noStrike" cap="none">
              <a:solidFill>
                <a:schemeClr val="accent1"/>
              </a:solidFill>
              <a:latin typeface="Arial"/>
              <a:ea typeface="Arial"/>
              <a:cs typeface="Arial"/>
              <a:sym typeface="Arial"/>
            </a:endParaRPr>
          </a:p>
        </p:txBody>
      </p:sp>
      <p:sp>
        <p:nvSpPr>
          <p:cNvPr id="597" name="Google Shape;597;p47"/>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2600"/>
              <a:buFont typeface="Noto Sans Symbols"/>
              <a:buChar char="⚫"/>
            </a:pPr>
            <a:r>
              <a:rPr lang="en-US" sz="2600" b="1" i="0" u="none" strike="noStrike" cap="none">
                <a:solidFill>
                  <a:srgbClr val="F3A447"/>
                </a:solidFill>
                <a:latin typeface="Constantia"/>
                <a:ea typeface="Constantia"/>
                <a:cs typeface="Constantia"/>
                <a:sym typeface="Constantia"/>
              </a:rPr>
              <a:t>CALL Des:</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This instruction is used to call a subroutine or function or procedure.</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The address of next instruction after CALL is saved onto stack.</a:t>
            </a:r>
            <a:endParaRPr sz="1400" b="0" i="0" u="none" strike="noStrike" cap="none">
              <a:solidFill>
                <a:srgbClr val="F3A447"/>
              </a:solidFill>
              <a:latin typeface="Arial"/>
              <a:ea typeface="Arial"/>
              <a:cs typeface="Arial"/>
              <a:sym typeface="Arial"/>
            </a:endParaRPr>
          </a:p>
          <a:p>
            <a:pPr marL="261938" marR="0" lvl="0" indent="-261938" algn="l" rtl="0">
              <a:lnSpc>
                <a:spcPct val="100000"/>
              </a:lnSpc>
              <a:spcBef>
                <a:spcPts val="1850"/>
              </a:spcBef>
              <a:spcAft>
                <a:spcPts val="0"/>
              </a:spcAft>
              <a:buClr>
                <a:srgbClr val="F3A447"/>
              </a:buClr>
              <a:buSzPts val="2600"/>
              <a:buFont typeface="Noto Sans Symbols"/>
              <a:buChar char="⚫"/>
            </a:pPr>
            <a:r>
              <a:rPr lang="en-US" sz="2600" b="1" i="0" u="none" strike="noStrike" cap="none">
                <a:solidFill>
                  <a:srgbClr val="F3A447"/>
                </a:solidFill>
                <a:latin typeface="Constantia"/>
                <a:ea typeface="Constantia"/>
                <a:cs typeface="Constantia"/>
                <a:sym typeface="Constantia"/>
              </a:rPr>
              <a:t>RET:</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It returns the control from procedure to calling program.</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Every CALL instruction should have a RET.</a:t>
            </a:r>
            <a:endParaRPr sz="1400" b="0" i="0" u="none" strike="noStrike" cap="none">
              <a:solidFill>
                <a:srgbClr val="F3A447"/>
              </a:solidFill>
              <a:latin typeface="Arial"/>
              <a:ea typeface="Arial"/>
              <a:cs typeface="Arial"/>
              <a:sym typeface="Arial"/>
            </a:endParaRPr>
          </a:p>
        </p:txBody>
      </p:sp>
      <p:sp>
        <p:nvSpPr>
          <p:cNvPr id="598" name="Google Shape;598;p47"/>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36</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48"/>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3600"/>
              <a:buFont typeface="Calibri"/>
              <a:buNone/>
            </a:pPr>
            <a:r>
              <a:rPr lang="en-US" sz="3600" b="1" i="0" u="none" strike="noStrike" cap="none">
                <a:solidFill>
                  <a:schemeClr val="accent1"/>
                </a:solidFill>
                <a:latin typeface="Calibri"/>
                <a:ea typeface="Calibri"/>
                <a:cs typeface="Calibri"/>
                <a:sym typeface="Calibri"/>
              </a:rPr>
              <a:t>Branch Instructions</a:t>
            </a:r>
            <a:endParaRPr sz="1400" b="0" i="0" u="none" strike="noStrike" cap="none">
              <a:solidFill>
                <a:schemeClr val="accent1"/>
              </a:solidFill>
              <a:latin typeface="Arial"/>
              <a:ea typeface="Arial"/>
              <a:cs typeface="Arial"/>
              <a:sym typeface="Arial"/>
            </a:endParaRPr>
          </a:p>
        </p:txBody>
      </p:sp>
      <p:sp>
        <p:nvSpPr>
          <p:cNvPr id="606" name="Google Shape;606;p48"/>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2600"/>
              <a:buFont typeface="Noto Sans Symbols"/>
              <a:buChar char="⚫"/>
            </a:pPr>
            <a:r>
              <a:rPr lang="en-US" sz="2600" b="1" i="0" u="none" strike="noStrike" cap="none">
                <a:solidFill>
                  <a:srgbClr val="F3A447"/>
                </a:solidFill>
                <a:latin typeface="Constantia"/>
                <a:ea typeface="Constantia"/>
                <a:cs typeface="Constantia"/>
                <a:sym typeface="Constantia"/>
              </a:rPr>
              <a:t>JMP Des:</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This instruction is used for unconditional jump from one place to another.</a:t>
            </a:r>
            <a:endParaRPr sz="1400" b="0" i="0" u="none" strike="noStrike" cap="none">
              <a:solidFill>
                <a:srgbClr val="F3A447"/>
              </a:solidFill>
              <a:latin typeface="Arial"/>
              <a:ea typeface="Arial"/>
              <a:cs typeface="Arial"/>
              <a:sym typeface="Arial"/>
            </a:endParaRPr>
          </a:p>
          <a:p>
            <a:pPr marL="263525" marR="0" lvl="0" indent="-261938" algn="l" rtl="0">
              <a:lnSpc>
                <a:spcPct val="100000"/>
              </a:lnSpc>
              <a:spcBef>
                <a:spcPts val="1850"/>
              </a:spcBef>
              <a:spcAft>
                <a:spcPts val="0"/>
              </a:spcAft>
              <a:buClr>
                <a:schemeClr val="lt1"/>
              </a:buClr>
              <a:buSzPts val="2600"/>
              <a:buFont typeface="Century Gothic"/>
              <a:buNone/>
            </a:pPr>
            <a:endParaRPr sz="2600" b="0" i="0" u="none" strike="noStrike" cap="none">
              <a:solidFill>
                <a:srgbClr val="F3A447"/>
              </a:solidFill>
              <a:latin typeface="Constantia"/>
              <a:ea typeface="Constantia"/>
              <a:cs typeface="Constantia"/>
              <a:sym typeface="Constantia"/>
            </a:endParaRPr>
          </a:p>
          <a:p>
            <a:pPr marL="261938" marR="0" lvl="0" indent="-261938" algn="l" rtl="0">
              <a:lnSpc>
                <a:spcPct val="100000"/>
              </a:lnSpc>
              <a:spcBef>
                <a:spcPts val="1850"/>
              </a:spcBef>
              <a:spcAft>
                <a:spcPts val="0"/>
              </a:spcAft>
              <a:buClr>
                <a:srgbClr val="F3A447"/>
              </a:buClr>
              <a:buSzPts val="2600"/>
              <a:buFont typeface="Noto Sans Symbols"/>
              <a:buChar char="⚫"/>
            </a:pPr>
            <a:r>
              <a:rPr lang="en-US" sz="2600" b="1" i="0" u="none" strike="noStrike" cap="none">
                <a:solidFill>
                  <a:srgbClr val="F3A447"/>
                </a:solidFill>
                <a:latin typeface="Constantia"/>
                <a:ea typeface="Constantia"/>
                <a:cs typeface="Constantia"/>
                <a:sym typeface="Constantia"/>
              </a:rPr>
              <a:t>Jxx Des (Conditional Jump):</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All the conditional jumps follow some conditional statements or any instruction that affects the flag.</a:t>
            </a:r>
            <a:endParaRPr sz="1400" b="0" i="0" u="none" strike="noStrike" cap="none">
              <a:solidFill>
                <a:srgbClr val="F3A447"/>
              </a:solidFill>
              <a:latin typeface="Arial"/>
              <a:ea typeface="Arial"/>
              <a:cs typeface="Arial"/>
              <a:sym typeface="Arial"/>
            </a:endParaRPr>
          </a:p>
        </p:txBody>
      </p:sp>
      <p:sp>
        <p:nvSpPr>
          <p:cNvPr id="607" name="Google Shape;607;p48"/>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37</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49"/>
          <p:cNvSpPr txBox="1"/>
          <p:nvPr/>
        </p:nvSpPr>
        <p:spPr>
          <a:xfrm>
            <a:off x="670985" y="144463"/>
            <a:ext cx="10814049" cy="519112"/>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2400"/>
              <a:buFont typeface="Calibri"/>
              <a:buNone/>
            </a:pPr>
            <a:r>
              <a:rPr lang="en-US" sz="2400" b="1" i="0" u="none" strike="noStrike" cap="none">
                <a:solidFill>
                  <a:srgbClr val="444D26"/>
                </a:solidFill>
                <a:latin typeface="Calibri"/>
                <a:ea typeface="Calibri"/>
                <a:cs typeface="Calibri"/>
                <a:sym typeface="Calibri"/>
              </a:rPr>
              <a:t>Conditional Jump Table</a:t>
            </a:r>
            <a:endParaRPr sz="1400" b="0" i="0" u="none" strike="noStrike" cap="none">
              <a:solidFill>
                <a:srgbClr val="000000"/>
              </a:solidFill>
              <a:latin typeface="Arial"/>
              <a:ea typeface="Arial"/>
              <a:cs typeface="Arial"/>
              <a:sym typeface="Arial"/>
            </a:endParaRPr>
          </a:p>
        </p:txBody>
      </p:sp>
      <p:graphicFrame>
        <p:nvGraphicFramePr>
          <p:cNvPr id="615" name="Google Shape;615;p49"/>
          <p:cNvGraphicFramePr/>
          <p:nvPr/>
        </p:nvGraphicFramePr>
        <p:xfrm>
          <a:off x="2161118" y="619126"/>
          <a:ext cx="8470900" cy="6926425"/>
        </p:xfrm>
        <a:graphic>
          <a:graphicData uri="http://schemas.openxmlformats.org/drawingml/2006/table">
            <a:tbl>
              <a:tblPr>
                <a:noFill/>
                <a:tableStyleId>{E6DCE0E3-F7EA-4585-BB5F-C700E1D9A5F3}</a:tableStyleId>
              </a:tblPr>
              <a:tblGrid>
                <a:gridCol w="1833025">
                  <a:extLst>
                    <a:ext uri="{9D8B030D-6E8A-4147-A177-3AD203B41FA5}">
                      <a16:colId xmlns:a16="http://schemas.microsoft.com/office/drawing/2014/main" val="20000"/>
                    </a:ext>
                  </a:extLst>
                </a:gridCol>
                <a:gridCol w="3848100">
                  <a:extLst>
                    <a:ext uri="{9D8B030D-6E8A-4147-A177-3AD203B41FA5}">
                      <a16:colId xmlns:a16="http://schemas.microsoft.com/office/drawing/2014/main" val="20001"/>
                    </a:ext>
                  </a:extLst>
                </a:gridCol>
                <a:gridCol w="2789775">
                  <a:extLst>
                    <a:ext uri="{9D8B030D-6E8A-4147-A177-3AD203B41FA5}">
                      <a16:colId xmlns:a16="http://schemas.microsoft.com/office/drawing/2014/main" val="20002"/>
                    </a:ext>
                  </a:extLst>
                </a:gridCol>
              </a:tblGrid>
              <a:tr h="715975">
                <a:tc>
                  <a:txBody>
                    <a:bodyPr/>
                    <a:lstStyle/>
                    <a:p>
                      <a:pPr marL="0" marR="0" lvl="0" indent="0" algn="ctr" rtl="0">
                        <a:lnSpc>
                          <a:spcPct val="85000"/>
                        </a:lnSpc>
                        <a:spcBef>
                          <a:spcPts val="0"/>
                        </a:spcBef>
                        <a:spcAft>
                          <a:spcPts val="0"/>
                        </a:spcAft>
                        <a:buClr>
                          <a:srgbClr val="000000"/>
                        </a:buClr>
                        <a:buSzPts val="1800"/>
                        <a:buFont typeface="Constantia"/>
                        <a:buNone/>
                      </a:pPr>
                      <a:r>
                        <a:rPr lang="en-US" sz="1800" b="1" i="0" u="none" strike="noStrike" cap="none">
                          <a:solidFill>
                            <a:srgbClr val="000000"/>
                          </a:solidFill>
                          <a:latin typeface="Constantia"/>
                          <a:ea typeface="Constantia"/>
                          <a:cs typeface="Constantia"/>
                          <a:sym typeface="Constantia"/>
                        </a:rPr>
                        <a:t>Mnemonic</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7BC29"/>
                    </a:solidFill>
                  </a:tcPr>
                </a:tc>
                <a:tc>
                  <a:txBody>
                    <a:bodyPr/>
                    <a:lstStyle/>
                    <a:p>
                      <a:pPr marL="0" marR="0" lvl="0" indent="0" algn="ctr" rtl="0">
                        <a:lnSpc>
                          <a:spcPct val="85000"/>
                        </a:lnSpc>
                        <a:spcBef>
                          <a:spcPts val="0"/>
                        </a:spcBef>
                        <a:spcAft>
                          <a:spcPts val="0"/>
                        </a:spcAft>
                        <a:buClr>
                          <a:srgbClr val="000000"/>
                        </a:buClr>
                        <a:buSzPts val="1800"/>
                        <a:buFont typeface="Constantia"/>
                        <a:buNone/>
                      </a:pPr>
                      <a:r>
                        <a:rPr lang="en-US" sz="1800" b="1" i="0" u="none" strike="noStrike" cap="none">
                          <a:solidFill>
                            <a:srgbClr val="000000"/>
                          </a:solidFill>
                          <a:latin typeface="Constantia"/>
                          <a:ea typeface="Constantia"/>
                          <a:cs typeface="Constantia"/>
                          <a:sym typeface="Constantia"/>
                        </a:rPr>
                        <a:t>Meaning</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7BC29"/>
                    </a:solidFill>
                  </a:tcPr>
                </a:tc>
                <a:tc>
                  <a:txBody>
                    <a:bodyPr/>
                    <a:lstStyle/>
                    <a:p>
                      <a:pPr marL="0" marR="0" lvl="0" indent="0" algn="ctr" rtl="0">
                        <a:lnSpc>
                          <a:spcPct val="85000"/>
                        </a:lnSpc>
                        <a:spcBef>
                          <a:spcPts val="0"/>
                        </a:spcBef>
                        <a:spcAft>
                          <a:spcPts val="0"/>
                        </a:spcAft>
                        <a:buClr>
                          <a:srgbClr val="000000"/>
                        </a:buClr>
                        <a:buSzPts val="1800"/>
                        <a:buFont typeface="Constantia"/>
                        <a:buNone/>
                      </a:pPr>
                      <a:r>
                        <a:rPr lang="en-US" sz="1800" b="1" i="0" u="none" strike="noStrike" cap="none">
                          <a:solidFill>
                            <a:srgbClr val="000000"/>
                          </a:solidFill>
                          <a:latin typeface="Constantia"/>
                          <a:ea typeface="Constantia"/>
                          <a:cs typeface="Constantia"/>
                          <a:sym typeface="Constantia"/>
                        </a:rPr>
                        <a:t>Jump Condition</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7BC29"/>
                    </a:solidFill>
                  </a:tcPr>
                </a:tc>
                <a:extLst>
                  <a:ext uri="{0D108BD9-81ED-4DB2-BD59-A6C34878D82A}">
                    <a16:rowId xmlns:a16="http://schemas.microsoft.com/office/drawing/2014/main" val="10000"/>
                  </a:ext>
                </a:extLst>
              </a:tr>
              <a:tr h="715975">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JA</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Jump if Above</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CF = 0 and ZF = 0</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extLst>
                  <a:ext uri="{0D108BD9-81ED-4DB2-BD59-A6C34878D82A}">
                    <a16:rowId xmlns:a16="http://schemas.microsoft.com/office/drawing/2014/main" val="10001"/>
                  </a:ext>
                </a:extLst>
              </a:tr>
              <a:tr h="477850">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JAE</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Jump if Above or Equal</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CF = 0</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extLst>
                  <a:ext uri="{0D108BD9-81ED-4DB2-BD59-A6C34878D82A}">
                    <a16:rowId xmlns:a16="http://schemas.microsoft.com/office/drawing/2014/main" val="10002"/>
                  </a:ext>
                </a:extLst>
              </a:tr>
              <a:tr h="477850">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JB</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Jump if Below</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CF = 1</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extLst>
                  <a:ext uri="{0D108BD9-81ED-4DB2-BD59-A6C34878D82A}">
                    <a16:rowId xmlns:a16="http://schemas.microsoft.com/office/drawing/2014/main" val="10003"/>
                  </a:ext>
                </a:extLst>
              </a:tr>
              <a:tr h="715975">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JBE</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Jump if Below or Equal</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CF = 1 or ZF = 1</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extLst>
                  <a:ext uri="{0D108BD9-81ED-4DB2-BD59-A6C34878D82A}">
                    <a16:rowId xmlns:a16="http://schemas.microsoft.com/office/drawing/2014/main" val="10004"/>
                  </a:ext>
                </a:extLst>
              </a:tr>
              <a:tr h="477850">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JC</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Jump if Carry</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CF = 1</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extLst>
                  <a:ext uri="{0D108BD9-81ED-4DB2-BD59-A6C34878D82A}">
                    <a16:rowId xmlns:a16="http://schemas.microsoft.com/office/drawing/2014/main" val="10005"/>
                  </a:ext>
                </a:extLst>
              </a:tr>
              <a:tr h="477850">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JE</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Jump if Equal</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ZF = 1</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extLst>
                  <a:ext uri="{0D108BD9-81ED-4DB2-BD59-A6C34878D82A}">
                    <a16:rowId xmlns:a16="http://schemas.microsoft.com/office/drawing/2014/main" val="10006"/>
                  </a:ext>
                </a:extLst>
              </a:tr>
              <a:tr h="477850">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JNC</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Jump if Not Carry</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CF = 0</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extLst>
                  <a:ext uri="{0D108BD9-81ED-4DB2-BD59-A6C34878D82A}">
                    <a16:rowId xmlns:a16="http://schemas.microsoft.com/office/drawing/2014/main" val="10007"/>
                  </a:ext>
                </a:extLst>
              </a:tr>
              <a:tr h="477850">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JNE</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Jump if Not Equal</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ZF = 0</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extLst>
                  <a:ext uri="{0D108BD9-81ED-4DB2-BD59-A6C34878D82A}">
                    <a16:rowId xmlns:a16="http://schemas.microsoft.com/office/drawing/2014/main" val="10008"/>
                  </a:ext>
                </a:extLst>
              </a:tr>
              <a:tr h="477850">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JNZ</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Jump if Not Zero</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ZF = 0</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extLst>
                  <a:ext uri="{0D108BD9-81ED-4DB2-BD59-A6C34878D82A}">
                    <a16:rowId xmlns:a16="http://schemas.microsoft.com/office/drawing/2014/main" val="10009"/>
                  </a:ext>
                </a:extLst>
              </a:tr>
              <a:tr h="477850">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JPE</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Jump if Parity Even</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PF = 1</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extLst>
                  <a:ext uri="{0D108BD9-81ED-4DB2-BD59-A6C34878D82A}">
                    <a16:rowId xmlns:a16="http://schemas.microsoft.com/office/drawing/2014/main" val="10010"/>
                  </a:ext>
                </a:extLst>
              </a:tr>
              <a:tr h="477850">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JPO</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Jump if Parity Odd</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PF = 0</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6E7CD"/>
                    </a:solidFill>
                  </a:tcPr>
                </a:tc>
                <a:extLst>
                  <a:ext uri="{0D108BD9-81ED-4DB2-BD59-A6C34878D82A}">
                    <a16:rowId xmlns:a16="http://schemas.microsoft.com/office/drawing/2014/main" val="10011"/>
                  </a:ext>
                </a:extLst>
              </a:tr>
              <a:tr h="477850">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JZ</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Jump if Zero</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tc>
                  <a:txBody>
                    <a:bodyPr/>
                    <a:lstStyle/>
                    <a:p>
                      <a:pPr marL="0" marR="0" lvl="0" indent="0" algn="l" rtl="0">
                        <a:lnSpc>
                          <a:spcPct val="85000"/>
                        </a:lnSpc>
                        <a:spcBef>
                          <a:spcPts val="0"/>
                        </a:spcBef>
                        <a:spcAft>
                          <a:spcPts val="0"/>
                        </a:spcAft>
                        <a:buClr>
                          <a:srgbClr val="000000"/>
                        </a:buClr>
                        <a:buSzPts val="1800"/>
                        <a:buFont typeface="Constantia"/>
                        <a:buNone/>
                      </a:pPr>
                      <a:r>
                        <a:rPr lang="en-US" sz="1800" b="0" i="0" u="none" strike="noStrike" cap="none">
                          <a:solidFill>
                            <a:srgbClr val="000000"/>
                          </a:solidFill>
                          <a:latin typeface="Constantia"/>
                          <a:ea typeface="Constantia"/>
                          <a:cs typeface="Constantia"/>
                          <a:sym typeface="Constantia"/>
                        </a:rPr>
                        <a:t>ZF = 1</a:t>
                      </a:r>
                      <a:endParaRPr sz="1400" u="none" strike="noStrike" cap="none"/>
                    </a:p>
                  </a:txBody>
                  <a:tcPr marL="120000" marR="120000" marT="189900" marB="468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4E8"/>
                    </a:solidFill>
                  </a:tcPr>
                </a:tc>
                <a:extLst>
                  <a:ext uri="{0D108BD9-81ED-4DB2-BD59-A6C34878D82A}">
                    <a16:rowId xmlns:a16="http://schemas.microsoft.com/office/drawing/2014/main" val="10012"/>
                  </a:ext>
                </a:extLst>
              </a:tr>
            </a:tbl>
          </a:graphicData>
        </a:graphic>
      </p:graphicFrame>
      <p:sp>
        <p:nvSpPr>
          <p:cNvPr id="616" name="Google Shape;616;p49"/>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38</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50"/>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3600"/>
              <a:buFont typeface="Calibri"/>
              <a:buNone/>
            </a:pPr>
            <a:r>
              <a:rPr lang="en-US" sz="3600" b="1" i="0" u="none" strike="noStrike" cap="none">
                <a:solidFill>
                  <a:schemeClr val="accent1"/>
                </a:solidFill>
                <a:latin typeface="Calibri"/>
                <a:ea typeface="Calibri"/>
                <a:cs typeface="Calibri"/>
                <a:sym typeface="Calibri"/>
              </a:rPr>
              <a:t>Loop Instructions</a:t>
            </a:r>
            <a:endParaRPr sz="1400" b="0" i="0" u="none" strike="noStrike" cap="none">
              <a:solidFill>
                <a:schemeClr val="accent1"/>
              </a:solidFill>
              <a:latin typeface="Arial"/>
              <a:ea typeface="Arial"/>
              <a:cs typeface="Arial"/>
              <a:sym typeface="Arial"/>
            </a:endParaRPr>
          </a:p>
        </p:txBody>
      </p:sp>
      <p:sp>
        <p:nvSpPr>
          <p:cNvPr id="624" name="Google Shape;624;p50"/>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2600"/>
              <a:buFont typeface="Noto Sans Symbols"/>
              <a:buChar char="⚫"/>
            </a:pPr>
            <a:r>
              <a:rPr lang="en-US" sz="2600" b="1" i="0" u="none" strike="noStrike" cap="none">
                <a:solidFill>
                  <a:srgbClr val="F3A447"/>
                </a:solidFill>
                <a:latin typeface="Constantia"/>
                <a:ea typeface="Constantia"/>
                <a:cs typeface="Constantia"/>
                <a:sym typeface="Constantia"/>
              </a:rPr>
              <a:t>Loop Des:</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This is a looping instruction.</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The number of times looping is required is placed in the CX register.</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With each iteration, the contents of CX are decremented.</a:t>
            </a:r>
            <a:endParaRPr sz="1400" b="0" i="0" u="none" strike="noStrike" cap="none">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ZF is checked whether to loop again or not.</a:t>
            </a:r>
            <a:endParaRPr sz="1400" b="0" i="0" u="none" strike="noStrike" cap="none">
              <a:solidFill>
                <a:srgbClr val="F3A447"/>
              </a:solidFill>
              <a:latin typeface="Arial"/>
              <a:ea typeface="Arial"/>
              <a:cs typeface="Arial"/>
              <a:sym typeface="Arial"/>
            </a:endParaRPr>
          </a:p>
        </p:txBody>
      </p:sp>
      <p:sp>
        <p:nvSpPr>
          <p:cNvPr id="625" name="Google Shape;625;p50"/>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39</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51"/>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3600"/>
              <a:buFont typeface="Calibri"/>
              <a:buNone/>
            </a:pPr>
            <a:r>
              <a:rPr lang="en-US" sz="3600" b="1" i="0" u="none" strike="noStrike" cap="none">
                <a:solidFill>
                  <a:schemeClr val="accent1"/>
                </a:solidFill>
                <a:latin typeface="Calibri"/>
                <a:ea typeface="Calibri"/>
                <a:cs typeface="Calibri"/>
                <a:sym typeface="Calibri"/>
              </a:rPr>
              <a:t>Program Execution Transfer Instructions</a:t>
            </a:r>
            <a:endParaRPr sz="1400" b="0" i="0" u="none" strike="noStrike" cap="none">
              <a:solidFill>
                <a:schemeClr val="accent1"/>
              </a:solidFill>
              <a:latin typeface="Arial"/>
              <a:ea typeface="Arial"/>
              <a:cs typeface="Arial"/>
              <a:sym typeface="Arial"/>
            </a:endParaRPr>
          </a:p>
        </p:txBody>
      </p:sp>
      <p:sp>
        <p:nvSpPr>
          <p:cNvPr id="633" name="Google Shape;633;p51"/>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2600"/>
              <a:buFont typeface="Noto Sans Symbols"/>
              <a:buChar char="⚫"/>
            </a:pPr>
            <a:r>
              <a:rPr lang="en-US" sz="2600" b="1" i="0" u="none" strike="noStrike" cap="none">
                <a:solidFill>
                  <a:srgbClr val="F3A447"/>
                </a:solidFill>
                <a:latin typeface="Constantia"/>
                <a:ea typeface="Constantia"/>
                <a:cs typeface="Constantia"/>
                <a:sym typeface="Constantia"/>
              </a:rPr>
              <a:t>INTO (Interrupt on overflow):</a:t>
            </a:r>
            <a:endParaRPr sz="1400" b="0" i="0" u="none" strike="noStrike" cap="none">
              <a:solidFill>
                <a:srgbClr val="F3A447"/>
              </a:solidFill>
              <a:latin typeface="Arial"/>
              <a:ea typeface="Arial"/>
              <a:cs typeface="Arial"/>
              <a:sym typeface="Arial"/>
            </a:endParaRPr>
          </a:p>
          <a:p>
            <a:pPr marL="261938" marR="0" lvl="0" indent="-261938" algn="l" rtl="0">
              <a:lnSpc>
                <a:spcPct val="100000"/>
              </a:lnSpc>
              <a:spcBef>
                <a:spcPts val="1850"/>
              </a:spcBef>
              <a:spcAft>
                <a:spcPts val="0"/>
              </a:spcAft>
              <a:buClr>
                <a:srgbClr val="F3A447"/>
              </a:buClr>
              <a:buSzPts val="2600"/>
              <a:buFont typeface="Noto Sans Symbols"/>
              <a:buChar char="⚫"/>
            </a:pPr>
            <a:r>
              <a:rPr lang="en-US" sz="2600" b="0" i="0" u="none" strike="noStrike" cap="none">
                <a:solidFill>
                  <a:srgbClr val="F3A447"/>
                </a:solidFill>
                <a:latin typeface="Constantia"/>
                <a:ea typeface="Constantia"/>
                <a:cs typeface="Constantia"/>
                <a:sym typeface="Constantia"/>
              </a:rPr>
              <a:t>This instruction generates type 4 interrupt (i.e. interrupt for overflow) and causes the 8086 to do an indirect far call a procedure which is written by the user to handle the overflow condition.</a:t>
            </a:r>
            <a:endParaRPr sz="1400" b="0" i="0" u="none" strike="noStrike" cap="none">
              <a:solidFill>
                <a:srgbClr val="F3A447"/>
              </a:solidFill>
              <a:latin typeface="Arial"/>
              <a:ea typeface="Arial"/>
              <a:cs typeface="Arial"/>
              <a:sym typeface="Arial"/>
            </a:endParaRPr>
          </a:p>
          <a:p>
            <a:pPr marL="261938" marR="0" lvl="0" indent="-261938" algn="l" rtl="0">
              <a:lnSpc>
                <a:spcPct val="100000"/>
              </a:lnSpc>
              <a:spcBef>
                <a:spcPts val="1850"/>
              </a:spcBef>
              <a:spcAft>
                <a:spcPts val="0"/>
              </a:spcAft>
              <a:buClr>
                <a:srgbClr val="F3A447"/>
              </a:buClr>
              <a:buSzPts val="2600"/>
              <a:buFont typeface="Noto Sans Symbols"/>
              <a:buChar char="⚫"/>
            </a:pPr>
            <a:r>
              <a:rPr lang="en-US" sz="2600" b="1" i="0" u="none" strike="noStrike" cap="none">
                <a:solidFill>
                  <a:srgbClr val="F3A447"/>
                </a:solidFill>
                <a:latin typeface="Constantia"/>
                <a:ea typeface="Constantia"/>
                <a:cs typeface="Constantia"/>
                <a:sym typeface="Constantia"/>
              </a:rPr>
              <a:t>IRET</a:t>
            </a:r>
            <a:endParaRPr sz="1400" b="0" i="0" u="none" strike="noStrike" cap="none">
              <a:solidFill>
                <a:srgbClr val="F3A447"/>
              </a:solidFill>
              <a:latin typeface="Arial"/>
              <a:ea typeface="Arial"/>
              <a:cs typeface="Arial"/>
              <a:sym typeface="Arial"/>
            </a:endParaRPr>
          </a:p>
          <a:p>
            <a:pPr marL="261938" marR="0" lvl="0" indent="-261938" algn="l" rtl="0">
              <a:lnSpc>
                <a:spcPct val="100000"/>
              </a:lnSpc>
              <a:spcBef>
                <a:spcPts val="1850"/>
              </a:spcBef>
              <a:spcAft>
                <a:spcPts val="0"/>
              </a:spcAft>
              <a:buClr>
                <a:srgbClr val="F3A447"/>
              </a:buClr>
              <a:buSzPts val="2600"/>
              <a:buFont typeface="Noto Sans Symbols"/>
              <a:buChar char="⚫"/>
            </a:pPr>
            <a:r>
              <a:rPr lang="en-US" sz="2600" b="0" i="0" u="none" strike="noStrike" cap="none">
                <a:solidFill>
                  <a:srgbClr val="F3A447"/>
                </a:solidFill>
                <a:latin typeface="Constantia"/>
                <a:ea typeface="Constantia"/>
                <a:cs typeface="Constantia"/>
                <a:sym typeface="Constantia"/>
              </a:rPr>
              <a:t>To return the execution to the interrupted program</a:t>
            </a:r>
            <a:endParaRPr sz="1400" b="0" i="0" u="none" strike="noStrike" cap="none">
              <a:solidFill>
                <a:srgbClr val="F3A447"/>
              </a:solidFill>
              <a:latin typeface="Arial"/>
              <a:ea typeface="Arial"/>
              <a:cs typeface="Arial"/>
              <a:sym typeface="Arial"/>
            </a:endParaRPr>
          </a:p>
        </p:txBody>
      </p:sp>
      <p:sp>
        <p:nvSpPr>
          <p:cNvPr id="634" name="Google Shape;634;p51"/>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40</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52"/>
          <p:cNvSpPr txBox="1"/>
          <p:nvPr/>
        </p:nvSpPr>
        <p:spPr>
          <a:xfrm>
            <a:off x="609600" y="2333626"/>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1"/>
                </a:solidFill>
                <a:latin typeface="Calibri"/>
                <a:ea typeface="Calibri"/>
                <a:cs typeface="Calibri"/>
                <a:sym typeface="Calibri"/>
              </a:rPr>
              <a:t>4. Machine Control Instructions</a:t>
            </a:r>
            <a:endParaRPr sz="1400" b="0" i="0" u="none" strike="noStrike" cap="none">
              <a:solidFill>
                <a:schemeClr val="accen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53"/>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1"/>
                </a:solidFill>
                <a:latin typeface="Calibri"/>
                <a:ea typeface="Calibri"/>
                <a:cs typeface="Calibri"/>
                <a:sym typeface="Calibri"/>
              </a:rPr>
              <a:t>Machine Control Instructions</a:t>
            </a:r>
            <a:endParaRPr sz="1400" b="0" i="0" u="none" strike="noStrike" cap="none">
              <a:solidFill>
                <a:schemeClr val="accent1"/>
              </a:solidFill>
              <a:latin typeface="Arial"/>
              <a:ea typeface="Arial"/>
              <a:cs typeface="Arial"/>
              <a:sym typeface="Arial"/>
            </a:endParaRPr>
          </a:p>
        </p:txBody>
      </p:sp>
      <p:sp>
        <p:nvSpPr>
          <p:cNvPr id="648" name="Google Shape;648;p53"/>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0" marR="0" lvl="0" indent="0" algn="l" rtl="0">
              <a:lnSpc>
                <a:spcPct val="90000"/>
              </a:lnSpc>
              <a:spcBef>
                <a:spcPts val="0"/>
              </a:spcBef>
              <a:spcAft>
                <a:spcPts val="0"/>
              </a:spcAft>
              <a:buClr>
                <a:srgbClr val="000000"/>
              </a:buClr>
              <a:buSzPts val="2600"/>
              <a:buFont typeface="Constantia"/>
              <a:buNone/>
            </a:pPr>
            <a:r>
              <a:rPr lang="en-US" sz="2600" b="1" i="0" u="none" strike="noStrike" cap="none">
                <a:solidFill>
                  <a:srgbClr val="F3A447"/>
                </a:solidFill>
                <a:latin typeface="Constantia"/>
                <a:ea typeface="Constantia"/>
                <a:cs typeface="Constantia"/>
                <a:sym typeface="Constantia"/>
              </a:rPr>
              <a:t>HLT (Halt) :- </a:t>
            </a:r>
            <a:r>
              <a:rPr lang="en-US" sz="2400" b="0" i="0" u="none" strike="noStrike" cap="none">
                <a:solidFill>
                  <a:srgbClr val="F3A447"/>
                </a:solidFill>
                <a:latin typeface="Constantia"/>
                <a:ea typeface="Constantia"/>
                <a:cs typeface="Constantia"/>
                <a:sym typeface="Constantia"/>
              </a:rPr>
              <a:t>It causes the processor to enter in to the halt state. </a:t>
            </a:r>
            <a:r>
              <a:rPr lang="en-US" sz="2600" b="0" i="0" u="none" strike="noStrike" cap="none">
                <a:solidFill>
                  <a:srgbClr val="F3A447"/>
                </a:solidFill>
                <a:latin typeface="Constantia"/>
                <a:ea typeface="Constantia"/>
                <a:cs typeface="Constantia"/>
                <a:sym typeface="Constantia"/>
              </a:rPr>
              <a:t>It can be stop by INTR,NMI or RESET pin</a:t>
            </a:r>
            <a:endParaRPr sz="1400" b="0" i="0" u="none" strike="noStrike" cap="none">
              <a:solidFill>
                <a:srgbClr val="F3A447"/>
              </a:solidFill>
              <a:latin typeface="Arial"/>
              <a:ea typeface="Arial"/>
              <a:cs typeface="Arial"/>
              <a:sym typeface="Arial"/>
            </a:endParaRPr>
          </a:p>
          <a:p>
            <a:pPr marL="0" marR="0" lvl="0" indent="0" algn="l" rtl="0">
              <a:lnSpc>
                <a:spcPct val="90000"/>
              </a:lnSpc>
              <a:spcBef>
                <a:spcPts val="1800"/>
              </a:spcBef>
              <a:spcAft>
                <a:spcPts val="0"/>
              </a:spcAft>
              <a:buClr>
                <a:srgbClr val="000000"/>
              </a:buClr>
              <a:buSzPts val="2600"/>
              <a:buFont typeface="Constantia"/>
              <a:buNone/>
            </a:pPr>
            <a:r>
              <a:rPr lang="en-US" sz="2600" b="1" i="0" u="none" strike="noStrike" cap="none">
                <a:solidFill>
                  <a:srgbClr val="F3A447"/>
                </a:solidFill>
                <a:latin typeface="Constantia"/>
                <a:ea typeface="Constantia"/>
                <a:cs typeface="Constantia"/>
                <a:sym typeface="Constantia"/>
              </a:rPr>
              <a:t>NOP (No Opration) :- </a:t>
            </a:r>
            <a:r>
              <a:rPr lang="en-US" sz="2400" b="0" i="0" u="none" strike="noStrike" cap="none">
                <a:solidFill>
                  <a:srgbClr val="F3A447"/>
                </a:solidFill>
                <a:latin typeface="Constantia"/>
                <a:ea typeface="Constantia"/>
                <a:cs typeface="Constantia"/>
                <a:sym typeface="Constantia"/>
              </a:rPr>
              <a:t>It causes the processor to enter in to the wait state for 3 Clock cycles.</a:t>
            </a:r>
            <a:endParaRPr sz="1400" b="0" i="0" u="none" strike="noStrike" cap="none">
              <a:solidFill>
                <a:srgbClr val="F3A447"/>
              </a:solidFill>
              <a:latin typeface="Arial"/>
              <a:ea typeface="Arial"/>
              <a:cs typeface="Arial"/>
              <a:sym typeface="Arial"/>
            </a:endParaRPr>
          </a:p>
          <a:p>
            <a:pPr marL="0" marR="0" lvl="0" indent="0" algn="l" rtl="0">
              <a:lnSpc>
                <a:spcPct val="90000"/>
              </a:lnSpc>
              <a:spcBef>
                <a:spcPts val="1850"/>
              </a:spcBef>
              <a:spcAft>
                <a:spcPts val="0"/>
              </a:spcAft>
              <a:buClr>
                <a:srgbClr val="000000"/>
              </a:buClr>
              <a:buSzPts val="2600"/>
              <a:buFont typeface="Constantia"/>
              <a:buNone/>
            </a:pPr>
            <a:r>
              <a:rPr lang="en-US" sz="2600" b="1" i="0" u="none" strike="noStrike" cap="none">
                <a:solidFill>
                  <a:srgbClr val="F3A447"/>
                </a:solidFill>
                <a:latin typeface="Constantia"/>
                <a:ea typeface="Constantia"/>
                <a:cs typeface="Constantia"/>
                <a:sym typeface="Constantia"/>
              </a:rPr>
              <a:t>WAIT :- </a:t>
            </a:r>
            <a:r>
              <a:rPr lang="en-US" sz="2400" b="0" i="0" u="none" strike="noStrike" cap="none">
                <a:solidFill>
                  <a:srgbClr val="F3A447"/>
                </a:solidFill>
                <a:latin typeface="Constantia"/>
                <a:ea typeface="Constantia"/>
                <a:cs typeface="Constantia"/>
                <a:sym typeface="Constantia"/>
              </a:rPr>
              <a:t>It causes the processor to enter in to the ideal state. Can be stop by TEST, INTR OR NMI pin</a:t>
            </a:r>
            <a:endParaRPr sz="1400" b="0" i="0" u="none" strike="noStrike" cap="none">
              <a:solidFill>
                <a:srgbClr val="F3A447"/>
              </a:solidFill>
              <a:latin typeface="Arial"/>
              <a:ea typeface="Arial"/>
              <a:cs typeface="Arial"/>
              <a:sym typeface="Arial"/>
            </a:endParaRPr>
          </a:p>
          <a:p>
            <a:pPr marL="0" marR="0" lvl="0" indent="0" algn="l" rtl="0">
              <a:lnSpc>
                <a:spcPct val="90000"/>
              </a:lnSpc>
              <a:spcBef>
                <a:spcPts val="1800"/>
              </a:spcBef>
              <a:spcAft>
                <a:spcPts val="0"/>
              </a:spcAft>
              <a:buClr>
                <a:srgbClr val="000000"/>
              </a:buClr>
              <a:buSzPts val="2600"/>
              <a:buFont typeface="Constantia"/>
              <a:buNone/>
            </a:pPr>
            <a:r>
              <a:rPr lang="en-US" sz="2600" b="1" i="0" u="none" strike="noStrike" cap="none">
                <a:solidFill>
                  <a:srgbClr val="F3A447"/>
                </a:solidFill>
                <a:latin typeface="Constantia"/>
                <a:ea typeface="Constantia"/>
                <a:cs typeface="Constantia"/>
                <a:sym typeface="Constantia"/>
              </a:rPr>
              <a:t>LOCK :- </a:t>
            </a:r>
            <a:r>
              <a:rPr lang="en-US" sz="2600" b="0" i="0" u="none" strike="noStrike" cap="none">
                <a:solidFill>
                  <a:srgbClr val="F3A447"/>
                </a:solidFill>
                <a:latin typeface="Constantia"/>
                <a:ea typeface="Constantia"/>
                <a:cs typeface="Constantia"/>
                <a:sym typeface="Constantia"/>
              </a:rPr>
              <a:t>This instruction prevents other processors to take the control of shared resources</a:t>
            </a:r>
            <a:r>
              <a:rPr lang="en-US" sz="2400" b="0" i="0" u="none" strike="noStrike" cap="none">
                <a:solidFill>
                  <a:srgbClr val="F3A447"/>
                </a:solidFill>
                <a:latin typeface="Constantia"/>
                <a:ea typeface="Constantia"/>
                <a:cs typeface="Constantia"/>
                <a:sym typeface="Constantia"/>
              </a:rPr>
              <a:t>. For e.g LOCK IN AL,80H</a:t>
            </a:r>
            <a:endParaRPr sz="1400" b="0" i="0" u="none" strike="noStrike" cap="none">
              <a:solidFill>
                <a:srgbClr val="F3A447"/>
              </a:solidFill>
              <a:latin typeface="Arial"/>
              <a:ea typeface="Arial"/>
              <a:cs typeface="Arial"/>
              <a:sym typeface="Arial"/>
            </a:endParaRPr>
          </a:p>
          <a:p>
            <a:pPr marL="636588" marR="0" lvl="1" indent="-236536" algn="l" rtl="0">
              <a:lnSpc>
                <a:spcPct val="90000"/>
              </a:lnSpc>
              <a:spcBef>
                <a:spcPts val="1800"/>
              </a:spcBef>
              <a:spcAft>
                <a:spcPts val="0"/>
              </a:spcAft>
              <a:buClr>
                <a:schemeClr val="lt1"/>
              </a:buClr>
              <a:buSzPts val="2400"/>
              <a:buFont typeface="Century Gothic"/>
              <a:buNone/>
            </a:pPr>
            <a:endParaRPr sz="2400" b="0" i="0" u="none" strike="noStrike" cap="none">
              <a:solidFill>
                <a:srgbClr val="000000"/>
              </a:solidFill>
              <a:latin typeface="Constantia"/>
              <a:ea typeface="Constantia"/>
              <a:cs typeface="Constantia"/>
              <a:sym typeface="Constantia"/>
            </a:endParaRPr>
          </a:p>
        </p:txBody>
      </p:sp>
      <p:sp>
        <p:nvSpPr>
          <p:cNvPr id="649" name="Google Shape;649;p53"/>
          <p:cNvSpPr txBox="1"/>
          <p:nvPr/>
        </p:nvSpPr>
        <p:spPr>
          <a:xfrm>
            <a:off x="609600" y="6356351"/>
            <a:ext cx="2844800" cy="365125"/>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404924"/>
              </a:buClr>
              <a:buSzPts val="1200"/>
              <a:buFont typeface="Constantia"/>
              <a:buNone/>
            </a:pPr>
            <a:r>
              <a:rPr lang="en-US" sz="1200" b="0" i="0" u="none" strike="noStrike" cap="none">
                <a:solidFill>
                  <a:srgbClr val="404924"/>
                </a:solidFill>
                <a:latin typeface="Constantia"/>
                <a:ea typeface="Constantia"/>
                <a:cs typeface="Constantia"/>
                <a:sym typeface="Constantia"/>
              </a:rPr>
              <a:t>21-Nov-2010</a:t>
            </a:r>
            <a:endParaRPr sz="1400" b="0" i="0" u="none" strike="noStrike" cap="none">
              <a:solidFill>
                <a:srgbClr val="000000"/>
              </a:solidFill>
              <a:latin typeface="Arial"/>
              <a:ea typeface="Arial"/>
              <a:cs typeface="Arial"/>
              <a:sym typeface="Arial"/>
            </a:endParaRPr>
          </a:p>
        </p:txBody>
      </p:sp>
      <p:sp>
        <p:nvSpPr>
          <p:cNvPr id="650" name="Google Shape;650;p53"/>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42</a:t>
            </a:fld>
            <a:endParaRPr sz="1200" b="0" i="0" u="none" strike="noStrike" cap="none">
              <a:solidFill>
                <a:srgbClr val="404924"/>
              </a:solidFill>
              <a:latin typeface="Constantia"/>
              <a:ea typeface="Constantia"/>
              <a:cs typeface="Constantia"/>
              <a:sym typeface="Constantia"/>
            </a:endParaRPr>
          </a:p>
        </p:txBody>
      </p:sp>
      <p:sp>
        <p:nvSpPr>
          <p:cNvPr id="651" name="Google Shape;651;p53"/>
          <p:cNvSpPr txBox="1"/>
          <p:nvPr/>
        </p:nvSpPr>
        <p:spPr>
          <a:xfrm>
            <a:off x="3556000" y="6356351"/>
            <a:ext cx="4470400" cy="365125"/>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404924"/>
              </a:buClr>
              <a:buSzPts val="1200"/>
              <a:buFont typeface="Constantia"/>
              <a:buNone/>
            </a:pPr>
            <a:r>
              <a:rPr lang="en-US" sz="1200" b="0" i="0" u="none" strike="noStrike" cap="none">
                <a:solidFill>
                  <a:srgbClr val="404924"/>
                </a:solidFill>
                <a:latin typeface="Constantia"/>
                <a:ea typeface="Constantia"/>
                <a:cs typeface="Constantia"/>
                <a:sym typeface="Constantia"/>
              </a:rPr>
              <a:t>ohmshankar.ece@act.edu.in</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54"/>
          <p:cNvSpPr txBox="1"/>
          <p:nvPr/>
        </p:nvSpPr>
        <p:spPr>
          <a:xfrm>
            <a:off x="812800" y="2333626"/>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1"/>
                </a:solidFill>
                <a:latin typeface="Calibri"/>
                <a:ea typeface="Calibri"/>
                <a:cs typeface="Calibri"/>
                <a:sym typeface="Calibri"/>
              </a:rPr>
              <a:t>5. Flag Manipulation Instructions</a:t>
            </a:r>
            <a:endParaRPr sz="1400" b="0" i="0" u="none" strike="noStrike" cap="none">
              <a:solidFill>
                <a:schemeClr val="accen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55"/>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90000"/>
              </a:lnSpc>
              <a:spcBef>
                <a:spcPts val="0"/>
              </a:spcBef>
              <a:spcAft>
                <a:spcPts val="0"/>
              </a:spcAft>
              <a:buClr>
                <a:srgbClr val="F3A447"/>
              </a:buClr>
              <a:buSzPts val="2600"/>
              <a:buFont typeface="Noto Sans Symbols"/>
              <a:buChar char="⚫"/>
            </a:pPr>
            <a:r>
              <a:rPr lang="en-US" sz="2600" b="1" i="0" u="none" strike="noStrike" cap="none">
                <a:solidFill>
                  <a:srgbClr val="F3A447"/>
                </a:solidFill>
                <a:latin typeface="Constantia"/>
                <a:ea typeface="Constantia"/>
                <a:cs typeface="Constantia"/>
                <a:sym typeface="Constantia"/>
              </a:rPr>
              <a:t>STC:</a:t>
            </a:r>
            <a:endParaRPr sz="1400" b="0" i="0" u="none" strike="noStrike" cap="none">
              <a:solidFill>
                <a:srgbClr val="F3A447"/>
              </a:solidFill>
              <a:latin typeface="Arial"/>
              <a:ea typeface="Arial"/>
              <a:cs typeface="Aria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It sets the carry flag to 1.</a:t>
            </a:r>
            <a:endParaRPr sz="1400" b="0" i="0" u="none" strike="noStrike" cap="none">
              <a:solidFill>
                <a:srgbClr val="F3A447"/>
              </a:solidFill>
              <a:latin typeface="Arial"/>
              <a:ea typeface="Arial"/>
              <a:cs typeface="Arial"/>
              <a:sym typeface="Arial"/>
            </a:endParaRPr>
          </a:p>
          <a:p>
            <a:pPr marL="630238" marR="0" lvl="1" indent="-238123" algn="l" rtl="0">
              <a:lnSpc>
                <a:spcPct val="90000"/>
              </a:lnSpc>
              <a:spcBef>
                <a:spcPts val="1800"/>
              </a:spcBef>
              <a:spcAft>
                <a:spcPts val="0"/>
              </a:spcAft>
              <a:buClr>
                <a:schemeClr val="lt1"/>
              </a:buClr>
              <a:buSzPts val="2400"/>
              <a:buFont typeface="Century Gothic"/>
              <a:buNone/>
            </a:pPr>
            <a:endParaRPr sz="2400" b="0" i="0" u="none" strike="noStrike" cap="none">
              <a:solidFill>
                <a:srgbClr val="F3A447"/>
              </a:solidFill>
              <a:latin typeface="Constantia"/>
              <a:ea typeface="Constantia"/>
              <a:cs typeface="Constantia"/>
              <a:sym typeface="Constantia"/>
            </a:endParaRPr>
          </a:p>
          <a:p>
            <a:pPr marL="261938" marR="0" lvl="0" indent="-261938" algn="l" rtl="0">
              <a:lnSpc>
                <a:spcPct val="90000"/>
              </a:lnSpc>
              <a:spcBef>
                <a:spcPts val="1850"/>
              </a:spcBef>
              <a:spcAft>
                <a:spcPts val="0"/>
              </a:spcAft>
              <a:buClr>
                <a:srgbClr val="F3A447"/>
              </a:buClr>
              <a:buSzPts val="2600"/>
              <a:buFont typeface="Noto Sans Symbols"/>
              <a:buChar char="⚫"/>
            </a:pPr>
            <a:r>
              <a:rPr lang="en-US" sz="2600" b="1" i="0" u="none" strike="noStrike" cap="none">
                <a:solidFill>
                  <a:srgbClr val="F3A447"/>
                </a:solidFill>
                <a:latin typeface="Constantia"/>
                <a:ea typeface="Constantia"/>
                <a:cs typeface="Constantia"/>
                <a:sym typeface="Constantia"/>
              </a:rPr>
              <a:t>CLC:</a:t>
            </a:r>
            <a:endParaRPr sz="1400" b="0" i="0" u="none" strike="noStrike" cap="none">
              <a:solidFill>
                <a:srgbClr val="F3A447"/>
              </a:solidFill>
              <a:latin typeface="Arial"/>
              <a:ea typeface="Arial"/>
              <a:cs typeface="Aria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It clears the carry flag to 0.</a:t>
            </a:r>
            <a:endParaRPr sz="1400" b="0" i="0" u="none" strike="noStrike" cap="none">
              <a:solidFill>
                <a:srgbClr val="F3A447"/>
              </a:solidFill>
              <a:latin typeface="Arial"/>
              <a:ea typeface="Arial"/>
              <a:cs typeface="Arial"/>
              <a:sym typeface="Arial"/>
            </a:endParaRPr>
          </a:p>
          <a:p>
            <a:pPr marL="630238" marR="0" lvl="1" indent="-238123" algn="l" rtl="0">
              <a:lnSpc>
                <a:spcPct val="90000"/>
              </a:lnSpc>
              <a:spcBef>
                <a:spcPts val="1800"/>
              </a:spcBef>
              <a:spcAft>
                <a:spcPts val="0"/>
              </a:spcAft>
              <a:buClr>
                <a:schemeClr val="lt1"/>
              </a:buClr>
              <a:buSzPts val="2400"/>
              <a:buFont typeface="Century Gothic"/>
              <a:buNone/>
            </a:pPr>
            <a:endParaRPr sz="2400" b="0" i="0" u="none" strike="noStrike" cap="none">
              <a:solidFill>
                <a:srgbClr val="F3A447"/>
              </a:solidFill>
              <a:latin typeface="Constantia"/>
              <a:ea typeface="Constantia"/>
              <a:cs typeface="Constantia"/>
              <a:sym typeface="Constantia"/>
            </a:endParaRPr>
          </a:p>
          <a:p>
            <a:pPr marL="261938" marR="0" lvl="0" indent="-261938" algn="l" rtl="0">
              <a:lnSpc>
                <a:spcPct val="90000"/>
              </a:lnSpc>
              <a:spcBef>
                <a:spcPts val="1850"/>
              </a:spcBef>
              <a:spcAft>
                <a:spcPts val="0"/>
              </a:spcAft>
              <a:buClr>
                <a:srgbClr val="F3A447"/>
              </a:buClr>
              <a:buSzPts val="2600"/>
              <a:buFont typeface="Noto Sans Symbols"/>
              <a:buChar char="⚫"/>
            </a:pPr>
            <a:r>
              <a:rPr lang="en-US" sz="2600" b="1" i="0" u="none" strike="noStrike" cap="none">
                <a:solidFill>
                  <a:srgbClr val="F3A447"/>
                </a:solidFill>
                <a:latin typeface="Constantia"/>
                <a:ea typeface="Constantia"/>
                <a:cs typeface="Constantia"/>
                <a:sym typeface="Constantia"/>
              </a:rPr>
              <a:t>CMC:</a:t>
            </a:r>
            <a:endParaRPr sz="1400" b="0" i="0" u="none" strike="noStrike" cap="none">
              <a:solidFill>
                <a:srgbClr val="F3A447"/>
              </a:solidFill>
              <a:latin typeface="Arial"/>
              <a:ea typeface="Arial"/>
              <a:cs typeface="Aria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It complements the carry flag.</a:t>
            </a:r>
            <a:endParaRPr sz="1400" b="0" i="0" u="none" strike="noStrike" cap="none">
              <a:solidFill>
                <a:srgbClr val="F3A447"/>
              </a:solidFill>
              <a:latin typeface="Arial"/>
              <a:ea typeface="Arial"/>
              <a:cs typeface="Arial"/>
              <a:sym typeface="Arial"/>
            </a:endParaRPr>
          </a:p>
        </p:txBody>
      </p:sp>
      <p:sp>
        <p:nvSpPr>
          <p:cNvPr id="665" name="Google Shape;665;p55"/>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44</a:t>
            </a:fld>
            <a:endParaRPr sz="1200" b="0" i="0" u="none" strike="noStrike" cap="none">
              <a:solidFill>
                <a:srgbClr val="404924"/>
              </a:solidFill>
              <a:latin typeface="Constantia"/>
              <a:ea typeface="Constantia"/>
              <a:cs typeface="Constantia"/>
              <a:sym typeface="Constantia"/>
            </a:endParaRPr>
          </a:p>
        </p:txBody>
      </p:sp>
      <p:sp>
        <p:nvSpPr>
          <p:cNvPr id="666" name="Google Shape;666;p55"/>
          <p:cNvSpPr txBox="1"/>
          <p:nvPr/>
        </p:nvSpPr>
        <p:spPr>
          <a:xfrm>
            <a:off x="812800" y="76200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1"/>
                </a:solidFill>
                <a:latin typeface="Calibri"/>
                <a:ea typeface="Calibri"/>
                <a:cs typeface="Calibri"/>
                <a:sym typeface="Calibri"/>
              </a:rPr>
              <a:t>Flag Manipulation Instructions</a:t>
            </a:r>
            <a:endParaRPr sz="1400" b="0" i="0" u="none" strike="noStrike" cap="none">
              <a:solidFill>
                <a:schemeClr val="accen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56"/>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90000"/>
              </a:lnSpc>
              <a:spcBef>
                <a:spcPts val="0"/>
              </a:spcBef>
              <a:spcAft>
                <a:spcPts val="0"/>
              </a:spcAft>
              <a:buClr>
                <a:srgbClr val="F3A447"/>
              </a:buClr>
              <a:buSzPts val="2600"/>
              <a:buFont typeface="Noto Sans Symbols"/>
              <a:buChar char="⚫"/>
            </a:pPr>
            <a:r>
              <a:rPr lang="en-US" sz="2600" b="1" i="0" u="none" strike="noStrike" cap="none">
                <a:solidFill>
                  <a:srgbClr val="F3A447"/>
                </a:solidFill>
                <a:latin typeface="Constantia"/>
                <a:ea typeface="Constantia"/>
                <a:cs typeface="Constantia"/>
                <a:sym typeface="Constantia"/>
              </a:rPr>
              <a:t>STD:</a:t>
            </a:r>
            <a:endParaRPr sz="1400" b="0" i="0" u="none" strike="noStrike" cap="none">
              <a:solidFill>
                <a:srgbClr val="F3A447"/>
              </a:solidFill>
              <a:latin typeface="Arial"/>
              <a:ea typeface="Arial"/>
              <a:cs typeface="Aria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It sets the direction flag to 1.</a:t>
            </a:r>
            <a:endParaRPr sz="1400" b="0" i="0" u="none" strike="noStrike" cap="none">
              <a:solidFill>
                <a:srgbClr val="F3A447"/>
              </a:solidFill>
              <a:latin typeface="Arial"/>
              <a:ea typeface="Arial"/>
              <a:cs typeface="Aria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If it is set, string bytes are accessed from higher memory address to lower memory address.</a:t>
            </a:r>
            <a:endParaRPr sz="1400" b="0" i="0" u="none" strike="noStrike" cap="none">
              <a:solidFill>
                <a:srgbClr val="F3A447"/>
              </a:solidFill>
              <a:latin typeface="Arial"/>
              <a:ea typeface="Arial"/>
              <a:cs typeface="Arial"/>
              <a:sym typeface="Arial"/>
            </a:endParaRPr>
          </a:p>
          <a:p>
            <a:pPr marL="263525" marR="0" lvl="0" indent="-261938" algn="l" rtl="0">
              <a:lnSpc>
                <a:spcPct val="90000"/>
              </a:lnSpc>
              <a:spcBef>
                <a:spcPts val="1850"/>
              </a:spcBef>
              <a:spcAft>
                <a:spcPts val="0"/>
              </a:spcAft>
              <a:buClr>
                <a:schemeClr val="lt1"/>
              </a:buClr>
              <a:buSzPts val="2600"/>
              <a:buFont typeface="Century Gothic"/>
              <a:buNone/>
            </a:pPr>
            <a:endParaRPr sz="2600" b="0" i="0" u="none" strike="noStrike" cap="none">
              <a:solidFill>
                <a:srgbClr val="F3A447"/>
              </a:solidFill>
              <a:latin typeface="Constantia"/>
              <a:ea typeface="Constantia"/>
              <a:cs typeface="Constantia"/>
              <a:sym typeface="Constantia"/>
            </a:endParaRPr>
          </a:p>
          <a:p>
            <a:pPr marL="261938" marR="0" lvl="0" indent="-261938" algn="l" rtl="0">
              <a:lnSpc>
                <a:spcPct val="90000"/>
              </a:lnSpc>
              <a:spcBef>
                <a:spcPts val="1850"/>
              </a:spcBef>
              <a:spcAft>
                <a:spcPts val="0"/>
              </a:spcAft>
              <a:buClr>
                <a:srgbClr val="F3A447"/>
              </a:buClr>
              <a:buSzPts val="2600"/>
              <a:buFont typeface="Noto Sans Symbols"/>
              <a:buChar char="⚫"/>
            </a:pPr>
            <a:r>
              <a:rPr lang="en-US" sz="2600" b="1" i="0" u="none" strike="noStrike" cap="none">
                <a:solidFill>
                  <a:srgbClr val="F3A447"/>
                </a:solidFill>
                <a:latin typeface="Constantia"/>
                <a:ea typeface="Constantia"/>
                <a:cs typeface="Constantia"/>
                <a:sym typeface="Constantia"/>
              </a:rPr>
              <a:t>CLD:</a:t>
            </a:r>
            <a:endParaRPr sz="1400" b="0" i="0" u="none" strike="noStrike" cap="none">
              <a:solidFill>
                <a:srgbClr val="F3A447"/>
              </a:solidFill>
              <a:latin typeface="Arial"/>
              <a:ea typeface="Arial"/>
              <a:cs typeface="Aria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It clears the direction flag to 0.</a:t>
            </a:r>
            <a:endParaRPr sz="1400" b="0" i="0" u="none" strike="noStrike" cap="none">
              <a:solidFill>
                <a:srgbClr val="F3A447"/>
              </a:solidFill>
              <a:latin typeface="Arial"/>
              <a:ea typeface="Arial"/>
              <a:cs typeface="Aria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If it is reset, the string bytes are accessed from lower memory address to higher memory address.</a:t>
            </a:r>
            <a:endParaRPr sz="1400" b="0" i="0" u="none" strike="noStrike" cap="none">
              <a:solidFill>
                <a:srgbClr val="F3A447"/>
              </a:solidFill>
              <a:latin typeface="Arial"/>
              <a:ea typeface="Arial"/>
              <a:cs typeface="Arial"/>
              <a:sym typeface="Arial"/>
            </a:endParaRPr>
          </a:p>
        </p:txBody>
      </p:sp>
      <p:sp>
        <p:nvSpPr>
          <p:cNvPr id="674" name="Google Shape;674;p56"/>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45</a:t>
            </a:fld>
            <a:endParaRPr sz="1200" b="0" i="0" u="none" strike="noStrike" cap="none">
              <a:solidFill>
                <a:srgbClr val="404924"/>
              </a:solidFill>
              <a:latin typeface="Constantia"/>
              <a:ea typeface="Constantia"/>
              <a:cs typeface="Constantia"/>
              <a:sym typeface="Constantia"/>
            </a:endParaRPr>
          </a:p>
        </p:txBody>
      </p:sp>
      <p:sp>
        <p:nvSpPr>
          <p:cNvPr id="675" name="Google Shape;675;p56"/>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1"/>
                </a:solidFill>
                <a:latin typeface="Calibri"/>
                <a:ea typeface="Calibri"/>
                <a:cs typeface="Calibri"/>
                <a:sym typeface="Calibri"/>
              </a:rPr>
              <a:t>Flag Manipulation Instructions</a:t>
            </a:r>
            <a:endParaRPr sz="1400" b="0" i="0" u="none" strike="noStrike" cap="none">
              <a:solidFill>
                <a:schemeClr val="accen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57"/>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90000"/>
              </a:lnSpc>
              <a:spcBef>
                <a:spcPts val="0"/>
              </a:spcBef>
              <a:spcAft>
                <a:spcPts val="0"/>
              </a:spcAft>
              <a:buClr>
                <a:srgbClr val="F3A447"/>
              </a:buClr>
              <a:buSzPts val="2600"/>
              <a:buFont typeface="Noto Sans Symbols"/>
              <a:buChar char="⚫"/>
            </a:pPr>
            <a:r>
              <a:rPr lang="en-US" sz="2600" b="1" i="0" u="none" strike="noStrike" cap="none">
                <a:solidFill>
                  <a:srgbClr val="F3A447"/>
                </a:solidFill>
                <a:latin typeface="Constantia"/>
                <a:ea typeface="Constantia"/>
                <a:cs typeface="Constantia"/>
                <a:sym typeface="Constantia"/>
              </a:rPr>
              <a:t>STI:</a:t>
            </a:r>
            <a:endParaRPr sz="1400" b="0" i="0" u="none" strike="noStrike" cap="none">
              <a:solidFill>
                <a:srgbClr val="F3A447"/>
              </a:solidFill>
              <a:latin typeface="Arial"/>
              <a:ea typeface="Arial"/>
              <a:cs typeface="Aria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It sets the Interrupt flag to 1.</a:t>
            </a:r>
            <a:endParaRPr sz="1400" b="0" i="0" u="none" strike="noStrike" cap="none">
              <a:solidFill>
                <a:srgbClr val="F3A447"/>
              </a:solidFill>
              <a:latin typeface="Arial"/>
              <a:ea typeface="Arial"/>
              <a:cs typeface="Arial"/>
              <a:sym typeface="Arial"/>
            </a:endParaRPr>
          </a:p>
          <a:p>
            <a:pPr marL="630238" marR="0" lvl="1" indent="-238123" algn="l" rtl="0">
              <a:lnSpc>
                <a:spcPct val="90000"/>
              </a:lnSpc>
              <a:spcBef>
                <a:spcPts val="1800"/>
              </a:spcBef>
              <a:spcAft>
                <a:spcPts val="0"/>
              </a:spcAft>
              <a:buClr>
                <a:schemeClr val="lt1"/>
              </a:buClr>
              <a:buSzPts val="2600"/>
              <a:buFont typeface="Century Gothic"/>
              <a:buNone/>
            </a:pPr>
            <a:endParaRPr sz="2600" b="0" i="0" u="none" strike="noStrike" cap="none">
              <a:solidFill>
                <a:srgbClr val="F3A447"/>
              </a:solidFill>
              <a:latin typeface="Constantia"/>
              <a:ea typeface="Constantia"/>
              <a:cs typeface="Constantia"/>
              <a:sym typeface="Constantia"/>
            </a:endParaRPr>
          </a:p>
          <a:p>
            <a:pPr marL="261938" marR="0" lvl="0" indent="-261938" algn="l" rtl="0">
              <a:lnSpc>
                <a:spcPct val="90000"/>
              </a:lnSpc>
              <a:spcBef>
                <a:spcPts val="1850"/>
              </a:spcBef>
              <a:spcAft>
                <a:spcPts val="0"/>
              </a:spcAft>
              <a:buClr>
                <a:srgbClr val="F3A447"/>
              </a:buClr>
              <a:buSzPts val="2600"/>
              <a:buFont typeface="Noto Sans Symbols"/>
              <a:buChar char="⚫"/>
            </a:pPr>
            <a:r>
              <a:rPr lang="en-US" sz="2600" b="1" i="0" u="none" strike="noStrike" cap="none">
                <a:solidFill>
                  <a:srgbClr val="F3A447"/>
                </a:solidFill>
                <a:latin typeface="Constantia"/>
                <a:ea typeface="Constantia"/>
                <a:cs typeface="Constantia"/>
                <a:sym typeface="Constantia"/>
              </a:rPr>
              <a:t>CLI:</a:t>
            </a:r>
            <a:endParaRPr sz="1400" b="0" i="0" u="none" strike="noStrike" cap="none">
              <a:solidFill>
                <a:srgbClr val="F3A447"/>
              </a:solidFill>
              <a:latin typeface="Arial"/>
              <a:ea typeface="Arial"/>
              <a:cs typeface="Arial"/>
              <a:sym typeface="Arial"/>
            </a:endParaRPr>
          </a:p>
          <a:p>
            <a:pPr marL="628650" marR="0" lvl="1" indent="-239712" algn="l" rtl="0">
              <a:lnSpc>
                <a:spcPct val="90000"/>
              </a:lnSpc>
              <a:spcBef>
                <a:spcPts val="1800"/>
              </a:spcBef>
              <a:spcAft>
                <a:spcPts val="0"/>
              </a:spcAft>
              <a:buClr>
                <a:srgbClr val="F3A447"/>
              </a:buClr>
              <a:buSzPts val="2400"/>
              <a:buFont typeface="Noto Sans Symbols"/>
              <a:buChar char="⚫"/>
            </a:pPr>
            <a:r>
              <a:rPr lang="en-US" sz="2400" b="0" i="0" u="none" strike="noStrike" cap="none">
                <a:solidFill>
                  <a:srgbClr val="F3A447"/>
                </a:solidFill>
                <a:latin typeface="Constantia"/>
                <a:ea typeface="Constantia"/>
                <a:cs typeface="Constantia"/>
                <a:sym typeface="Constantia"/>
              </a:rPr>
              <a:t>It clears the Interrupt flag to 0.</a:t>
            </a:r>
            <a:endParaRPr sz="1400" b="0" i="0" u="none" strike="noStrike" cap="none">
              <a:solidFill>
                <a:srgbClr val="F3A447"/>
              </a:solidFill>
              <a:latin typeface="Arial"/>
              <a:ea typeface="Arial"/>
              <a:cs typeface="Arial"/>
              <a:sym typeface="Arial"/>
            </a:endParaRPr>
          </a:p>
          <a:p>
            <a:pPr marL="630238" marR="0" lvl="1" indent="-238123" algn="l" rtl="0">
              <a:lnSpc>
                <a:spcPct val="90000"/>
              </a:lnSpc>
              <a:spcBef>
                <a:spcPts val="1800"/>
              </a:spcBef>
              <a:spcAft>
                <a:spcPts val="0"/>
              </a:spcAft>
              <a:buClr>
                <a:schemeClr val="lt1"/>
              </a:buClr>
              <a:buSzPts val="2400"/>
              <a:buFont typeface="Century Gothic"/>
              <a:buNone/>
            </a:pPr>
            <a:endParaRPr sz="2400" b="0" i="0" u="none" strike="noStrike" cap="none">
              <a:solidFill>
                <a:srgbClr val="000000"/>
              </a:solidFill>
              <a:latin typeface="Constantia"/>
              <a:ea typeface="Constantia"/>
              <a:cs typeface="Constantia"/>
              <a:sym typeface="Constantia"/>
            </a:endParaRPr>
          </a:p>
        </p:txBody>
      </p:sp>
      <p:sp>
        <p:nvSpPr>
          <p:cNvPr id="683" name="Google Shape;683;p57"/>
          <p:cNvSpPr txBox="1"/>
          <p:nvPr/>
        </p:nvSpPr>
        <p:spPr>
          <a:xfrm>
            <a:off x="609600" y="6356351"/>
            <a:ext cx="2844800" cy="365125"/>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404924"/>
              </a:buClr>
              <a:buSzPts val="1200"/>
              <a:buFont typeface="Constantia"/>
              <a:buNone/>
            </a:pPr>
            <a:r>
              <a:rPr lang="en-US" sz="1200" b="0" i="0" u="none" strike="noStrike" cap="none">
                <a:solidFill>
                  <a:srgbClr val="404924"/>
                </a:solidFill>
                <a:latin typeface="Constantia"/>
                <a:ea typeface="Constantia"/>
                <a:cs typeface="Constantia"/>
                <a:sym typeface="Constantia"/>
              </a:rPr>
              <a:t>21-Nov-2010</a:t>
            </a:r>
            <a:endParaRPr sz="1400" b="0" i="0" u="none" strike="noStrike" cap="none">
              <a:solidFill>
                <a:srgbClr val="000000"/>
              </a:solidFill>
              <a:latin typeface="Arial"/>
              <a:ea typeface="Arial"/>
              <a:cs typeface="Arial"/>
              <a:sym typeface="Arial"/>
            </a:endParaRPr>
          </a:p>
        </p:txBody>
      </p:sp>
      <p:sp>
        <p:nvSpPr>
          <p:cNvPr id="684" name="Google Shape;684;p57"/>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46</a:t>
            </a:fld>
            <a:endParaRPr sz="1200" b="0" i="0" u="none" strike="noStrike" cap="none">
              <a:solidFill>
                <a:srgbClr val="404924"/>
              </a:solidFill>
              <a:latin typeface="Constantia"/>
              <a:ea typeface="Constantia"/>
              <a:cs typeface="Constantia"/>
              <a:sym typeface="Constantia"/>
            </a:endParaRPr>
          </a:p>
        </p:txBody>
      </p:sp>
      <p:sp>
        <p:nvSpPr>
          <p:cNvPr id="685" name="Google Shape;685;p57"/>
          <p:cNvSpPr txBox="1"/>
          <p:nvPr/>
        </p:nvSpPr>
        <p:spPr>
          <a:xfrm>
            <a:off x="3556000" y="6356351"/>
            <a:ext cx="4470400" cy="365125"/>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404924"/>
              </a:buClr>
              <a:buSzPts val="1200"/>
              <a:buFont typeface="Constantia"/>
              <a:buNone/>
            </a:pPr>
            <a:r>
              <a:rPr lang="en-US" sz="1200" b="0" i="0" u="none" strike="noStrike" cap="none">
                <a:solidFill>
                  <a:srgbClr val="404924"/>
                </a:solidFill>
                <a:latin typeface="Constantia"/>
                <a:ea typeface="Constantia"/>
                <a:cs typeface="Constantia"/>
                <a:sym typeface="Constantia"/>
              </a:rPr>
              <a:t>ohmshankar.ece@act.edu.in</a:t>
            </a:r>
            <a:endParaRPr sz="1400" b="0" i="0" u="none" strike="noStrike" cap="none">
              <a:solidFill>
                <a:srgbClr val="000000"/>
              </a:solidFill>
              <a:latin typeface="Arial"/>
              <a:ea typeface="Arial"/>
              <a:cs typeface="Arial"/>
              <a:sym typeface="Arial"/>
            </a:endParaRPr>
          </a:p>
        </p:txBody>
      </p:sp>
      <p:sp>
        <p:nvSpPr>
          <p:cNvPr id="686" name="Google Shape;686;p57"/>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1"/>
                </a:solidFill>
                <a:latin typeface="Calibri"/>
                <a:ea typeface="Calibri"/>
                <a:cs typeface="Calibri"/>
                <a:sym typeface="Calibri"/>
              </a:rPr>
              <a:t>Flag Manipulation Instructions</a:t>
            </a:r>
            <a:endParaRPr sz="1400" b="0" i="0" u="none" strike="noStrike" cap="none">
              <a:solidFill>
                <a:schemeClr val="accen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58"/>
          <p:cNvSpPr txBox="1"/>
          <p:nvPr/>
        </p:nvSpPr>
        <p:spPr>
          <a:xfrm>
            <a:off x="812800" y="2105026"/>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a:solidFill>
                  <a:schemeClr val="accent2"/>
                </a:solidFill>
                <a:latin typeface="Calibri"/>
                <a:ea typeface="Calibri"/>
                <a:cs typeface="Calibri"/>
                <a:sym typeface="Calibri"/>
              </a:rPr>
              <a:t>6. Shift And Rotate Instructions</a:t>
            </a:r>
            <a:endParaRPr sz="1400" b="0" i="0" u="none" strike="noStrike" cap="none">
              <a:solidFill>
                <a:schemeClr val="accent2"/>
              </a:solidFill>
              <a:latin typeface="Arial"/>
              <a:ea typeface="Arial"/>
              <a:cs typeface="Arial"/>
              <a:sym typeface="Arial"/>
            </a:endParaRPr>
          </a:p>
        </p:txBody>
      </p:sp>
      <p:pic>
        <p:nvPicPr>
          <p:cNvPr id="2" name="Picture 1"/>
          <p:cNvPicPr>
            <a:picLocks noChangeAspect="1"/>
          </p:cNvPicPr>
          <p:nvPr/>
        </p:nvPicPr>
        <p:blipFill>
          <a:blip r:embed="rId3"/>
          <a:stretch>
            <a:fillRect/>
          </a:stretch>
        </p:blipFill>
        <p:spPr>
          <a:xfrm>
            <a:off x="4178300" y="3155950"/>
            <a:ext cx="3124200" cy="293370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59"/>
          <p:cNvSpPr txBox="1"/>
          <p:nvPr/>
        </p:nvSpPr>
        <p:spPr>
          <a:xfrm>
            <a:off x="166254" y="1504084"/>
            <a:ext cx="4959927"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2600"/>
              <a:buFont typeface="Noto Sans Symbols"/>
              <a:buChar char="⚫"/>
            </a:pPr>
            <a:r>
              <a:rPr lang="en-US" sz="1800" b="1" i="0" u="none" strike="noStrike" cap="none" dirty="0">
                <a:solidFill>
                  <a:srgbClr val="F3A447"/>
                </a:solidFill>
                <a:latin typeface="Constantia"/>
                <a:ea typeface="Constantia"/>
                <a:cs typeface="Constantia"/>
                <a:sym typeface="Constantia"/>
              </a:rPr>
              <a:t>SHL/SAL Des, Count:</a:t>
            </a:r>
            <a:endParaRPr sz="1800" b="0" i="0" u="none" strike="noStrike" cap="none" dirty="0">
              <a:solidFill>
                <a:srgbClr val="F3A447"/>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1800" b="0" i="0" u="none" strike="noStrike" cap="none" dirty="0">
                <a:solidFill>
                  <a:srgbClr val="F3A447"/>
                </a:solidFill>
                <a:latin typeface="Constantia"/>
                <a:ea typeface="Constantia"/>
                <a:cs typeface="Constantia"/>
                <a:sym typeface="Constantia"/>
              </a:rPr>
              <a:t>It shift bits of byte or word left, by count.</a:t>
            </a:r>
            <a:endParaRPr sz="1800" b="0" i="0" u="none" strike="noStrike" cap="none" dirty="0">
              <a:solidFill>
                <a:srgbClr val="F3A447"/>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1800" b="0" i="0" u="none" strike="noStrike" cap="none" dirty="0">
                <a:solidFill>
                  <a:srgbClr val="F3A447"/>
                </a:solidFill>
                <a:latin typeface="Constantia"/>
                <a:ea typeface="Constantia"/>
                <a:cs typeface="Constantia"/>
                <a:sym typeface="Constantia"/>
              </a:rPr>
              <a:t>It puts zero(s) in LSBs.</a:t>
            </a:r>
            <a:endParaRPr sz="1800" b="0" i="0" u="none" strike="noStrike" cap="none" dirty="0">
              <a:solidFill>
                <a:srgbClr val="F3A447"/>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1800" b="0" i="0" u="none" strike="noStrike" cap="none" dirty="0">
                <a:solidFill>
                  <a:srgbClr val="F3A447"/>
                </a:solidFill>
                <a:latin typeface="Constantia"/>
                <a:ea typeface="Constantia"/>
                <a:cs typeface="Constantia"/>
                <a:sym typeface="Constantia"/>
              </a:rPr>
              <a:t>MSB is shifted into carry flag.</a:t>
            </a:r>
            <a:endParaRPr sz="1800" b="0" i="0" u="none" strike="noStrike" cap="none" dirty="0">
              <a:solidFill>
                <a:srgbClr val="F3A447"/>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1800" b="0" i="0" u="none" strike="noStrike" cap="none" dirty="0">
                <a:solidFill>
                  <a:srgbClr val="F3A447"/>
                </a:solidFill>
                <a:latin typeface="Constantia"/>
                <a:ea typeface="Constantia"/>
                <a:cs typeface="Constantia"/>
                <a:sym typeface="Constantia"/>
              </a:rPr>
              <a:t>If the number of bits desired to be shifted is 1, then the immediate number 1 can be written in Count.</a:t>
            </a:r>
            <a:endParaRPr sz="1800" b="0" i="0" u="none" strike="noStrike" cap="none" dirty="0">
              <a:solidFill>
                <a:srgbClr val="F3A447"/>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1800" b="0" i="0" u="none" strike="noStrike" cap="none" dirty="0">
                <a:solidFill>
                  <a:srgbClr val="F3A447"/>
                </a:solidFill>
                <a:latin typeface="Constantia"/>
                <a:ea typeface="Constantia"/>
                <a:cs typeface="Constantia"/>
                <a:sym typeface="Constantia"/>
              </a:rPr>
              <a:t>However, if the number of bits to be shifted is more than 1, then the count is put in CL register. And recent bit to the CF (Carry flag)</a:t>
            </a:r>
            <a:endParaRPr sz="1800" b="0" i="0" u="none" strike="noStrike" cap="none" dirty="0">
              <a:solidFill>
                <a:srgbClr val="F3A447"/>
              </a:solidFill>
              <a:sym typeface="Arial"/>
            </a:endParaRPr>
          </a:p>
        </p:txBody>
      </p:sp>
      <p:sp>
        <p:nvSpPr>
          <p:cNvPr id="700" name="Google Shape;700;p59"/>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48</a:t>
            </a:fld>
            <a:endParaRPr sz="1200" b="0" i="0" u="none" strike="noStrike" cap="none">
              <a:solidFill>
                <a:srgbClr val="404924"/>
              </a:solidFill>
              <a:latin typeface="Constantia"/>
              <a:ea typeface="Constantia"/>
              <a:cs typeface="Constantia"/>
              <a:sym typeface="Constantia"/>
            </a:endParaRPr>
          </a:p>
        </p:txBody>
      </p:sp>
      <p:sp>
        <p:nvSpPr>
          <p:cNvPr id="701" name="Google Shape;701;p59"/>
          <p:cNvSpPr txBox="1"/>
          <p:nvPr/>
        </p:nvSpPr>
        <p:spPr>
          <a:xfrm>
            <a:off x="609600" y="0"/>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chemeClr val="accent1"/>
                </a:solidFill>
                <a:latin typeface="Calibri"/>
                <a:ea typeface="Calibri"/>
                <a:cs typeface="Calibri"/>
                <a:sym typeface="Calibri"/>
              </a:rPr>
              <a:t>Shift </a:t>
            </a:r>
            <a:r>
              <a:rPr lang="en-US" sz="5000" b="1" i="0" u="none" strike="noStrike" cap="none" dirty="0" smtClean="0">
                <a:solidFill>
                  <a:schemeClr val="accent1"/>
                </a:solidFill>
                <a:latin typeface="Calibri"/>
                <a:ea typeface="Calibri"/>
                <a:cs typeface="Calibri"/>
                <a:sym typeface="Calibri"/>
              </a:rPr>
              <a:t> </a:t>
            </a:r>
            <a:r>
              <a:rPr lang="en-US" sz="5000" b="1" i="0" u="none" strike="noStrike" cap="none" dirty="0">
                <a:solidFill>
                  <a:schemeClr val="accent1"/>
                </a:solidFill>
                <a:latin typeface="Calibri"/>
                <a:ea typeface="Calibri"/>
                <a:cs typeface="Calibri"/>
                <a:sym typeface="Calibri"/>
              </a:rPr>
              <a:t>Instructions</a:t>
            </a:r>
            <a:endParaRPr sz="1400" b="0" i="0" u="none" strike="noStrike" cap="none" dirty="0">
              <a:solidFill>
                <a:schemeClr val="accent1"/>
              </a:solidFill>
              <a:latin typeface="Arial"/>
              <a:ea typeface="Arial"/>
              <a:cs typeface="Arial"/>
              <a:sym typeface="Arial"/>
            </a:endParaRPr>
          </a:p>
        </p:txBody>
      </p:sp>
      <p:sp>
        <p:nvSpPr>
          <p:cNvPr id="2" name="Rectangle 1"/>
          <p:cNvSpPr/>
          <p:nvPr/>
        </p:nvSpPr>
        <p:spPr>
          <a:xfrm>
            <a:off x="5624945" y="1504084"/>
            <a:ext cx="6096000" cy="4016484"/>
          </a:xfrm>
          <a:prstGeom prst="rect">
            <a:avLst/>
          </a:prstGeom>
        </p:spPr>
        <p:txBody>
          <a:bodyPr>
            <a:spAutoFit/>
          </a:bodyPr>
          <a:lstStyle/>
          <a:p>
            <a:pPr marL="261938" lvl="0" indent="-261938">
              <a:buClr>
                <a:srgbClr val="F3A447"/>
              </a:buClr>
              <a:buSzPts val="2600"/>
              <a:buFont typeface="Noto Sans Symbols"/>
              <a:buChar char="⚫"/>
            </a:pPr>
            <a:r>
              <a:rPr lang="en-US" sz="1800" b="1" dirty="0">
                <a:solidFill>
                  <a:srgbClr val="F3A447"/>
                </a:solidFill>
                <a:latin typeface="Constantia"/>
                <a:ea typeface="Constantia"/>
                <a:cs typeface="Constantia"/>
                <a:sym typeface="Constantia"/>
              </a:rPr>
              <a:t>SHR/SAR Des, Count:</a:t>
            </a:r>
            <a:endParaRPr lang="en-US" sz="1800" dirty="0">
              <a:solidFill>
                <a:srgbClr val="F3A447"/>
              </a:solidFill>
            </a:endParaRPr>
          </a:p>
          <a:p>
            <a:pPr marL="628650" lvl="1" indent="-239712">
              <a:spcBef>
                <a:spcPts val="1800"/>
              </a:spcBef>
              <a:buClr>
                <a:srgbClr val="F3A447"/>
              </a:buClr>
              <a:buSzPts val="2400"/>
              <a:buFont typeface="Noto Sans Symbols"/>
              <a:buChar char="⚫"/>
            </a:pPr>
            <a:r>
              <a:rPr lang="en-US" sz="1800" dirty="0">
                <a:solidFill>
                  <a:srgbClr val="F3A447"/>
                </a:solidFill>
                <a:latin typeface="Constantia"/>
                <a:ea typeface="Constantia"/>
                <a:cs typeface="Constantia"/>
                <a:sym typeface="Constantia"/>
              </a:rPr>
              <a:t>It shift bits of byte or word right, by count.</a:t>
            </a:r>
            <a:endParaRPr lang="en-US" sz="1800" dirty="0">
              <a:solidFill>
                <a:srgbClr val="F3A447"/>
              </a:solidFill>
            </a:endParaRPr>
          </a:p>
          <a:p>
            <a:pPr marL="628650" lvl="1" indent="-239712">
              <a:spcBef>
                <a:spcPts val="1800"/>
              </a:spcBef>
              <a:buClr>
                <a:srgbClr val="F3A447"/>
              </a:buClr>
              <a:buSzPts val="2400"/>
              <a:buFont typeface="Noto Sans Symbols"/>
              <a:buChar char="⚫"/>
            </a:pPr>
            <a:r>
              <a:rPr lang="en-US" sz="1800" dirty="0">
                <a:solidFill>
                  <a:srgbClr val="F3A447"/>
                </a:solidFill>
                <a:latin typeface="Constantia"/>
                <a:ea typeface="Constantia"/>
                <a:cs typeface="Constantia"/>
                <a:sym typeface="Constantia"/>
              </a:rPr>
              <a:t>It puts zero(s)(for SHL) and Sign bit (for SAL) in MSBs.</a:t>
            </a:r>
            <a:endParaRPr lang="en-US" sz="1800" dirty="0">
              <a:solidFill>
                <a:srgbClr val="F3A447"/>
              </a:solidFill>
            </a:endParaRPr>
          </a:p>
          <a:p>
            <a:pPr marL="628650" lvl="1" indent="-239712">
              <a:spcBef>
                <a:spcPts val="1800"/>
              </a:spcBef>
              <a:buClr>
                <a:srgbClr val="F3A447"/>
              </a:buClr>
              <a:buSzPts val="2400"/>
              <a:buFont typeface="Noto Sans Symbols"/>
              <a:buChar char="⚫"/>
            </a:pPr>
            <a:r>
              <a:rPr lang="en-US" sz="1800" dirty="0">
                <a:solidFill>
                  <a:srgbClr val="F3A447"/>
                </a:solidFill>
                <a:latin typeface="Constantia"/>
                <a:ea typeface="Constantia"/>
                <a:cs typeface="Constantia"/>
                <a:sym typeface="Constantia"/>
              </a:rPr>
              <a:t>LSB is shifted into carry flag.</a:t>
            </a:r>
            <a:endParaRPr lang="en-US" sz="1800" dirty="0">
              <a:solidFill>
                <a:srgbClr val="F3A447"/>
              </a:solidFill>
            </a:endParaRPr>
          </a:p>
          <a:p>
            <a:pPr marL="628650" lvl="1" indent="-239712">
              <a:spcBef>
                <a:spcPts val="1800"/>
              </a:spcBef>
              <a:buClr>
                <a:srgbClr val="F3A447"/>
              </a:buClr>
              <a:buSzPts val="2400"/>
              <a:buFont typeface="Noto Sans Symbols"/>
              <a:buChar char="⚫"/>
            </a:pPr>
            <a:r>
              <a:rPr lang="en-US" sz="1800" dirty="0">
                <a:solidFill>
                  <a:srgbClr val="F3A447"/>
                </a:solidFill>
                <a:latin typeface="Constantia"/>
                <a:ea typeface="Constantia"/>
                <a:cs typeface="Constantia"/>
                <a:sym typeface="Constantia"/>
              </a:rPr>
              <a:t>If the number of bits desired to be shifted is 1, then the immediate number 1 can be written in Count.</a:t>
            </a:r>
            <a:endParaRPr lang="en-US" sz="1800" dirty="0">
              <a:solidFill>
                <a:srgbClr val="F3A447"/>
              </a:solidFill>
            </a:endParaRPr>
          </a:p>
          <a:p>
            <a:pPr marL="628650" lvl="1" indent="-239712">
              <a:spcBef>
                <a:spcPts val="1800"/>
              </a:spcBef>
              <a:buClr>
                <a:srgbClr val="F3A447"/>
              </a:buClr>
              <a:buSzPts val="2400"/>
              <a:buFont typeface="Noto Sans Symbols"/>
              <a:buChar char="⚫"/>
            </a:pPr>
            <a:r>
              <a:rPr lang="en-US" sz="1800" dirty="0">
                <a:solidFill>
                  <a:srgbClr val="F3A447"/>
                </a:solidFill>
                <a:latin typeface="Constantia"/>
                <a:ea typeface="Constantia"/>
                <a:cs typeface="Constantia"/>
                <a:sym typeface="Constantia"/>
              </a:rPr>
              <a:t>However, if the number of bits to be shifted is more than 1, then the count is put in CL register. And recent bit to the CF (Carry flag)</a:t>
            </a:r>
            <a:endParaRPr lang="en-US" sz="1800" dirty="0">
              <a:solidFill>
                <a:srgbClr val="F3A447"/>
              </a:solidFill>
            </a:endParaRPr>
          </a:p>
        </p:txBody>
      </p:sp>
      <p:sp>
        <p:nvSpPr>
          <p:cNvPr id="3" name="Rectangle 2"/>
          <p:cNvSpPr/>
          <p:nvPr/>
        </p:nvSpPr>
        <p:spPr>
          <a:xfrm>
            <a:off x="304801" y="765420"/>
            <a:ext cx="11416144" cy="584775"/>
          </a:xfrm>
          <a:prstGeom prst="rect">
            <a:avLst/>
          </a:prstGeom>
        </p:spPr>
        <p:txBody>
          <a:bodyPr wrap="square">
            <a:spAutoFit/>
          </a:bodyPr>
          <a:lstStyle/>
          <a:p>
            <a:r>
              <a:rPr lang="en-US" sz="1600" b="1" dirty="0">
                <a:solidFill>
                  <a:srgbClr val="333333"/>
                </a:solidFill>
                <a:latin typeface="Helvetica Neue Light"/>
              </a:rPr>
              <a:t>Shift instructions: Shift instructions can perform two basic types of shift operations; the logical shift and the arithmetic shift. Also, each of these operations can be performed to the right or to the left.</a:t>
            </a:r>
            <a:endParaRPr lang="en-IN" sz="1600" b="1"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55418"/>
            <a:ext cx="6024562" cy="3503468"/>
          </a:xfrm>
          <a:prstGeom prst="rect">
            <a:avLst/>
          </a:prstGeom>
        </p:spPr>
      </p:pic>
      <p:pic>
        <p:nvPicPr>
          <p:cNvPr id="3" name="Picture 2"/>
          <p:cNvPicPr>
            <a:picLocks noChangeAspect="1"/>
          </p:cNvPicPr>
          <p:nvPr/>
        </p:nvPicPr>
        <p:blipFill>
          <a:blip r:embed="rId3"/>
          <a:stretch>
            <a:fillRect/>
          </a:stretch>
        </p:blipFill>
        <p:spPr>
          <a:xfrm>
            <a:off x="6024562" y="66674"/>
            <a:ext cx="6042747" cy="3381376"/>
          </a:xfrm>
          <a:prstGeom prst="rect">
            <a:avLst/>
          </a:prstGeom>
        </p:spPr>
      </p:pic>
      <p:pic>
        <p:nvPicPr>
          <p:cNvPr id="4" name="Picture 3"/>
          <p:cNvPicPr>
            <a:picLocks noChangeAspect="1"/>
          </p:cNvPicPr>
          <p:nvPr/>
        </p:nvPicPr>
        <p:blipFill>
          <a:blip r:embed="rId4"/>
          <a:stretch>
            <a:fillRect/>
          </a:stretch>
        </p:blipFill>
        <p:spPr>
          <a:xfrm>
            <a:off x="2497281" y="3448050"/>
            <a:ext cx="7422574" cy="3162300"/>
          </a:xfrm>
          <a:prstGeom prst="rect">
            <a:avLst/>
          </a:prstGeom>
        </p:spPr>
      </p:pic>
    </p:spTree>
    <p:extLst>
      <p:ext uri="{BB962C8B-B14F-4D97-AF65-F5344CB8AC3E}">
        <p14:creationId xmlns:p14="http://schemas.microsoft.com/office/powerpoint/2010/main" val="3584270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834254" cy="646331"/>
          </a:xfrm>
          <a:prstGeom prst="rect">
            <a:avLst/>
          </a:prstGeom>
        </p:spPr>
        <p:txBody>
          <a:bodyPr wrap="square">
            <a:spAutoFit/>
          </a:bodyPr>
          <a:lstStyle/>
          <a:p>
            <a:r>
              <a:rPr lang="en-US" sz="1800" b="1" dirty="0">
                <a:solidFill>
                  <a:srgbClr val="333333"/>
                </a:solidFill>
                <a:latin typeface="Helvetica Neue Light"/>
              </a:rPr>
              <a:t>SHL, SHR, SAL, and, SAR instructions:</a:t>
            </a:r>
            <a:r>
              <a:rPr lang="en-US" sz="1800" dirty="0">
                <a:solidFill>
                  <a:srgbClr val="333333"/>
                </a:solidFill>
                <a:latin typeface="Helvetica Neue Light"/>
              </a:rPr>
              <a:t> The operation of these instructions is described in figure</a:t>
            </a:r>
          </a:p>
          <a:p>
            <a:r>
              <a:rPr lang="en-US" sz="1800" dirty="0">
                <a:solidFill>
                  <a:srgbClr val="333333"/>
                </a:solidFill>
                <a:latin typeface="Helvetica Neue Light"/>
              </a:rPr>
              <a:t>As an example if (AX)=1234H, Executing SHL AX,1 can be illustrated as shown below: </a:t>
            </a:r>
          </a:p>
        </p:txBody>
      </p:sp>
      <p:pic>
        <p:nvPicPr>
          <p:cNvPr id="1026" name="Picture 2" descr="https://blogger.googleusercontent.com/img/b/R29vZ2xl/AVvXsEhO8OAY71s0AP8J6ZGABG24i8TIgGELKhm9HWZ3B-HYWFiqPAxbZ2PHmoeDHS7UAbKrXbPX_FbMvg8CNWKzTRmFh_CXngmz3soExfcHj0wkF9A_HxwjgM0JsZk_rWbQxm2Df5O46yXdjUbC/s1600/ro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555" y="646331"/>
            <a:ext cx="9473335" cy="200905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0" y="3199732"/>
            <a:ext cx="11454535" cy="1015663"/>
          </a:xfrm>
          <a:prstGeom prst="rect">
            <a:avLst/>
          </a:prstGeom>
        </p:spPr>
        <p:txBody>
          <a:bodyPr wrap="square">
            <a:spAutoFit/>
          </a:bodyPr>
          <a:lstStyle/>
          <a:p>
            <a:r>
              <a:rPr lang="en-US" sz="2000" dirty="0"/>
              <a:t>If the source operand is specified as CL instead of 1, the count in this register represents the number of bit positions the contents of the operand are to be shifted. An example of executing SHR AX, CL FOR (AX=1234H) and CL=2 is shown below:</a:t>
            </a:r>
            <a:r>
              <a:rPr lang="en-US" sz="2000" dirty="0" smtClean="0">
                <a:solidFill>
                  <a:srgbClr val="333333"/>
                </a:solidFill>
                <a:latin typeface="Helvetica Neue Light"/>
              </a:rPr>
              <a:t>:</a:t>
            </a:r>
            <a:endParaRPr lang="en-IN" sz="2000" dirty="0"/>
          </a:p>
        </p:txBody>
      </p:sp>
      <p:pic>
        <p:nvPicPr>
          <p:cNvPr id="1028" name="Picture 4" descr="https://blogger.googleusercontent.com/img/b/R29vZ2xl/AVvXsEimD6-L9sJI1cr4N6K01wtyxlVRhOnb1_sAie0_UdHR1clHorvq04l_KDK7H-MiK89R2RgRwBQ4r9eR3DlkYhH_niKWe4KJFkmiG3IhZjidYNTXbFomeY015X1fyp6uw-sMG5aaC88cZ-O8/s640/ror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509" y="4215395"/>
            <a:ext cx="10789515" cy="158115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07819" y="2322593"/>
            <a:ext cx="10418615" cy="1200329"/>
          </a:xfrm>
          <a:prstGeom prst="rect">
            <a:avLst/>
          </a:prstGeom>
        </p:spPr>
        <p:txBody>
          <a:bodyPr wrap="square">
            <a:spAutoFit/>
          </a:bodyPr>
          <a:lstStyle/>
          <a:p>
            <a:r>
              <a:rPr lang="en-US" sz="1800" b="1" dirty="0">
                <a:solidFill>
                  <a:srgbClr val="333333"/>
                </a:solidFill>
                <a:latin typeface="+mj-lt"/>
              </a:rPr>
              <a:t>The l6-bit contents of the AX register are shifted 1 bit position to the left. The vacated LSB location is filled with zero and the bit shifted out of the MSB is saved in CF.</a:t>
            </a:r>
          </a:p>
          <a:p>
            <a:r>
              <a:rPr lang="en-US" sz="1800" b="1" dirty="0">
                <a:latin typeface="+mj-lt"/>
              </a:rPr>
              <a:t/>
            </a:r>
            <a:br>
              <a:rPr lang="en-US" sz="1800" b="1" dirty="0">
                <a:latin typeface="+mj-lt"/>
              </a:rPr>
            </a:br>
            <a:endParaRPr lang="en-IN" sz="1800" b="1" dirty="0">
              <a:latin typeface="+mj-lt"/>
            </a:endParaRPr>
          </a:p>
        </p:txBody>
      </p:sp>
      <p:sp>
        <p:nvSpPr>
          <p:cNvPr id="5" name="Rectangle 4"/>
          <p:cNvSpPr/>
          <p:nvPr/>
        </p:nvSpPr>
        <p:spPr>
          <a:xfrm>
            <a:off x="609600" y="5786727"/>
            <a:ext cx="10224654" cy="830997"/>
          </a:xfrm>
          <a:prstGeom prst="rect">
            <a:avLst/>
          </a:prstGeom>
        </p:spPr>
        <p:txBody>
          <a:bodyPr wrap="square">
            <a:spAutoFit/>
          </a:bodyPr>
          <a:lstStyle/>
          <a:p>
            <a:r>
              <a:rPr lang="en-US" sz="1600" dirty="0">
                <a:solidFill>
                  <a:srgbClr val="333333"/>
                </a:solidFill>
                <a:latin typeface="+mj-lt"/>
              </a:rPr>
              <a:t>In an arithmetic shift to the left, the SAL operation, the vacated bits at the right of the operand are filled with zeros, whereas in an arithmetic shift to the right, the SAR operation, the vacated bits at the left are filled with the value of the original MSB of the operand. </a:t>
            </a:r>
            <a:endParaRPr lang="en-IN" sz="1600" dirty="0">
              <a:latin typeface="+mj-lt"/>
            </a:endParaRPr>
          </a:p>
        </p:txBody>
      </p:sp>
    </p:spTree>
    <p:extLst>
      <p:ext uri="{BB962C8B-B14F-4D97-AF65-F5344CB8AC3E}">
        <p14:creationId xmlns:p14="http://schemas.microsoft.com/office/powerpoint/2010/main" val="428921895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61"/>
          <p:cNvSpPr txBox="1"/>
          <p:nvPr/>
        </p:nvSpPr>
        <p:spPr>
          <a:xfrm>
            <a:off x="249381" y="866775"/>
            <a:ext cx="4378036"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2600"/>
              <a:buFont typeface="Noto Sans Symbols"/>
              <a:buChar char="⚫"/>
            </a:pPr>
            <a:r>
              <a:rPr lang="en-US" sz="1800" b="1" i="0" u="none" strike="noStrike" cap="none" dirty="0">
                <a:solidFill>
                  <a:srgbClr val="F3A447"/>
                </a:solidFill>
                <a:latin typeface="Constantia"/>
                <a:ea typeface="Constantia"/>
                <a:cs typeface="Constantia"/>
                <a:sym typeface="Constantia"/>
              </a:rPr>
              <a:t>ROL Des, Count:</a:t>
            </a:r>
            <a:endParaRPr sz="1800" b="0" i="0" u="none" strike="noStrike" cap="none" dirty="0">
              <a:solidFill>
                <a:srgbClr val="F3A447"/>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1800" b="0" i="0" u="none" strike="noStrike" cap="none" dirty="0">
                <a:solidFill>
                  <a:srgbClr val="F3A447"/>
                </a:solidFill>
                <a:latin typeface="Constantia"/>
                <a:ea typeface="Constantia"/>
                <a:cs typeface="Constantia"/>
                <a:sym typeface="Constantia"/>
              </a:rPr>
              <a:t>It rotates bits of byte or word left, by count.</a:t>
            </a:r>
            <a:endParaRPr sz="1800" b="0" i="0" u="none" strike="noStrike" cap="none" dirty="0">
              <a:solidFill>
                <a:srgbClr val="F3A447"/>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1800" b="0" i="0" u="none" strike="noStrike" cap="none" dirty="0">
                <a:solidFill>
                  <a:srgbClr val="F3A447"/>
                </a:solidFill>
                <a:latin typeface="Constantia"/>
                <a:ea typeface="Constantia"/>
                <a:cs typeface="Constantia"/>
                <a:sym typeface="Constantia"/>
              </a:rPr>
              <a:t>LSB is transferred to MSB and also to CF.</a:t>
            </a:r>
            <a:endParaRPr sz="1800" b="0" i="0" u="none" strike="noStrike" cap="none" dirty="0">
              <a:solidFill>
                <a:srgbClr val="F3A447"/>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1800" b="0" i="0" u="none" strike="noStrike" cap="none" dirty="0">
                <a:solidFill>
                  <a:srgbClr val="F3A447"/>
                </a:solidFill>
                <a:latin typeface="Constantia"/>
                <a:ea typeface="Constantia"/>
                <a:cs typeface="Constantia"/>
                <a:sym typeface="Constantia"/>
              </a:rPr>
              <a:t>If the number of bits desired to be shifted is 1, then the immediate number 1 can be written in Count.</a:t>
            </a:r>
            <a:endParaRPr sz="1800" b="0" i="0" u="none" strike="noStrike" cap="none" dirty="0">
              <a:solidFill>
                <a:srgbClr val="F3A447"/>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1800" b="0" i="0" u="none" strike="noStrike" cap="none" dirty="0">
                <a:solidFill>
                  <a:srgbClr val="F3A447"/>
                </a:solidFill>
                <a:latin typeface="Constantia"/>
                <a:ea typeface="Constantia"/>
                <a:cs typeface="Constantia"/>
                <a:sym typeface="Constantia"/>
              </a:rPr>
              <a:t>However, if the number of bits to be shifted is more than 1, then the count is put in CL register. And recent bit to the CF (Carry flag)</a:t>
            </a:r>
            <a:endParaRPr sz="1800" b="0" i="0" u="none" strike="noStrike" cap="none" dirty="0">
              <a:solidFill>
                <a:srgbClr val="F3A447"/>
              </a:solidFill>
              <a:sym typeface="Arial"/>
            </a:endParaRPr>
          </a:p>
        </p:txBody>
      </p:sp>
      <p:sp>
        <p:nvSpPr>
          <p:cNvPr id="718" name="Google Shape;718;p61"/>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51</a:t>
            </a:fld>
            <a:endParaRPr sz="1200" b="0" i="0" u="none" strike="noStrike" cap="none">
              <a:solidFill>
                <a:srgbClr val="404924"/>
              </a:solidFill>
              <a:latin typeface="Constantia"/>
              <a:ea typeface="Constantia"/>
              <a:cs typeface="Constantia"/>
              <a:sym typeface="Constantia"/>
            </a:endParaRPr>
          </a:p>
        </p:txBody>
      </p:sp>
      <p:sp>
        <p:nvSpPr>
          <p:cNvPr id="719" name="Google Shape;719;p61"/>
          <p:cNvSpPr txBox="1"/>
          <p:nvPr/>
        </p:nvSpPr>
        <p:spPr>
          <a:xfrm>
            <a:off x="609600" y="0"/>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smtClean="0">
                <a:solidFill>
                  <a:schemeClr val="accent1"/>
                </a:solidFill>
                <a:latin typeface="Calibri"/>
                <a:ea typeface="Calibri"/>
                <a:cs typeface="Calibri"/>
                <a:sym typeface="Calibri"/>
              </a:rPr>
              <a:t> </a:t>
            </a:r>
            <a:r>
              <a:rPr lang="en-US" sz="5000" b="1" i="0" u="none" strike="noStrike" cap="none" dirty="0">
                <a:solidFill>
                  <a:schemeClr val="accent1"/>
                </a:solidFill>
                <a:latin typeface="Calibri"/>
                <a:ea typeface="Calibri"/>
                <a:cs typeface="Calibri"/>
                <a:sym typeface="Calibri"/>
              </a:rPr>
              <a:t>Rotate Instructions</a:t>
            </a:r>
            <a:endParaRPr sz="1400" b="0" i="0" u="none" strike="noStrike" cap="none" dirty="0">
              <a:solidFill>
                <a:schemeClr val="accent1"/>
              </a:solidFill>
              <a:latin typeface="Arial"/>
              <a:ea typeface="Arial"/>
              <a:cs typeface="Arial"/>
              <a:sym typeface="Arial"/>
            </a:endParaRPr>
          </a:p>
        </p:txBody>
      </p:sp>
      <p:sp>
        <p:nvSpPr>
          <p:cNvPr id="5" name="Google Shape;726;p62"/>
          <p:cNvSpPr txBox="1"/>
          <p:nvPr/>
        </p:nvSpPr>
        <p:spPr>
          <a:xfrm>
            <a:off x="5611090" y="1306513"/>
            <a:ext cx="5860473"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2600"/>
              <a:buFont typeface="Noto Sans Symbols"/>
              <a:buChar char="⚫"/>
            </a:pPr>
            <a:r>
              <a:rPr lang="en-US" sz="1800" b="1" i="0" u="none" strike="noStrike" cap="none">
                <a:solidFill>
                  <a:srgbClr val="F3A447"/>
                </a:solidFill>
                <a:latin typeface="Constantia"/>
                <a:ea typeface="Constantia"/>
                <a:cs typeface="Constantia"/>
                <a:sym typeface="Constantia"/>
              </a:rPr>
              <a:t>ROR Des, Count:</a:t>
            </a:r>
            <a:endParaRPr sz="1800" b="0" i="0" u="none" strike="noStrike" cap="none">
              <a:solidFill>
                <a:srgbClr val="F3A447"/>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1800" b="0" i="0" u="none" strike="noStrike" cap="none">
                <a:solidFill>
                  <a:srgbClr val="F3A447"/>
                </a:solidFill>
                <a:latin typeface="Constantia"/>
                <a:ea typeface="Constantia"/>
                <a:cs typeface="Constantia"/>
                <a:sym typeface="Constantia"/>
              </a:rPr>
              <a:t>It rotates bits of byte or word right, by count.</a:t>
            </a:r>
            <a:endParaRPr sz="1800" b="0" i="0" u="none" strike="noStrike" cap="none">
              <a:solidFill>
                <a:srgbClr val="F3A447"/>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1800" b="0" i="0" u="none" strike="noStrike" cap="none">
                <a:solidFill>
                  <a:srgbClr val="F3A447"/>
                </a:solidFill>
                <a:latin typeface="Constantia"/>
                <a:ea typeface="Constantia"/>
                <a:cs typeface="Constantia"/>
                <a:sym typeface="Constantia"/>
              </a:rPr>
              <a:t>MSB is transferred to LSB and also to CF.</a:t>
            </a:r>
            <a:endParaRPr sz="1800" b="0" i="0" u="none" strike="noStrike" cap="none">
              <a:solidFill>
                <a:srgbClr val="F3A447"/>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1800" b="0" i="0" u="none" strike="noStrike" cap="none">
                <a:solidFill>
                  <a:srgbClr val="F3A447"/>
                </a:solidFill>
                <a:latin typeface="Constantia"/>
                <a:ea typeface="Constantia"/>
                <a:cs typeface="Constantia"/>
                <a:sym typeface="Constantia"/>
              </a:rPr>
              <a:t>If the number of bits desired to be shifted is 1, then the immediate number 1 can be written in Count.</a:t>
            </a:r>
            <a:endParaRPr sz="1800" b="0" i="0" u="none" strike="noStrike" cap="none">
              <a:solidFill>
                <a:srgbClr val="F3A447"/>
              </a:solidFil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1800" b="0" i="0" u="none" strike="noStrike" cap="none">
                <a:solidFill>
                  <a:srgbClr val="F3A447"/>
                </a:solidFill>
                <a:latin typeface="Constantia"/>
                <a:ea typeface="Constantia"/>
                <a:cs typeface="Constantia"/>
                <a:sym typeface="Constantia"/>
              </a:rPr>
              <a:t>However, if the number of bits to be shifted is more than 1, then the count is put in CL register. And recent bit to the CF (Carry flag)</a:t>
            </a:r>
            <a:endParaRPr sz="1800" b="0" i="0" u="none" strike="noStrike" cap="none">
              <a:solidFill>
                <a:srgbClr val="F3A447"/>
              </a:solidFill>
              <a:sym typeface="Arial"/>
            </a:endParaRPr>
          </a:p>
          <a:p>
            <a:pPr marL="263525" marR="0" lvl="0" indent="-261938" algn="l" rtl="0">
              <a:lnSpc>
                <a:spcPct val="100000"/>
              </a:lnSpc>
              <a:spcBef>
                <a:spcPts val="1850"/>
              </a:spcBef>
              <a:spcAft>
                <a:spcPts val="0"/>
              </a:spcAft>
              <a:buClr>
                <a:schemeClr val="lt1"/>
              </a:buClr>
              <a:buSzPts val="2400"/>
              <a:buFont typeface="Century Gothic"/>
              <a:buNone/>
            </a:pPr>
            <a:endParaRPr sz="1800" b="0" i="0" u="none" strike="noStrike" cap="none">
              <a:solidFill>
                <a:srgbClr val="F3A447"/>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63"/>
          <p:cNvSpPr txBox="1"/>
          <p:nvPr/>
        </p:nvSpPr>
        <p:spPr>
          <a:xfrm>
            <a:off x="263236" y="866775"/>
            <a:ext cx="5361709"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3A447"/>
              </a:buClr>
              <a:buSzPts val="2600"/>
              <a:buFont typeface="Noto Sans Symbols"/>
              <a:buChar char="⚫"/>
            </a:pPr>
            <a:r>
              <a:rPr lang="en-US" sz="2600" b="1" i="0" u="none" strike="noStrike" cap="none" dirty="0">
                <a:solidFill>
                  <a:srgbClr val="F3A447"/>
                </a:solidFill>
                <a:latin typeface="Constantia"/>
                <a:ea typeface="Constantia"/>
                <a:cs typeface="Constantia"/>
                <a:sym typeface="Constantia"/>
              </a:rPr>
              <a:t>RCL Des, Count:</a:t>
            </a:r>
            <a:endParaRPr sz="1400" b="0" i="0" u="none" strike="noStrike" cap="none" dirty="0">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dirty="0">
                <a:solidFill>
                  <a:srgbClr val="F3A447"/>
                </a:solidFill>
                <a:latin typeface="Constantia"/>
                <a:ea typeface="Constantia"/>
                <a:cs typeface="Constantia"/>
                <a:sym typeface="Constantia"/>
              </a:rPr>
              <a:t>It rotates bits of byte or word right, by count.</a:t>
            </a:r>
            <a:endParaRPr sz="1400" b="0" i="0" u="none" strike="noStrike" cap="none" dirty="0">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dirty="0">
                <a:solidFill>
                  <a:srgbClr val="F3A447"/>
                </a:solidFill>
                <a:latin typeface="Constantia"/>
                <a:ea typeface="Constantia"/>
                <a:cs typeface="Constantia"/>
                <a:sym typeface="Constantia"/>
              </a:rPr>
              <a:t>LSB to MSB then MSB is transferred to CF and CF to LSB.</a:t>
            </a:r>
            <a:endParaRPr sz="1400" b="0" i="0" u="none" strike="noStrike" cap="none" dirty="0">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dirty="0">
                <a:solidFill>
                  <a:srgbClr val="F3A447"/>
                </a:solidFill>
                <a:latin typeface="Constantia"/>
                <a:ea typeface="Constantia"/>
                <a:cs typeface="Constantia"/>
                <a:sym typeface="Constantia"/>
              </a:rPr>
              <a:t>If the number of bits desired to be shifted is 1, then the immediate number 1 can be written in Count.</a:t>
            </a:r>
            <a:endParaRPr sz="1400" b="0" i="0" u="none" strike="noStrike" cap="none" dirty="0">
              <a:solidFill>
                <a:srgbClr val="F3A447"/>
              </a:solidFill>
              <a:latin typeface="Arial"/>
              <a:ea typeface="Arial"/>
              <a:cs typeface="Arial"/>
              <a:sym typeface="Arial"/>
            </a:endParaRPr>
          </a:p>
          <a:p>
            <a:pPr marL="628650" marR="0" lvl="1" indent="-239712" algn="l" rtl="0">
              <a:lnSpc>
                <a:spcPct val="100000"/>
              </a:lnSpc>
              <a:spcBef>
                <a:spcPts val="1800"/>
              </a:spcBef>
              <a:spcAft>
                <a:spcPts val="0"/>
              </a:spcAft>
              <a:buClr>
                <a:srgbClr val="F3A447"/>
              </a:buClr>
              <a:buSzPts val="2400"/>
              <a:buFont typeface="Noto Sans Symbols"/>
              <a:buChar char="⚫"/>
            </a:pPr>
            <a:r>
              <a:rPr lang="en-US" sz="2400" b="0" i="0" u="none" strike="noStrike" cap="none" dirty="0">
                <a:solidFill>
                  <a:srgbClr val="F3A447"/>
                </a:solidFill>
                <a:latin typeface="Constantia"/>
                <a:ea typeface="Constantia"/>
                <a:cs typeface="Constantia"/>
                <a:sym typeface="Constantia"/>
              </a:rPr>
              <a:t>However, if the number of bits to be shifted is more than 1, then the count is put in CL register. And recent bit to the CF (Carry flag)</a:t>
            </a:r>
            <a:endParaRPr sz="1400" b="0" i="0" u="none" strike="noStrike" cap="none" dirty="0">
              <a:solidFill>
                <a:srgbClr val="F3A447"/>
              </a:solidFill>
              <a:latin typeface="Arial"/>
              <a:ea typeface="Arial"/>
              <a:cs typeface="Arial"/>
              <a:sym typeface="Arial"/>
            </a:endParaRPr>
          </a:p>
          <a:p>
            <a:pPr marL="263525" marR="0" lvl="0" indent="-261938" algn="l" rtl="0">
              <a:lnSpc>
                <a:spcPct val="100000"/>
              </a:lnSpc>
              <a:spcBef>
                <a:spcPts val="1850"/>
              </a:spcBef>
              <a:spcAft>
                <a:spcPts val="0"/>
              </a:spcAft>
              <a:buClr>
                <a:schemeClr val="lt1"/>
              </a:buClr>
              <a:buSzPts val="2400"/>
              <a:buFont typeface="Century Gothic"/>
              <a:buNone/>
            </a:pPr>
            <a:endParaRPr sz="2400" b="0" i="0" u="none" strike="noStrike" cap="none" dirty="0">
              <a:solidFill>
                <a:srgbClr val="F3A447"/>
              </a:solidFill>
              <a:latin typeface="Constantia"/>
              <a:ea typeface="Constantia"/>
              <a:cs typeface="Constantia"/>
              <a:sym typeface="Constantia"/>
            </a:endParaRPr>
          </a:p>
        </p:txBody>
      </p:sp>
      <p:sp>
        <p:nvSpPr>
          <p:cNvPr id="738" name="Google Shape;738;p63"/>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52</a:t>
            </a:fld>
            <a:endParaRPr sz="1200" b="0" i="0" u="none" strike="noStrike" cap="none">
              <a:solidFill>
                <a:srgbClr val="404924"/>
              </a:solidFill>
              <a:latin typeface="Constantia"/>
              <a:ea typeface="Constantia"/>
              <a:cs typeface="Constantia"/>
              <a:sym typeface="Constantia"/>
            </a:endParaRPr>
          </a:p>
        </p:txBody>
      </p:sp>
      <p:sp>
        <p:nvSpPr>
          <p:cNvPr id="739" name="Google Shape;739;p63"/>
          <p:cNvSpPr txBox="1"/>
          <p:nvPr/>
        </p:nvSpPr>
        <p:spPr>
          <a:xfrm>
            <a:off x="609600" y="0"/>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smtClean="0">
                <a:solidFill>
                  <a:schemeClr val="accent1"/>
                </a:solidFill>
                <a:latin typeface="Calibri"/>
                <a:ea typeface="Calibri"/>
                <a:cs typeface="Calibri"/>
                <a:sym typeface="Calibri"/>
              </a:rPr>
              <a:t>Rotate </a:t>
            </a:r>
            <a:r>
              <a:rPr lang="en-US" sz="5000" b="1" i="0" u="none" strike="noStrike" cap="none" dirty="0">
                <a:solidFill>
                  <a:schemeClr val="accent1"/>
                </a:solidFill>
                <a:latin typeface="Calibri"/>
                <a:ea typeface="Calibri"/>
                <a:cs typeface="Calibri"/>
                <a:sym typeface="Calibri"/>
              </a:rPr>
              <a:t>Instructions</a:t>
            </a:r>
            <a:endParaRPr sz="1400" b="0" i="0" u="none" strike="noStrike" cap="none" dirty="0">
              <a:solidFill>
                <a:schemeClr val="accent1"/>
              </a:solidFill>
              <a:latin typeface="Arial"/>
              <a:ea typeface="Arial"/>
              <a:cs typeface="Arial"/>
              <a:sym typeface="Arial"/>
            </a:endParaRPr>
          </a:p>
        </p:txBody>
      </p:sp>
      <p:sp>
        <p:nvSpPr>
          <p:cNvPr id="5" name="Google Shape;746;p64"/>
          <p:cNvSpPr txBox="1"/>
          <p:nvPr/>
        </p:nvSpPr>
        <p:spPr>
          <a:xfrm>
            <a:off x="5855855" y="866775"/>
            <a:ext cx="4710545"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FC000"/>
              </a:buClr>
              <a:buSzPts val="2600"/>
              <a:buFont typeface="Noto Sans Symbols"/>
              <a:buChar char="⚫"/>
            </a:pPr>
            <a:r>
              <a:rPr lang="en-US" sz="2000" b="1" i="0" u="none" strike="noStrike" cap="none" dirty="0">
                <a:solidFill>
                  <a:srgbClr val="FFC000"/>
                </a:solidFill>
                <a:latin typeface="Constantia"/>
                <a:ea typeface="Constantia"/>
                <a:cs typeface="Constantia"/>
                <a:sym typeface="Constantia"/>
              </a:rPr>
              <a:t>RCR Des, Count:</a:t>
            </a:r>
            <a:endParaRPr sz="2000" b="0" i="0" u="none" strike="noStrike" cap="none" dirty="0">
              <a:solidFill>
                <a:srgbClr val="FFC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000" b="0" i="0" u="none" strike="noStrike" cap="none" dirty="0">
                <a:solidFill>
                  <a:srgbClr val="FFC000"/>
                </a:solidFill>
                <a:latin typeface="Constantia"/>
                <a:ea typeface="Constantia"/>
                <a:cs typeface="Constantia"/>
                <a:sym typeface="Constantia"/>
              </a:rPr>
              <a:t>It rotates bits of byte or word left, by count.</a:t>
            </a:r>
            <a:endParaRPr sz="2000" b="0" i="0" u="none" strike="noStrike" cap="none" dirty="0">
              <a:solidFill>
                <a:srgbClr val="FFC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000" b="0" i="0" u="none" strike="noStrike" cap="none" dirty="0">
                <a:solidFill>
                  <a:srgbClr val="FFC000"/>
                </a:solidFill>
                <a:latin typeface="Constantia"/>
                <a:ea typeface="Constantia"/>
                <a:cs typeface="Constantia"/>
                <a:sym typeface="Constantia"/>
              </a:rPr>
              <a:t>MSB to LSB then LSB is transferred to CF and CF to MSB.</a:t>
            </a:r>
            <a:endParaRPr sz="2000" b="0" i="0" u="none" strike="noStrike" cap="none" dirty="0">
              <a:solidFill>
                <a:srgbClr val="FFC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000" b="0" i="0" u="none" strike="noStrike" cap="none" dirty="0">
                <a:solidFill>
                  <a:srgbClr val="FFC000"/>
                </a:solidFill>
                <a:latin typeface="Constantia"/>
                <a:ea typeface="Constantia"/>
                <a:cs typeface="Constantia"/>
                <a:sym typeface="Constantia"/>
              </a:rPr>
              <a:t>If the number of bits desired to be shifted is 1, then the immediate number 1 can be written in Count.</a:t>
            </a:r>
            <a:endParaRPr sz="2000" b="0" i="0" u="none" strike="noStrike" cap="none" dirty="0">
              <a:solidFill>
                <a:srgbClr val="FFC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000" b="0" i="0" u="none" strike="noStrike" cap="none" dirty="0">
                <a:solidFill>
                  <a:srgbClr val="FFC000"/>
                </a:solidFill>
                <a:latin typeface="Constantia"/>
                <a:ea typeface="Constantia"/>
                <a:cs typeface="Constantia"/>
                <a:sym typeface="Constantia"/>
              </a:rPr>
              <a:t>However, if the number of bits to be shifted is more than 1, then the count is put in CL register. And recent bit to the CF (Carry flag)</a:t>
            </a:r>
            <a:endParaRPr sz="2000" b="0" i="0" u="none" strike="noStrike" cap="none" dirty="0">
              <a:solidFill>
                <a:srgbClr val="FFC000"/>
              </a:solidFill>
              <a:sym typeface="Arial"/>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 y="0"/>
            <a:ext cx="6220692" cy="3311235"/>
          </a:xfrm>
          <a:prstGeom prst="rect">
            <a:avLst/>
          </a:prstGeom>
        </p:spPr>
      </p:pic>
      <p:pic>
        <p:nvPicPr>
          <p:cNvPr id="3" name="Picture 2"/>
          <p:cNvPicPr>
            <a:picLocks noChangeAspect="1"/>
          </p:cNvPicPr>
          <p:nvPr/>
        </p:nvPicPr>
        <p:blipFill>
          <a:blip r:embed="rId3"/>
          <a:stretch>
            <a:fillRect/>
          </a:stretch>
        </p:blipFill>
        <p:spPr>
          <a:xfrm>
            <a:off x="6220691" y="9525"/>
            <a:ext cx="5971309" cy="3301710"/>
          </a:xfrm>
          <a:prstGeom prst="rect">
            <a:avLst/>
          </a:prstGeom>
        </p:spPr>
      </p:pic>
      <p:pic>
        <p:nvPicPr>
          <p:cNvPr id="4" name="Picture 3"/>
          <p:cNvPicPr>
            <a:picLocks noChangeAspect="1"/>
          </p:cNvPicPr>
          <p:nvPr/>
        </p:nvPicPr>
        <p:blipFill>
          <a:blip r:embed="rId4"/>
          <a:stretch>
            <a:fillRect/>
          </a:stretch>
        </p:blipFill>
        <p:spPr>
          <a:xfrm>
            <a:off x="0" y="3311235"/>
            <a:ext cx="6220691" cy="3546765"/>
          </a:xfrm>
          <a:prstGeom prst="rect">
            <a:avLst/>
          </a:prstGeom>
        </p:spPr>
      </p:pic>
      <p:pic>
        <p:nvPicPr>
          <p:cNvPr id="5" name="Picture 4"/>
          <p:cNvPicPr>
            <a:picLocks noChangeAspect="1"/>
          </p:cNvPicPr>
          <p:nvPr/>
        </p:nvPicPr>
        <p:blipFill>
          <a:blip r:embed="rId5"/>
          <a:stretch>
            <a:fillRect/>
          </a:stretch>
        </p:blipFill>
        <p:spPr>
          <a:xfrm>
            <a:off x="6220691" y="3311235"/>
            <a:ext cx="5971309" cy="3435929"/>
          </a:xfrm>
          <a:prstGeom prst="rect">
            <a:avLst/>
          </a:prstGeom>
        </p:spPr>
      </p:pic>
    </p:spTree>
    <p:extLst>
      <p:ext uri="{BB962C8B-B14F-4D97-AF65-F5344CB8AC3E}">
        <p14:creationId xmlns:p14="http://schemas.microsoft.com/office/powerpoint/2010/main" val="315862262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1672" y="1244472"/>
            <a:ext cx="11610108" cy="923330"/>
          </a:xfrm>
          <a:prstGeom prst="rect">
            <a:avLst/>
          </a:prstGeom>
        </p:spPr>
        <p:txBody>
          <a:bodyPr wrap="square">
            <a:spAutoFit/>
          </a:bodyPr>
          <a:lstStyle/>
          <a:p>
            <a:r>
              <a:rPr lang="en-US" sz="1800" b="1" dirty="0">
                <a:solidFill>
                  <a:srgbClr val="333333"/>
                </a:solidFill>
                <a:latin typeface="+mj-lt"/>
              </a:rPr>
              <a:t>If (CL) =02H and AX=1234AH . Determine the new contents of AX and the carry flag after executing the instructions:</a:t>
            </a:r>
          </a:p>
          <a:p>
            <a:r>
              <a:rPr lang="en-US" sz="1800" b="1" dirty="0">
                <a:solidFill>
                  <a:srgbClr val="333333"/>
                </a:solidFill>
                <a:latin typeface="+mj-lt"/>
              </a:rPr>
              <a:t>                         </a:t>
            </a:r>
            <a:r>
              <a:rPr lang="en-US" sz="1800" b="1" i="1" dirty="0">
                <a:solidFill>
                  <a:srgbClr val="333333"/>
                </a:solidFill>
                <a:latin typeface="+mj-lt"/>
              </a:rPr>
              <a:t>a) ROL AX, </a:t>
            </a:r>
            <a:r>
              <a:rPr lang="en-US" sz="1800" b="1" i="1" dirty="0" smtClean="0">
                <a:solidFill>
                  <a:srgbClr val="333333"/>
                </a:solidFill>
                <a:latin typeface="+mj-lt"/>
              </a:rPr>
              <a:t>1</a:t>
            </a:r>
            <a:r>
              <a:rPr lang="en-US" sz="1800" b="1" dirty="0" smtClean="0">
                <a:solidFill>
                  <a:srgbClr val="333333"/>
                </a:solidFill>
                <a:latin typeface="+mj-lt"/>
              </a:rPr>
              <a:t>                   </a:t>
            </a:r>
            <a:r>
              <a:rPr lang="en-US" sz="1800" b="1" i="1" dirty="0" smtClean="0">
                <a:solidFill>
                  <a:srgbClr val="333333"/>
                </a:solidFill>
                <a:latin typeface="+mj-lt"/>
              </a:rPr>
              <a:t>b</a:t>
            </a:r>
            <a:r>
              <a:rPr lang="en-US" sz="1800" b="1" i="1" dirty="0">
                <a:solidFill>
                  <a:srgbClr val="333333"/>
                </a:solidFill>
                <a:latin typeface="+mj-lt"/>
              </a:rPr>
              <a:t>) ROR AX, CL </a:t>
            </a:r>
            <a:endParaRPr lang="en-US" sz="1800" b="1" dirty="0">
              <a:solidFill>
                <a:srgbClr val="333333"/>
              </a:solidFill>
              <a:latin typeface="+mj-lt"/>
            </a:endParaRPr>
          </a:p>
        </p:txBody>
      </p:sp>
      <p:pic>
        <p:nvPicPr>
          <p:cNvPr id="2050" name="Picture 2" descr="https://blogger.googleusercontent.com/img/b/R29vZ2xl/AVvXsEi-Jw3mP9_dhWiSPrFsggxJhGiwMaP8j5Pngpcnqt_AD7HooKRFRQjfb34ddMAKmdgFZPc_PZbpNJ0C3DuzgO_WvpBMDxkoKerDE0LUSX6SggG8bkIc703CjVTnbTZyGMbRMZxfgOC45OBT/s640/ror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672" y="2167802"/>
            <a:ext cx="10099964" cy="46901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6982" y="-124691"/>
            <a:ext cx="12095018" cy="954107"/>
          </a:xfrm>
          <a:prstGeom prst="rect">
            <a:avLst/>
          </a:prstGeom>
        </p:spPr>
        <p:txBody>
          <a:bodyPr wrap="square">
            <a:spAutoFit/>
          </a:bodyPr>
          <a:lstStyle/>
          <a:p>
            <a:r>
              <a:rPr lang="en-US" b="1" dirty="0">
                <a:solidFill>
                  <a:srgbClr val="333333"/>
                </a:solidFill>
                <a:latin typeface="Helvetica Neue Light"/>
              </a:rPr>
              <a:t/>
            </a:r>
            <a:br>
              <a:rPr lang="en-US" b="1" dirty="0">
                <a:solidFill>
                  <a:srgbClr val="333333"/>
                </a:solidFill>
                <a:latin typeface="Helvetica Neue Light"/>
              </a:rPr>
            </a:br>
            <a:r>
              <a:rPr lang="en-US" b="1" dirty="0">
                <a:solidFill>
                  <a:srgbClr val="333333"/>
                </a:solidFill>
                <a:latin typeface="Helvetica Neue Light"/>
              </a:rPr>
              <a:t>ROL, ROR, RCL, and, RCR instructions:</a:t>
            </a:r>
            <a:r>
              <a:rPr lang="en-US" dirty="0">
                <a:solidFill>
                  <a:srgbClr val="333333"/>
                </a:solidFill>
                <a:latin typeface="Helvetica Neue Light"/>
              </a:rPr>
              <a:t> </a:t>
            </a:r>
            <a:r>
              <a:rPr lang="en-US" dirty="0" smtClean="0">
                <a:solidFill>
                  <a:srgbClr val="333333"/>
                </a:solidFill>
                <a:latin typeface="Helvetica Neue Light"/>
              </a:rPr>
              <a:t> </a:t>
            </a:r>
            <a:r>
              <a:rPr lang="en-US" dirty="0">
                <a:solidFill>
                  <a:srgbClr val="333333"/>
                </a:solidFill>
                <a:latin typeface="Helvetica Neue Light"/>
              </a:rPr>
              <a:t>They have the ability to rotate the contents of either an internal register or a storage location in memory. Also, the rotation that takes place can be from 1 to 255 bit positions to the left or to the right. Moreover, in the case of a multibit rotate, the number of bit positions to be rotated is specified by the value in CL. </a:t>
            </a:r>
            <a:endParaRPr lang="en-IN" dirty="0"/>
          </a:p>
        </p:txBody>
      </p:sp>
    </p:spTree>
    <p:extLst>
      <p:ext uri="{BB962C8B-B14F-4D97-AF65-F5344CB8AC3E}">
        <p14:creationId xmlns:p14="http://schemas.microsoft.com/office/powerpoint/2010/main" val="160077439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65"/>
          <p:cNvSpPr txBox="1"/>
          <p:nvPr/>
        </p:nvSpPr>
        <p:spPr>
          <a:xfrm>
            <a:off x="609600" y="2867026"/>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chemeClr val="accent6"/>
                </a:solidFill>
                <a:latin typeface="Calibri"/>
                <a:ea typeface="Calibri"/>
                <a:cs typeface="Calibri"/>
                <a:sym typeface="Calibri"/>
              </a:rPr>
              <a:t>7. String Manipulation Instructions</a:t>
            </a:r>
            <a:endParaRPr sz="1400" b="0" i="0" u="none" strike="noStrike" cap="none" dirty="0">
              <a:solidFill>
                <a:schemeClr val="accent6"/>
              </a:solidFill>
              <a:sym typeface="Arial"/>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66"/>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chemeClr val="accent6"/>
                </a:solidFill>
                <a:latin typeface="Calibri"/>
                <a:ea typeface="Calibri"/>
                <a:cs typeface="Calibri"/>
                <a:sym typeface="Calibri"/>
              </a:rPr>
              <a:t>String Manipulation Instructions</a:t>
            </a:r>
            <a:endParaRPr sz="1400" b="0" i="0" u="none" strike="noStrike" cap="none" dirty="0">
              <a:solidFill>
                <a:schemeClr val="accent6"/>
              </a:solidFill>
              <a:sym typeface="Arial"/>
            </a:endParaRPr>
          </a:p>
        </p:txBody>
      </p:sp>
      <p:sp>
        <p:nvSpPr>
          <p:cNvPr id="762" name="Google Shape;762;p66"/>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457200" lvl="0" indent="-393700" algn="l" rtl="0">
              <a:spcBef>
                <a:spcPts val="1850"/>
              </a:spcBef>
              <a:spcAft>
                <a:spcPts val="0"/>
              </a:spcAft>
              <a:buClr>
                <a:srgbClr val="FFFF00"/>
              </a:buClr>
              <a:buSzPts val="2600"/>
              <a:buFont typeface="Noto Sans Symbols"/>
              <a:buChar char="⚫"/>
            </a:pPr>
            <a:endParaRPr>
              <a:solidFill>
                <a:srgbClr val="FFFF00"/>
              </a:solidFill>
            </a:endParaRPr>
          </a:p>
          <a:p>
            <a:pPr marL="261938" marR="0" lvl="0" indent="-261938" algn="l" rtl="0">
              <a:lnSpc>
                <a:spcPct val="100000"/>
              </a:lnSpc>
              <a:spcBef>
                <a:spcPts val="0"/>
              </a:spcBef>
              <a:spcAft>
                <a:spcPts val="0"/>
              </a:spcAft>
              <a:buClr>
                <a:schemeClr val="accent2"/>
              </a:buClr>
              <a:buSzPts val="2600"/>
              <a:buFont typeface="Noto Sans Symbols"/>
              <a:buChar char="⚫"/>
            </a:pPr>
            <a:r>
              <a:rPr lang="en-US" sz="2600" b="0" i="0" u="none" strike="noStrike" cap="none">
                <a:solidFill>
                  <a:schemeClr val="accent2"/>
                </a:solidFill>
                <a:latin typeface="Constantia"/>
                <a:ea typeface="Constantia"/>
                <a:cs typeface="Constantia"/>
                <a:sym typeface="Constantia"/>
              </a:rPr>
              <a:t>String in assembly language is just a sequentially stored bytes or words.</a:t>
            </a:r>
            <a:endParaRPr sz="1400" b="0" i="0" u="none" strike="noStrike" cap="none">
              <a:solidFill>
                <a:schemeClr val="accent2"/>
              </a:solidFill>
              <a:latin typeface="Arial"/>
              <a:ea typeface="Arial"/>
              <a:cs typeface="Arial"/>
              <a:sym typeface="Arial"/>
            </a:endParaRPr>
          </a:p>
          <a:p>
            <a:pPr marL="261938" marR="0" lvl="0" indent="-261938" algn="l" rtl="0">
              <a:lnSpc>
                <a:spcPct val="100000"/>
              </a:lnSpc>
              <a:spcBef>
                <a:spcPts val="1850"/>
              </a:spcBef>
              <a:spcAft>
                <a:spcPts val="0"/>
              </a:spcAft>
              <a:buClr>
                <a:schemeClr val="accent2"/>
              </a:buClr>
              <a:buSzPts val="2600"/>
              <a:buFont typeface="Noto Sans Symbols"/>
              <a:buChar char="⚫"/>
            </a:pPr>
            <a:r>
              <a:rPr lang="en-US" sz="2600" b="0" i="0" u="none" strike="noStrike" cap="none">
                <a:solidFill>
                  <a:schemeClr val="accent2"/>
                </a:solidFill>
                <a:latin typeface="Constantia"/>
                <a:ea typeface="Constantia"/>
                <a:cs typeface="Constantia"/>
                <a:sym typeface="Constantia"/>
              </a:rPr>
              <a:t>There are very strong set of string instructions in 8086.</a:t>
            </a:r>
            <a:endParaRPr sz="1400" b="0" i="0" u="none" strike="noStrike" cap="none">
              <a:solidFill>
                <a:schemeClr val="accent2"/>
              </a:solidFill>
              <a:latin typeface="Arial"/>
              <a:ea typeface="Arial"/>
              <a:cs typeface="Arial"/>
              <a:sym typeface="Arial"/>
            </a:endParaRPr>
          </a:p>
          <a:p>
            <a:pPr marL="261938" marR="0" lvl="0" indent="-261938" algn="l" rtl="0">
              <a:lnSpc>
                <a:spcPct val="100000"/>
              </a:lnSpc>
              <a:spcBef>
                <a:spcPts val="1850"/>
              </a:spcBef>
              <a:spcAft>
                <a:spcPts val="0"/>
              </a:spcAft>
              <a:buClr>
                <a:schemeClr val="accent2"/>
              </a:buClr>
              <a:buSzPts val="2600"/>
              <a:buFont typeface="Noto Sans Symbols"/>
              <a:buChar char="⚫"/>
            </a:pPr>
            <a:r>
              <a:rPr lang="en-US" sz="2600" b="0" i="0" u="none" strike="noStrike" cap="none">
                <a:solidFill>
                  <a:schemeClr val="accent2"/>
                </a:solidFill>
                <a:latin typeface="Constantia"/>
                <a:ea typeface="Constantia"/>
                <a:cs typeface="Constantia"/>
                <a:sym typeface="Constantia"/>
              </a:rPr>
              <a:t>By using these string instructions, the size of the program is considerably reduced.</a:t>
            </a:r>
            <a:endParaRPr sz="1400" b="0" i="0" u="none" strike="noStrike" cap="none">
              <a:solidFill>
                <a:schemeClr val="accent2"/>
              </a:solidFill>
              <a:latin typeface="Arial"/>
              <a:ea typeface="Arial"/>
              <a:cs typeface="Arial"/>
              <a:sym typeface="Arial"/>
            </a:endParaRPr>
          </a:p>
        </p:txBody>
      </p:sp>
      <p:sp>
        <p:nvSpPr>
          <p:cNvPr id="763" name="Google Shape;763;p66"/>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56</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67"/>
          <p:cNvSpPr/>
          <p:nvPr/>
        </p:nvSpPr>
        <p:spPr>
          <a:xfrm>
            <a:off x="351375" y="405824"/>
            <a:ext cx="11535900" cy="838800"/>
          </a:xfrm>
          <a:prstGeom prst="rect">
            <a:avLst/>
          </a:prstGeom>
          <a:noFill/>
          <a:ln>
            <a:noFill/>
          </a:ln>
        </p:spPr>
        <p:txBody>
          <a:bodyPr spcFirstLastPara="1" wrap="square" lIns="90000" tIns="46800" rIns="90000" bIns="46800" anchor="ctr" anchorCtr="0">
            <a:noAutofit/>
          </a:bodyPr>
          <a:lstStyle/>
          <a:p>
            <a:pPr marL="0" marR="0" lvl="0" indent="0" algn="ctr" rtl="0">
              <a:lnSpc>
                <a:spcPct val="100000"/>
              </a:lnSpc>
              <a:spcBef>
                <a:spcPts val="0"/>
              </a:spcBef>
              <a:spcAft>
                <a:spcPts val="0"/>
              </a:spcAft>
              <a:buClr>
                <a:srgbClr val="000000"/>
              </a:buClr>
              <a:buSzPts val="3200"/>
              <a:buFont typeface="Verdana"/>
              <a:buNone/>
            </a:pPr>
            <a:r>
              <a:rPr lang="en-US" sz="3200" b="1" i="0" u="none" strike="noStrike" cap="none" dirty="0">
                <a:solidFill>
                  <a:schemeClr val="accent6"/>
                </a:solidFill>
                <a:latin typeface="Verdana"/>
                <a:ea typeface="Verdana"/>
                <a:cs typeface="Verdana"/>
                <a:sym typeface="Verdana"/>
              </a:rPr>
              <a:t>String Manipulation Instructions</a:t>
            </a:r>
            <a:endParaRPr sz="1400" b="0" i="0" u="none" strike="noStrike" cap="none" dirty="0">
              <a:solidFill>
                <a:schemeClr val="accent6"/>
              </a:solidFill>
              <a:sym typeface="Arial"/>
            </a:endParaRPr>
          </a:p>
        </p:txBody>
      </p:sp>
      <p:sp>
        <p:nvSpPr>
          <p:cNvPr id="772" name="Google Shape;772;p67"/>
          <p:cNvSpPr txBox="1"/>
          <p:nvPr/>
        </p:nvSpPr>
        <p:spPr>
          <a:xfrm>
            <a:off x="10566401" y="6356350"/>
            <a:ext cx="1003300" cy="3556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1800"/>
              <a:buFont typeface="Century Gothic"/>
              <a:buNone/>
            </a:pPr>
            <a:fld id="{00000000-1234-1234-1234-123412341234}" type="slidenum">
              <a:rPr lang="en-US" sz="1800" b="0" i="0" u="none" strike="noStrike" cap="none">
                <a:solidFill>
                  <a:srgbClr val="000000"/>
                </a:solidFill>
                <a:latin typeface="Century Gothic"/>
                <a:ea typeface="Century Gothic"/>
                <a:cs typeface="Century Gothic"/>
                <a:sym typeface="Century Gothic"/>
              </a:rPr>
              <a:t>57</a:t>
            </a:fld>
            <a:endParaRPr sz="1800" b="0" i="0" u="none" strike="noStrike" cap="none">
              <a:solidFill>
                <a:srgbClr val="000000"/>
              </a:solidFill>
              <a:latin typeface="Century Gothic"/>
              <a:ea typeface="Century Gothic"/>
              <a:cs typeface="Century Gothic"/>
              <a:sym typeface="Century Gothic"/>
            </a:endParaRPr>
          </a:p>
        </p:txBody>
      </p:sp>
      <p:sp>
        <p:nvSpPr>
          <p:cNvPr id="773" name="Google Shape;773;p67"/>
          <p:cNvSpPr txBox="1"/>
          <p:nvPr/>
        </p:nvSpPr>
        <p:spPr>
          <a:xfrm>
            <a:off x="82551" y="65089"/>
            <a:ext cx="3251200" cy="340735"/>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8086 Microprocessor</a:t>
            </a:r>
            <a:endParaRPr sz="1400" b="0" i="0" u="none" strike="noStrike" cap="none">
              <a:solidFill>
                <a:srgbClr val="000000"/>
              </a:solidFill>
              <a:latin typeface="Arial"/>
              <a:ea typeface="Arial"/>
              <a:cs typeface="Arial"/>
              <a:sym typeface="Arial"/>
            </a:endParaRPr>
          </a:p>
        </p:txBody>
      </p:sp>
      <p:sp>
        <p:nvSpPr>
          <p:cNvPr id="774" name="Google Shape;774;p67"/>
          <p:cNvSpPr txBox="1"/>
          <p:nvPr/>
        </p:nvSpPr>
        <p:spPr>
          <a:xfrm>
            <a:off x="351375" y="1959000"/>
            <a:ext cx="10871100" cy="4542900"/>
          </a:xfrm>
          <a:prstGeom prst="rect">
            <a:avLst/>
          </a:prstGeom>
          <a:noFill/>
          <a:ln>
            <a:noFill/>
          </a:ln>
        </p:spPr>
        <p:txBody>
          <a:bodyPr spcFirstLastPara="1" wrap="square" lIns="90000" tIns="46800" rIns="90000" bIns="46800" anchor="t" anchorCtr="0">
            <a:spAutoFit/>
          </a:bodyPr>
          <a:lstStyle/>
          <a:p>
            <a:pPr marL="284163" marR="0" lvl="0" indent="-284163" algn="l" rtl="0">
              <a:lnSpc>
                <a:spcPct val="100000"/>
              </a:lnSpc>
              <a:spcBef>
                <a:spcPts val="0"/>
              </a:spcBef>
              <a:spcAft>
                <a:spcPts val="0"/>
              </a:spcAft>
              <a:buClr>
                <a:srgbClr val="FFC000"/>
              </a:buClr>
              <a:buSzPts val="1700"/>
              <a:buFont typeface="Noto Sans Symbols"/>
              <a:buChar char="❑"/>
            </a:pPr>
            <a:r>
              <a:rPr lang="en-US" sz="1700" b="1" i="0" u="none" strike="noStrike" cap="none" dirty="0">
                <a:solidFill>
                  <a:srgbClr val="C00000"/>
                </a:solidFill>
                <a:latin typeface="Century Gothic"/>
                <a:ea typeface="Century Gothic"/>
                <a:cs typeface="Century Gothic"/>
                <a:sym typeface="Century Gothic"/>
              </a:rPr>
              <a:t>String : Sequence of bytes or words</a:t>
            </a:r>
            <a:endParaRPr sz="1700" b="0" i="0" u="none" strike="noStrike" cap="none" dirty="0">
              <a:solidFill>
                <a:srgbClr val="C00000"/>
              </a:solidFill>
              <a:sym typeface="Arial"/>
            </a:endParaRPr>
          </a:p>
          <a:p>
            <a:pPr marL="284163" marR="0" lvl="0" indent="-284163" algn="l" rtl="0">
              <a:lnSpc>
                <a:spcPct val="100000"/>
              </a:lnSpc>
              <a:spcBef>
                <a:spcPts val="0"/>
              </a:spcBef>
              <a:spcAft>
                <a:spcPts val="0"/>
              </a:spcAft>
              <a:buClr>
                <a:schemeClr val="lt1"/>
              </a:buClr>
              <a:buSzPts val="1400"/>
              <a:buFont typeface="Noto Sans Symbols"/>
              <a:buNone/>
            </a:pPr>
            <a:endParaRPr sz="1700" b="1" i="0" u="none" strike="noStrike" cap="none" dirty="0">
              <a:solidFill>
                <a:srgbClr val="C00000"/>
              </a:solidFill>
              <a:latin typeface="Century Gothic"/>
              <a:ea typeface="Century Gothic"/>
              <a:cs typeface="Century Gothic"/>
              <a:sym typeface="Century Gothic"/>
            </a:endParaRPr>
          </a:p>
          <a:p>
            <a:pPr marL="284163" marR="0" lvl="0" indent="-284163" algn="l" rtl="0">
              <a:lnSpc>
                <a:spcPct val="100000"/>
              </a:lnSpc>
              <a:spcBef>
                <a:spcPts val="0"/>
              </a:spcBef>
              <a:spcAft>
                <a:spcPts val="0"/>
              </a:spcAft>
              <a:buClr>
                <a:srgbClr val="FFC000"/>
              </a:buClr>
              <a:buSzPts val="1700"/>
              <a:buFont typeface="Noto Sans Symbols"/>
              <a:buChar char="❑"/>
            </a:pPr>
            <a:r>
              <a:rPr lang="en-US" sz="1700" b="1" i="0" u="none" strike="noStrike" cap="none" dirty="0">
                <a:solidFill>
                  <a:srgbClr val="C00000"/>
                </a:solidFill>
                <a:latin typeface="Century Gothic"/>
                <a:ea typeface="Century Gothic"/>
                <a:cs typeface="Century Gothic"/>
                <a:sym typeface="Century Gothic"/>
              </a:rPr>
              <a:t>8086 instruction set includes instruction for string movement, comparison, scan, load and store.</a:t>
            </a:r>
            <a:endParaRPr sz="1700" b="0" i="0" u="none" strike="noStrike" cap="none" dirty="0">
              <a:solidFill>
                <a:srgbClr val="C00000"/>
              </a:solidFill>
              <a:sym typeface="Arial"/>
            </a:endParaRPr>
          </a:p>
          <a:p>
            <a:pPr marL="284163" marR="0" lvl="0" indent="-284163" algn="l" rtl="0">
              <a:lnSpc>
                <a:spcPct val="100000"/>
              </a:lnSpc>
              <a:spcBef>
                <a:spcPts val="0"/>
              </a:spcBef>
              <a:spcAft>
                <a:spcPts val="0"/>
              </a:spcAft>
              <a:buClr>
                <a:schemeClr val="lt1"/>
              </a:buClr>
              <a:buSzPts val="1400"/>
              <a:buFont typeface="Noto Sans Symbols"/>
              <a:buNone/>
            </a:pPr>
            <a:endParaRPr sz="1700" b="1" i="0" u="none" strike="noStrike" cap="none" dirty="0">
              <a:solidFill>
                <a:srgbClr val="C00000"/>
              </a:solidFill>
              <a:latin typeface="Century Gothic"/>
              <a:ea typeface="Century Gothic"/>
              <a:cs typeface="Century Gothic"/>
              <a:sym typeface="Century Gothic"/>
            </a:endParaRPr>
          </a:p>
          <a:p>
            <a:pPr marL="284163" marR="0" lvl="0" indent="-284163" algn="l" rtl="0">
              <a:lnSpc>
                <a:spcPct val="100000"/>
              </a:lnSpc>
              <a:spcBef>
                <a:spcPts val="0"/>
              </a:spcBef>
              <a:spcAft>
                <a:spcPts val="0"/>
              </a:spcAft>
              <a:buClr>
                <a:srgbClr val="FFC000"/>
              </a:buClr>
              <a:buSzPts val="1700"/>
              <a:buFont typeface="Noto Sans Symbols"/>
              <a:buChar char="❑"/>
            </a:pPr>
            <a:r>
              <a:rPr lang="en-US" sz="1700" b="1" i="0" u="none" strike="noStrike" cap="none" dirty="0">
                <a:solidFill>
                  <a:srgbClr val="C00000"/>
                </a:solidFill>
                <a:latin typeface="Century Gothic"/>
                <a:ea typeface="Century Gothic"/>
                <a:cs typeface="Century Gothic"/>
                <a:sym typeface="Century Gothic"/>
              </a:rPr>
              <a:t>REP instruction prefix : used to repeat execution of string instructions</a:t>
            </a:r>
            <a:endParaRPr sz="1700" b="0" i="0" u="none" strike="noStrike" cap="none" dirty="0">
              <a:solidFill>
                <a:srgbClr val="C00000"/>
              </a:solidFill>
              <a:sym typeface="Arial"/>
            </a:endParaRPr>
          </a:p>
          <a:p>
            <a:pPr marL="284163" marR="0" lvl="0" indent="-284163" algn="l" rtl="0">
              <a:lnSpc>
                <a:spcPct val="100000"/>
              </a:lnSpc>
              <a:spcBef>
                <a:spcPts val="0"/>
              </a:spcBef>
              <a:spcAft>
                <a:spcPts val="0"/>
              </a:spcAft>
              <a:buClr>
                <a:schemeClr val="lt1"/>
              </a:buClr>
              <a:buSzPts val="1400"/>
              <a:buFont typeface="Noto Sans Symbols"/>
              <a:buNone/>
            </a:pPr>
            <a:endParaRPr sz="1700" b="1" i="0" u="none" strike="noStrike" cap="none" dirty="0">
              <a:solidFill>
                <a:srgbClr val="C00000"/>
              </a:solidFill>
              <a:latin typeface="Century Gothic"/>
              <a:ea typeface="Century Gothic"/>
              <a:cs typeface="Century Gothic"/>
              <a:sym typeface="Century Gothic"/>
            </a:endParaRPr>
          </a:p>
          <a:p>
            <a:pPr marL="284163" marR="0" lvl="0" indent="-284163" algn="l" rtl="0">
              <a:lnSpc>
                <a:spcPct val="100000"/>
              </a:lnSpc>
              <a:spcBef>
                <a:spcPts val="0"/>
              </a:spcBef>
              <a:spcAft>
                <a:spcPts val="0"/>
              </a:spcAft>
              <a:buClr>
                <a:srgbClr val="FFC000"/>
              </a:buClr>
              <a:buSzPts val="1700"/>
              <a:buFont typeface="Noto Sans Symbols"/>
              <a:buChar char="❑"/>
            </a:pPr>
            <a:r>
              <a:rPr lang="en-US" sz="1700" b="1" i="0" u="none" strike="noStrike" cap="none" dirty="0">
                <a:solidFill>
                  <a:srgbClr val="C00000"/>
                </a:solidFill>
                <a:latin typeface="Century Gothic"/>
                <a:ea typeface="Century Gothic"/>
                <a:cs typeface="Century Gothic"/>
                <a:sym typeface="Century Gothic"/>
              </a:rPr>
              <a:t>String instructions end with S or SB or SW.               S represents string, SB string byte and SW string word.</a:t>
            </a:r>
            <a:endParaRPr sz="1700" b="0" i="0" u="none" strike="noStrike" cap="none" dirty="0">
              <a:solidFill>
                <a:srgbClr val="C00000"/>
              </a:solidFill>
              <a:sym typeface="Arial"/>
            </a:endParaRPr>
          </a:p>
          <a:p>
            <a:pPr marL="284163" marR="0" lvl="0" indent="-284163" algn="l" rtl="0">
              <a:lnSpc>
                <a:spcPct val="100000"/>
              </a:lnSpc>
              <a:spcBef>
                <a:spcPts val="0"/>
              </a:spcBef>
              <a:spcAft>
                <a:spcPts val="0"/>
              </a:spcAft>
              <a:buClr>
                <a:schemeClr val="lt1"/>
              </a:buClr>
              <a:buSzPts val="1400"/>
              <a:buFont typeface="Noto Sans Symbols"/>
              <a:buNone/>
            </a:pPr>
            <a:endParaRPr sz="1700" b="1" i="0" u="none" strike="noStrike" cap="none" dirty="0">
              <a:solidFill>
                <a:srgbClr val="C00000"/>
              </a:solidFill>
              <a:latin typeface="Century Gothic"/>
              <a:ea typeface="Century Gothic"/>
              <a:cs typeface="Century Gothic"/>
              <a:sym typeface="Century Gothic"/>
            </a:endParaRPr>
          </a:p>
          <a:p>
            <a:pPr marL="284163" marR="0" lvl="0" indent="-284163" algn="l" rtl="0">
              <a:lnSpc>
                <a:spcPct val="100000"/>
              </a:lnSpc>
              <a:spcBef>
                <a:spcPts val="0"/>
              </a:spcBef>
              <a:spcAft>
                <a:spcPts val="0"/>
              </a:spcAft>
              <a:buClr>
                <a:srgbClr val="FFC000"/>
              </a:buClr>
              <a:buSzPts val="1700"/>
              <a:buFont typeface="Noto Sans Symbols"/>
              <a:buChar char="❑"/>
            </a:pPr>
            <a:r>
              <a:rPr lang="en-US" sz="1700" b="1" i="0" u="none" strike="noStrike" cap="none" dirty="0">
                <a:solidFill>
                  <a:srgbClr val="C00000"/>
                </a:solidFill>
                <a:latin typeface="Century Gothic"/>
                <a:ea typeface="Century Gothic"/>
                <a:cs typeface="Century Gothic"/>
                <a:sym typeface="Century Gothic"/>
              </a:rPr>
              <a:t>Offset or effective address of the source operand is stored in SI register and that of the destination operand is stored in DI register.</a:t>
            </a:r>
            <a:endParaRPr sz="1700" b="0" i="0" u="none" strike="noStrike" cap="none" dirty="0">
              <a:solidFill>
                <a:srgbClr val="C00000"/>
              </a:solidFill>
              <a:sym typeface="Arial"/>
            </a:endParaRPr>
          </a:p>
          <a:p>
            <a:pPr marL="284163" marR="0" lvl="0" indent="-284163" algn="l" rtl="0">
              <a:lnSpc>
                <a:spcPct val="100000"/>
              </a:lnSpc>
              <a:spcBef>
                <a:spcPts val="0"/>
              </a:spcBef>
              <a:spcAft>
                <a:spcPts val="0"/>
              </a:spcAft>
              <a:buClr>
                <a:schemeClr val="lt1"/>
              </a:buClr>
              <a:buSzPts val="1400"/>
              <a:buFont typeface="Noto Sans Symbols"/>
              <a:buNone/>
            </a:pPr>
            <a:endParaRPr sz="1700" b="1" i="0" u="none" strike="noStrike" cap="none" dirty="0">
              <a:solidFill>
                <a:srgbClr val="C00000"/>
              </a:solidFill>
              <a:latin typeface="Century Gothic"/>
              <a:ea typeface="Century Gothic"/>
              <a:cs typeface="Century Gothic"/>
              <a:sym typeface="Century Gothic"/>
            </a:endParaRPr>
          </a:p>
          <a:p>
            <a:pPr marL="284163" marR="0" lvl="0" indent="-284163" algn="l" rtl="0">
              <a:lnSpc>
                <a:spcPct val="100000"/>
              </a:lnSpc>
              <a:spcBef>
                <a:spcPts val="0"/>
              </a:spcBef>
              <a:spcAft>
                <a:spcPts val="0"/>
              </a:spcAft>
              <a:buClr>
                <a:srgbClr val="FFC000"/>
              </a:buClr>
              <a:buSzPts val="1700"/>
              <a:buFont typeface="Noto Sans Symbols"/>
              <a:buChar char="❑"/>
            </a:pPr>
            <a:r>
              <a:rPr lang="en-US" sz="1700" b="1" i="0" u="none" strike="noStrike" cap="none" dirty="0">
                <a:solidFill>
                  <a:srgbClr val="C00000"/>
                </a:solidFill>
                <a:latin typeface="Century Gothic"/>
                <a:ea typeface="Century Gothic"/>
                <a:cs typeface="Century Gothic"/>
                <a:sym typeface="Century Gothic"/>
              </a:rPr>
              <a:t>Depending on the status of DF, SI and DI registers are automatically updated.</a:t>
            </a:r>
            <a:endParaRPr sz="1700" b="0" i="0" u="none" strike="noStrike" cap="none" dirty="0">
              <a:solidFill>
                <a:srgbClr val="C00000"/>
              </a:solidFill>
              <a:sym typeface="Arial"/>
            </a:endParaRPr>
          </a:p>
          <a:p>
            <a:pPr marL="284163" marR="0" lvl="0" indent="-284163" algn="l" rtl="0">
              <a:lnSpc>
                <a:spcPct val="100000"/>
              </a:lnSpc>
              <a:spcBef>
                <a:spcPts val="0"/>
              </a:spcBef>
              <a:spcAft>
                <a:spcPts val="0"/>
              </a:spcAft>
              <a:buClr>
                <a:schemeClr val="lt1"/>
              </a:buClr>
              <a:buSzPts val="1400"/>
              <a:buFont typeface="Noto Sans Symbols"/>
              <a:buNone/>
            </a:pPr>
            <a:endParaRPr sz="1700" b="1" i="0" u="none" strike="noStrike" cap="none" dirty="0">
              <a:solidFill>
                <a:srgbClr val="C00000"/>
              </a:solidFill>
              <a:latin typeface="Century Gothic"/>
              <a:ea typeface="Century Gothic"/>
              <a:cs typeface="Century Gothic"/>
              <a:sym typeface="Century Gothic"/>
            </a:endParaRPr>
          </a:p>
          <a:p>
            <a:pPr marL="284163" marR="0" lvl="0" indent="-284163" algn="l" rtl="0">
              <a:lnSpc>
                <a:spcPct val="100000"/>
              </a:lnSpc>
              <a:spcBef>
                <a:spcPts val="0"/>
              </a:spcBef>
              <a:spcAft>
                <a:spcPts val="0"/>
              </a:spcAft>
              <a:buClr>
                <a:srgbClr val="FFC000"/>
              </a:buClr>
              <a:buSzPts val="1700"/>
              <a:buFont typeface="Noto Sans Symbols"/>
              <a:buChar char="❑"/>
            </a:pPr>
            <a:r>
              <a:rPr lang="en-US" sz="1700" b="1" i="0" u="none" strike="noStrike" cap="none" dirty="0">
                <a:solidFill>
                  <a:srgbClr val="C00000"/>
                </a:solidFill>
                <a:latin typeface="Century Gothic"/>
                <a:ea typeface="Century Gothic"/>
                <a:cs typeface="Century Gothic"/>
                <a:sym typeface="Century Gothic"/>
              </a:rPr>
              <a:t>DF = 0 </a:t>
            </a:r>
            <a:r>
              <a:rPr lang="en-US" sz="1700" b="1" i="0" u="none" strike="noStrike" cap="none" dirty="0">
                <a:solidFill>
                  <a:srgbClr val="C00000"/>
                </a:solidFill>
                <a:latin typeface="Noto Sans Symbols"/>
                <a:ea typeface="Noto Sans Symbols"/>
                <a:cs typeface="Noto Sans Symbols"/>
                <a:sym typeface="Noto Sans Symbols"/>
              </a:rPr>
              <a:t>⇒</a:t>
            </a:r>
            <a:r>
              <a:rPr lang="en-US" sz="1700" b="1" i="0" u="none" strike="noStrike" cap="none" dirty="0">
                <a:solidFill>
                  <a:srgbClr val="C00000"/>
                </a:solidFill>
                <a:latin typeface="Century Gothic"/>
                <a:ea typeface="Century Gothic"/>
                <a:cs typeface="Century Gothic"/>
                <a:sym typeface="Century Gothic"/>
              </a:rPr>
              <a:t> SI and DI are incremented by 1 for byte and 2 for word.</a:t>
            </a:r>
            <a:endParaRPr sz="1700" b="0" i="0" u="none" strike="noStrike" cap="none" dirty="0">
              <a:solidFill>
                <a:srgbClr val="C00000"/>
              </a:solidFill>
              <a:sym typeface="Arial"/>
            </a:endParaRPr>
          </a:p>
          <a:p>
            <a:pPr marL="284163" marR="0" lvl="0" indent="-284163" algn="l" rtl="0">
              <a:lnSpc>
                <a:spcPct val="100000"/>
              </a:lnSpc>
              <a:spcBef>
                <a:spcPts val="0"/>
              </a:spcBef>
              <a:spcAft>
                <a:spcPts val="0"/>
              </a:spcAft>
              <a:buClr>
                <a:schemeClr val="lt1"/>
              </a:buClr>
              <a:buSzPts val="1400"/>
              <a:buFont typeface="Noto Sans Symbols"/>
              <a:buNone/>
            </a:pPr>
            <a:endParaRPr sz="1700" b="1" i="0" u="none" strike="noStrike" cap="none" dirty="0">
              <a:solidFill>
                <a:srgbClr val="C00000"/>
              </a:solidFill>
              <a:latin typeface="Century Gothic"/>
              <a:ea typeface="Century Gothic"/>
              <a:cs typeface="Century Gothic"/>
              <a:sym typeface="Century Gothic"/>
            </a:endParaRPr>
          </a:p>
          <a:p>
            <a:pPr marL="284163" marR="0" lvl="0" indent="-284163" algn="l" rtl="0">
              <a:lnSpc>
                <a:spcPct val="100000"/>
              </a:lnSpc>
              <a:spcBef>
                <a:spcPts val="0"/>
              </a:spcBef>
              <a:spcAft>
                <a:spcPts val="0"/>
              </a:spcAft>
              <a:buClr>
                <a:srgbClr val="FFC000"/>
              </a:buClr>
              <a:buSzPts val="1700"/>
              <a:buFont typeface="Noto Sans Symbols"/>
              <a:buChar char="❑"/>
            </a:pPr>
            <a:r>
              <a:rPr lang="en-US" sz="1700" b="1" i="0" u="none" strike="noStrike" cap="none" dirty="0">
                <a:solidFill>
                  <a:srgbClr val="C00000"/>
                </a:solidFill>
                <a:latin typeface="Century Gothic"/>
                <a:ea typeface="Century Gothic"/>
                <a:cs typeface="Century Gothic"/>
                <a:sym typeface="Century Gothic"/>
              </a:rPr>
              <a:t>DF = 1 </a:t>
            </a:r>
            <a:r>
              <a:rPr lang="en-US" sz="1700" b="1" i="0" u="none" strike="noStrike" cap="none" dirty="0">
                <a:solidFill>
                  <a:srgbClr val="C00000"/>
                </a:solidFill>
                <a:latin typeface="Noto Sans Symbols"/>
                <a:ea typeface="Noto Sans Symbols"/>
                <a:cs typeface="Noto Sans Symbols"/>
                <a:sym typeface="Noto Sans Symbols"/>
              </a:rPr>
              <a:t>⇒</a:t>
            </a:r>
            <a:r>
              <a:rPr lang="en-US" sz="1700" b="1" i="0" u="none" strike="noStrike" cap="none" dirty="0">
                <a:solidFill>
                  <a:srgbClr val="C00000"/>
                </a:solidFill>
                <a:latin typeface="Century Gothic"/>
                <a:ea typeface="Century Gothic"/>
                <a:cs typeface="Century Gothic"/>
                <a:sym typeface="Century Gothic"/>
              </a:rPr>
              <a:t> SI and DI are decremented by 1 for byte and 2 for word.</a:t>
            </a:r>
            <a:endParaRPr sz="1700" b="0" i="0" u="none" strike="noStrike" cap="none" dirty="0">
              <a:solidFill>
                <a:srgbClr val="C00000"/>
              </a:solidFill>
              <a:sym typeface="Aria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68"/>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chemeClr val="accent6"/>
                </a:solidFill>
                <a:latin typeface="Calibri"/>
                <a:ea typeface="Calibri"/>
                <a:cs typeface="Calibri"/>
                <a:sym typeface="Calibri"/>
              </a:rPr>
              <a:t>String Manipulation Instructions</a:t>
            </a:r>
            <a:endParaRPr sz="1400" b="0" i="0" u="none" strike="noStrike" cap="none" dirty="0">
              <a:solidFill>
                <a:schemeClr val="accent6"/>
              </a:solidFill>
              <a:sym typeface="Arial"/>
            </a:endParaRPr>
          </a:p>
        </p:txBody>
      </p:sp>
      <p:sp>
        <p:nvSpPr>
          <p:cNvPr id="782" name="Google Shape;782;p68"/>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FC000"/>
              </a:buClr>
              <a:buSzPts val="2600"/>
              <a:buFont typeface="Noto Sans Symbols"/>
              <a:buChar char="⚫"/>
            </a:pPr>
            <a:r>
              <a:rPr lang="en-US" sz="2600" b="1" i="0" u="none" strike="noStrike" cap="none" dirty="0">
                <a:solidFill>
                  <a:srgbClr val="C00000"/>
                </a:solidFill>
                <a:latin typeface="Constantia"/>
                <a:ea typeface="Constantia"/>
                <a:cs typeface="Constantia"/>
                <a:sym typeface="Constantia"/>
              </a:rPr>
              <a:t>MOVS / MOVSB / MOVSW:</a:t>
            </a:r>
            <a:endParaRPr sz="1400" b="0" i="0" u="none" strike="noStrike" cap="none" dirty="0">
              <a:solidFill>
                <a:srgbClr val="C0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a:solidFill>
                  <a:srgbClr val="C00000"/>
                </a:solidFill>
                <a:latin typeface="Constantia"/>
                <a:ea typeface="Constantia"/>
                <a:cs typeface="Constantia"/>
                <a:sym typeface="Constantia"/>
              </a:rPr>
              <a:t>It causes moving of byte or word from one string to another.</a:t>
            </a:r>
            <a:endParaRPr sz="1400" b="0" i="0" u="none" strike="noStrike" cap="none" dirty="0">
              <a:solidFill>
                <a:srgbClr val="C0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a:solidFill>
                  <a:srgbClr val="C00000"/>
                </a:solidFill>
                <a:latin typeface="Constantia"/>
                <a:ea typeface="Constantia"/>
                <a:cs typeface="Constantia"/>
                <a:sym typeface="Constantia"/>
              </a:rPr>
              <a:t>In this instruction, the source string is in Data Segment referred by DS:SI and destination string is in Extra Segment referred by ES:DI.</a:t>
            </a:r>
            <a:endParaRPr sz="1400" b="0" i="0" u="none" strike="noStrike" cap="none" dirty="0">
              <a:solidFill>
                <a:srgbClr val="C0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a:solidFill>
                  <a:srgbClr val="C00000"/>
                </a:solidFill>
                <a:latin typeface="Constantia"/>
                <a:ea typeface="Constantia"/>
                <a:cs typeface="Constantia"/>
                <a:sym typeface="Constantia"/>
              </a:rPr>
              <a:t>For e.g. </a:t>
            </a:r>
            <a:r>
              <a:rPr lang="en-US" sz="2400" b="0" i="0" u="none" strike="noStrike" cap="none" dirty="0" err="1">
                <a:solidFill>
                  <a:srgbClr val="C00000"/>
                </a:solidFill>
                <a:latin typeface="Constantia"/>
                <a:ea typeface="Constantia"/>
                <a:cs typeface="Constantia"/>
                <a:sym typeface="Constantia"/>
              </a:rPr>
              <a:t>movs</a:t>
            </a:r>
            <a:r>
              <a:rPr lang="en-US" sz="2400" b="0" i="0" u="none" strike="noStrike" cap="none" dirty="0">
                <a:solidFill>
                  <a:srgbClr val="C00000"/>
                </a:solidFill>
                <a:latin typeface="Constantia"/>
                <a:ea typeface="Constantia"/>
                <a:cs typeface="Constantia"/>
                <a:sym typeface="Constantia"/>
              </a:rPr>
              <a:t> str1,str2 </a:t>
            </a:r>
            <a:endParaRPr sz="1400" b="0" i="0" u="none" strike="noStrike" cap="none" dirty="0">
              <a:solidFill>
                <a:srgbClr val="C0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err="1">
                <a:solidFill>
                  <a:srgbClr val="C00000"/>
                </a:solidFill>
                <a:latin typeface="Constantia"/>
                <a:ea typeface="Constantia"/>
                <a:cs typeface="Constantia"/>
                <a:sym typeface="Constantia"/>
              </a:rPr>
              <a:t>Movsb</a:t>
            </a:r>
            <a:endParaRPr sz="1400" b="0" i="0" u="none" strike="noStrike" cap="none" dirty="0">
              <a:solidFill>
                <a:srgbClr val="C0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err="1">
                <a:solidFill>
                  <a:srgbClr val="C00000"/>
                </a:solidFill>
                <a:latin typeface="Constantia"/>
                <a:ea typeface="Constantia"/>
                <a:cs typeface="Constantia"/>
                <a:sym typeface="Constantia"/>
              </a:rPr>
              <a:t>Movsw</a:t>
            </a:r>
            <a:endParaRPr sz="1400" b="0" i="0" u="none" strike="noStrike" cap="none" dirty="0">
              <a:solidFill>
                <a:srgbClr val="C00000"/>
              </a:solidFill>
              <a:sym typeface="Arial"/>
            </a:endParaRPr>
          </a:p>
        </p:txBody>
      </p:sp>
      <p:sp>
        <p:nvSpPr>
          <p:cNvPr id="783" name="Google Shape;783;p68"/>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58</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69"/>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chemeClr val="accent6"/>
                </a:solidFill>
                <a:latin typeface="Calibri"/>
                <a:ea typeface="Calibri"/>
                <a:cs typeface="Calibri"/>
                <a:sym typeface="Calibri"/>
              </a:rPr>
              <a:t>String Manipulation Instructions</a:t>
            </a:r>
            <a:endParaRPr sz="1400" b="0" i="0" u="none" strike="noStrike" cap="none" dirty="0">
              <a:solidFill>
                <a:schemeClr val="accent6"/>
              </a:solidFill>
              <a:sym typeface="Arial"/>
            </a:endParaRPr>
          </a:p>
        </p:txBody>
      </p:sp>
      <p:sp>
        <p:nvSpPr>
          <p:cNvPr id="791" name="Google Shape;791;p69"/>
          <p:cNvSpPr txBox="1"/>
          <p:nvPr/>
        </p:nvSpPr>
        <p:spPr>
          <a:xfrm>
            <a:off x="768351" y="1728788"/>
            <a:ext cx="11165416" cy="489585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FC000"/>
              </a:buClr>
              <a:buSzPts val="2600"/>
              <a:buFont typeface="Noto Sans Symbols"/>
              <a:buChar char="⚫"/>
            </a:pPr>
            <a:r>
              <a:rPr lang="en-US" sz="2600" b="1" i="0" u="none" strike="noStrike" cap="none" dirty="0">
                <a:solidFill>
                  <a:srgbClr val="C00000"/>
                </a:solidFill>
                <a:latin typeface="Constantia"/>
                <a:ea typeface="Constantia"/>
                <a:cs typeface="Constantia"/>
                <a:sym typeface="Constantia"/>
              </a:rPr>
              <a:t>LODS / LODSB / LODSW:</a:t>
            </a:r>
            <a:endParaRPr sz="1400" b="0" i="0" u="none" strike="noStrike" cap="none" dirty="0">
              <a:solidFill>
                <a:srgbClr val="C0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a:solidFill>
                  <a:srgbClr val="C00000"/>
                </a:solidFill>
                <a:latin typeface="Constantia"/>
                <a:ea typeface="Constantia"/>
                <a:cs typeface="Constantia"/>
                <a:sym typeface="Constantia"/>
              </a:rPr>
              <a:t>It causes TRANSFER of byte or word from one string to another.</a:t>
            </a:r>
            <a:endParaRPr sz="1400" b="0" i="0" u="none" strike="noStrike" cap="none" dirty="0">
              <a:solidFill>
                <a:srgbClr val="C0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a:solidFill>
                  <a:srgbClr val="C00000"/>
                </a:solidFill>
                <a:latin typeface="Constantia"/>
                <a:ea typeface="Constantia"/>
                <a:cs typeface="Constantia"/>
                <a:sym typeface="Constantia"/>
              </a:rPr>
              <a:t>In this instruction, the source string is in Data Segment referred by DS:SI transferred to Accumulator.</a:t>
            </a:r>
            <a:endParaRPr sz="1400" b="0" i="0" u="none" strike="noStrike" cap="none" dirty="0">
              <a:solidFill>
                <a:srgbClr val="C0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a:solidFill>
                  <a:srgbClr val="C00000"/>
                </a:solidFill>
                <a:latin typeface="Constantia"/>
                <a:ea typeface="Constantia"/>
                <a:cs typeface="Constantia"/>
                <a:sym typeface="Constantia"/>
              </a:rPr>
              <a:t>For e.g. </a:t>
            </a:r>
            <a:r>
              <a:rPr lang="en-US" sz="2400" b="0" i="0" u="none" strike="noStrike" cap="none" dirty="0" err="1">
                <a:solidFill>
                  <a:srgbClr val="C00000"/>
                </a:solidFill>
                <a:latin typeface="Constantia"/>
                <a:ea typeface="Constantia"/>
                <a:cs typeface="Constantia"/>
                <a:sym typeface="Constantia"/>
              </a:rPr>
              <a:t>lods</a:t>
            </a:r>
            <a:r>
              <a:rPr lang="en-US" sz="2400" b="0" i="0" u="none" strike="noStrike" cap="none" dirty="0">
                <a:solidFill>
                  <a:srgbClr val="C00000"/>
                </a:solidFill>
                <a:latin typeface="Constantia"/>
                <a:ea typeface="Constantia"/>
                <a:cs typeface="Constantia"/>
                <a:sym typeface="Constantia"/>
              </a:rPr>
              <a:t> string </a:t>
            </a:r>
            <a:endParaRPr sz="1400" b="0" i="0" u="none" strike="noStrike" cap="none" dirty="0">
              <a:solidFill>
                <a:srgbClr val="C0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err="1">
                <a:solidFill>
                  <a:srgbClr val="C00000"/>
                </a:solidFill>
                <a:latin typeface="Constantia"/>
                <a:ea typeface="Constantia"/>
                <a:cs typeface="Constantia"/>
                <a:sym typeface="Constantia"/>
              </a:rPr>
              <a:t>lodsb</a:t>
            </a:r>
            <a:endParaRPr sz="1400" b="0" i="0" u="none" strike="noStrike" cap="none" dirty="0">
              <a:solidFill>
                <a:srgbClr val="C0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err="1">
                <a:solidFill>
                  <a:srgbClr val="C00000"/>
                </a:solidFill>
                <a:latin typeface="Constantia"/>
                <a:ea typeface="Constantia"/>
                <a:cs typeface="Constantia"/>
                <a:sym typeface="Constantia"/>
              </a:rPr>
              <a:t>lodsw</a:t>
            </a:r>
            <a:endParaRPr sz="1400" b="0" i="0" u="none" strike="noStrike" cap="none" dirty="0">
              <a:solidFill>
                <a:srgbClr val="C00000"/>
              </a:solidFill>
              <a:sym typeface="Arial"/>
            </a:endParaRPr>
          </a:p>
        </p:txBody>
      </p:sp>
      <p:sp>
        <p:nvSpPr>
          <p:cNvPr id="792" name="Google Shape;792;p69"/>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59</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70"/>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chemeClr val="accent6">
                    <a:lumMod val="75000"/>
                  </a:schemeClr>
                </a:solidFill>
                <a:latin typeface="Calibri"/>
                <a:ea typeface="Calibri"/>
                <a:cs typeface="Calibri"/>
                <a:sym typeface="Calibri"/>
              </a:rPr>
              <a:t>String Manipulation Instructions</a:t>
            </a:r>
            <a:endParaRPr sz="1400" b="0" i="0" u="none" strike="noStrike" cap="none" dirty="0">
              <a:solidFill>
                <a:schemeClr val="accent6">
                  <a:lumMod val="75000"/>
                </a:schemeClr>
              </a:solidFill>
              <a:sym typeface="Arial"/>
            </a:endParaRPr>
          </a:p>
        </p:txBody>
      </p:sp>
      <p:sp>
        <p:nvSpPr>
          <p:cNvPr id="800" name="Google Shape;800;p70"/>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FC000"/>
              </a:buClr>
              <a:buSzPts val="2600"/>
              <a:buFont typeface="Noto Sans Symbols"/>
              <a:buChar char="⚫"/>
            </a:pPr>
            <a:r>
              <a:rPr lang="en-US" sz="2600" b="1" i="0" u="none" strike="noStrike" cap="none" dirty="0">
                <a:solidFill>
                  <a:srgbClr val="C00000"/>
                </a:solidFill>
                <a:latin typeface="Constantia"/>
                <a:ea typeface="Constantia"/>
                <a:cs typeface="Constantia"/>
                <a:sym typeface="Constantia"/>
              </a:rPr>
              <a:t>STOS / STOSB / STOSW:</a:t>
            </a:r>
            <a:endParaRPr sz="1400" b="0" i="0" u="none" strike="noStrike" cap="none" dirty="0">
              <a:solidFill>
                <a:srgbClr val="C00000"/>
              </a:solidFill>
              <a:sym typeface="Arial"/>
            </a:endParaRPr>
          </a:p>
          <a:p>
            <a:pPr marL="263525" marR="0" lvl="0" indent="-261938" algn="l" rtl="0">
              <a:lnSpc>
                <a:spcPct val="100000"/>
              </a:lnSpc>
              <a:spcBef>
                <a:spcPts val="1800"/>
              </a:spcBef>
              <a:spcAft>
                <a:spcPts val="0"/>
              </a:spcAft>
              <a:buClr>
                <a:srgbClr val="000000"/>
              </a:buClr>
              <a:buSzPts val="2400"/>
              <a:buFont typeface="Constantia"/>
              <a:buNone/>
            </a:pPr>
            <a:r>
              <a:rPr lang="en-US" sz="2400" b="0" i="0" u="none" strike="noStrike" cap="none" dirty="0">
                <a:solidFill>
                  <a:srgbClr val="C00000"/>
                </a:solidFill>
                <a:latin typeface="Constantia"/>
                <a:ea typeface="Constantia"/>
                <a:cs typeface="Constantia"/>
                <a:sym typeface="Constantia"/>
              </a:rPr>
              <a:t>It causes TRANSFER of byte or word from one string to another.</a:t>
            </a:r>
            <a:endParaRPr sz="1400" b="0" i="0" u="none" strike="noStrike" cap="none" dirty="0">
              <a:solidFill>
                <a:srgbClr val="C00000"/>
              </a:solidFill>
              <a:sym typeface="Arial"/>
            </a:endParaRPr>
          </a:p>
          <a:p>
            <a:pPr marL="263525" marR="0" lvl="0" indent="-261938" algn="l" rtl="0">
              <a:lnSpc>
                <a:spcPct val="100000"/>
              </a:lnSpc>
              <a:spcBef>
                <a:spcPts val="1800"/>
              </a:spcBef>
              <a:spcAft>
                <a:spcPts val="0"/>
              </a:spcAft>
              <a:buClr>
                <a:srgbClr val="000000"/>
              </a:buClr>
              <a:buSzPts val="2400"/>
              <a:buFont typeface="Constantia"/>
              <a:buNone/>
            </a:pPr>
            <a:r>
              <a:rPr lang="en-US" sz="2400" b="0" i="0" u="none" strike="noStrike" cap="none" dirty="0">
                <a:solidFill>
                  <a:srgbClr val="C00000"/>
                </a:solidFill>
                <a:latin typeface="Constantia"/>
                <a:ea typeface="Constantia"/>
                <a:cs typeface="Constantia"/>
                <a:sym typeface="Constantia"/>
              </a:rPr>
              <a:t>In this instruction, the string is in Extra Segment referred by ES:DI transferred to Accumulator.</a:t>
            </a:r>
            <a:endParaRPr sz="1400" b="0" i="0" u="none" strike="noStrike" cap="none" dirty="0">
              <a:solidFill>
                <a:srgbClr val="C0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a:solidFill>
                  <a:srgbClr val="C00000"/>
                </a:solidFill>
                <a:latin typeface="Constantia"/>
                <a:ea typeface="Constantia"/>
                <a:cs typeface="Constantia"/>
                <a:sym typeface="Constantia"/>
              </a:rPr>
              <a:t>For e.g. </a:t>
            </a:r>
            <a:r>
              <a:rPr lang="en-US" sz="2400" b="0" i="0" u="none" strike="noStrike" cap="none" dirty="0" err="1">
                <a:solidFill>
                  <a:srgbClr val="C00000"/>
                </a:solidFill>
                <a:latin typeface="Constantia"/>
                <a:ea typeface="Constantia"/>
                <a:cs typeface="Constantia"/>
                <a:sym typeface="Constantia"/>
              </a:rPr>
              <a:t>stos</a:t>
            </a:r>
            <a:r>
              <a:rPr lang="en-US" sz="2400" b="0" i="0" u="none" strike="noStrike" cap="none" dirty="0">
                <a:solidFill>
                  <a:srgbClr val="C00000"/>
                </a:solidFill>
                <a:latin typeface="Constantia"/>
                <a:ea typeface="Constantia"/>
                <a:cs typeface="Constantia"/>
                <a:sym typeface="Constantia"/>
              </a:rPr>
              <a:t> string </a:t>
            </a:r>
            <a:endParaRPr sz="1400" b="0" i="0" u="none" strike="noStrike" cap="none" dirty="0">
              <a:solidFill>
                <a:srgbClr val="C0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err="1">
                <a:solidFill>
                  <a:srgbClr val="C00000"/>
                </a:solidFill>
                <a:latin typeface="Constantia"/>
                <a:ea typeface="Constantia"/>
                <a:cs typeface="Constantia"/>
                <a:sym typeface="Constantia"/>
              </a:rPr>
              <a:t>stosb</a:t>
            </a:r>
            <a:endParaRPr sz="1400" b="0" i="0" u="none" strike="noStrike" cap="none" dirty="0">
              <a:solidFill>
                <a:srgbClr val="C0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err="1">
                <a:solidFill>
                  <a:srgbClr val="C00000"/>
                </a:solidFill>
                <a:latin typeface="Constantia"/>
                <a:ea typeface="Constantia"/>
                <a:cs typeface="Constantia"/>
                <a:sym typeface="Constantia"/>
              </a:rPr>
              <a:t>stosw</a:t>
            </a:r>
            <a:endParaRPr sz="1400" b="0" i="0" u="none" strike="noStrike" cap="none" dirty="0">
              <a:solidFill>
                <a:srgbClr val="C00000"/>
              </a:solidFill>
              <a:sym typeface="Arial"/>
            </a:endParaRPr>
          </a:p>
        </p:txBody>
      </p:sp>
      <p:sp>
        <p:nvSpPr>
          <p:cNvPr id="801" name="Google Shape;801;p70"/>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60</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71"/>
          <p:cNvSpPr txBox="1"/>
          <p:nvPr/>
        </p:nvSpPr>
        <p:spPr>
          <a:xfrm>
            <a:off x="738717" y="644526"/>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chemeClr val="accent6">
                    <a:lumMod val="75000"/>
                  </a:schemeClr>
                </a:solidFill>
                <a:latin typeface="Calibri"/>
                <a:ea typeface="Calibri"/>
                <a:cs typeface="Calibri"/>
                <a:sym typeface="Calibri"/>
              </a:rPr>
              <a:t>String Manipulation Instructions</a:t>
            </a:r>
            <a:endParaRPr sz="1400" b="0" i="0" u="none" strike="noStrike" cap="none" dirty="0">
              <a:solidFill>
                <a:schemeClr val="accent6">
                  <a:lumMod val="75000"/>
                </a:schemeClr>
              </a:solidFill>
              <a:sym typeface="Arial"/>
            </a:endParaRPr>
          </a:p>
        </p:txBody>
      </p:sp>
      <p:sp>
        <p:nvSpPr>
          <p:cNvPr id="809" name="Google Shape;809;p71"/>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FC000"/>
              </a:buClr>
              <a:buSzPts val="2600"/>
              <a:buFont typeface="Noto Sans Symbols"/>
              <a:buChar char="⚫"/>
            </a:pPr>
            <a:r>
              <a:rPr lang="en-US" sz="2600" b="1" i="0" u="none" strike="noStrike" cap="none" dirty="0">
                <a:solidFill>
                  <a:srgbClr val="FF0000"/>
                </a:solidFill>
                <a:latin typeface="Constantia"/>
                <a:ea typeface="Constantia"/>
                <a:cs typeface="Constantia"/>
                <a:sym typeface="Constantia"/>
              </a:rPr>
              <a:t>CMPS Des, </a:t>
            </a:r>
            <a:r>
              <a:rPr lang="en-US" sz="2600" b="1" i="0" u="none" strike="noStrike" cap="none" dirty="0" err="1">
                <a:solidFill>
                  <a:srgbClr val="FF0000"/>
                </a:solidFill>
                <a:latin typeface="Constantia"/>
                <a:ea typeface="Constantia"/>
                <a:cs typeface="Constantia"/>
                <a:sym typeface="Constantia"/>
              </a:rPr>
              <a:t>Src</a:t>
            </a:r>
            <a:r>
              <a:rPr lang="en-US" sz="2600" b="1" i="0" u="none" strike="noStrike" cap="none" dirty="0">
                <a:solidFill>
                  <a:srgbClr val="FF0000"/>
                </a:solidFill>
                <a:latin typeface="Constantia"/>
                <a:ea typeface="Constantia"/>
                <a:cs typeface="Constantia"/>
                <a:sym typeface="Constantia"/>
              </a:rPr>
              <a:t>:</a:t>
            </a:r>
            <a:endParaRPr sz="1400" b="0" i="0" u="none" strike="noStrike" cap="none" dirty="0">
              <a:solidFill>
                <a:srgbClr val="FF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a:solidFill>
                  <a:srgbClr val="FF0000"/>
                </a:solidFill>
                <a:latin typeface="Constantia"/>
                <a:ea typeface="Constantia"/>
                <a:cs typeface="Constantia"/>
                <a:sym typeface="Constantia"/>
              </a:rPr>
              <a:t>It compares the string bytes or words.</a:t>
            </a:r>
            <a:endParaRPr sz="1400" b="0" i="0" u="none" strike="noStrike" cap="none" dirty="0">
              <a:solidFill>
                <a:srgbClr val="FF0000"/>
              </a:solidFill>
              <a:sym typeface="Arial"/>
            </a:endParaRPr>
          </a:p>
          <a:p>
            <a:pPr marL="263525" marR="0" lvl="0" indent="-261938" algn="l" rtl="0">
              <a:lnSpc>
                <a:spcPct val="100000"/>
              </a:lnSpc>
              <a:spcBef>
                <a:spcPts val="1850"/>
              </a:spcBef>
              <a:spcAft>
                <a:spcPts val="0"/>
              </a:spcAft>
              <a:buClr>
                <a:schemeClr val="lt1"/>
              </a:buClr>
              <a:buSzPts val="2600"/>
              <a:buFont typeface="Century Gothic"/>
              <a:buNone/>
            </a:pPr>
            <a:endParaRPr sz="2600" b="0" i="0" u="none" strike="noStrike" cap="none" dirty="0">
              <a:solidFill>
                <a:srgbClr val="FF0000"/>
              </a:solidFill>
              <a:latin typeface="Constantia"/>
              <a:ea typeface="Constantia"/>
              <a:cs typeface="Constantia"/>
              <a:sym typeface="Constantia"/>
            </a:endParaRPr>
          </a:p>
          <a:p>
            <a:pPr marL="261938" marR="0" lvl="0" indent="-261938" algn="l" rtl="0">
              <a:lnSpc>
                <a:spcPct val="100000"/>
              </a:lnSpc>
              <a:spcBef>
                <a:spcPts val="1850"/>
              </a:spcBef>
              <a:spcAft>
                <a:spcPts val="0"/>
              </a:spcAft>
              <a:buClr>
                <a:srgbClr val="FFC000"/>
              </a:buClr>
              <a:buSzPts val="2600"/>
              <a:buFont typeface="Noto Sans Symbols"/>
              <a:buChar char="⚫"/>
            </a:pPr>
            <a:r>
              <a:rPr lang="en-US" sz="2600" b="1" i="0" u="none" strike="noStrike" cap="none" dirty="0">
                <a:solidFill>
                  <a:srgbClr val="FF0000"/>
                </a:solidFill>
                <a:latin typeface="Constantia"/>
                <a:ea typeface="Constantia"/>
                <a:cs typeface="Constantia"/>
                <a:sym typeface="Constantia"/>
              </a:rPr>
              <a:t>SCAS String:</a:t>
            </a:r>
            <a:endParaRPr sz="1400" b="0" i="0" u="none" strike="noStrike" cap="none" dirty="0">
              <a:solidFill>
                <a:srgbClr val="FF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a:solidFill>
                  <a:srgbClr val="FF0000"/>
                </a:solidFill>
                <a:latin typeface="Constantia"/>
                <a:ea typeface="Constantia"/>
                <a:cs typeface="Constantia"/>
                <a:sym typeface="Constantia"/>
              </a:rPr>
              <a:t>It scans a string.</a:t>
            </a:r>
            <a:endParaRPr sz="1400" b="0" i="0" u="none" strike="noStrike" cap="none" dirty="0">
              <a:solidFill>
                <a:srgbClr val="FF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a:solidFill>
                  <a:srgbClr val="FF0000"/>
                </a:solidFill>
                <a:latin typeface="Constantia"/>
                <a:ea typeface="Constantia"/>
                <a:cs typeface="Constantia"/>
                <a:sym typeface="Constantia"/>
              </a:rPr>
              <a:t>It compares the String with byte in AL or with word in AX.</a:t>
            </a:r>
            <a:endParaRPr sz="1400" b="0" i="0" u="none" strike="noStrike" cap="none" dirty="0">
              <a:solidFill>
                <a:srgbClr val="FF0000"/>
              </a:solidFill>
              <a:sym typeface="Arial"/>
            </a:endParaRPr>
          </a:p>
        </p:txBody>
      </p:sp>
      <p:sp>
        <p:nvSpPr>
          <p:cNvPr id="810" name="Google Shape;810;p71"/>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61</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72"/>
          <p:cNvSpPr txBox="1"/>
          <p:nvPr/>
        </p:nvSpPr>
        <p:spPr>
          <a:xfrm>
            <a:off x="609600" y="704851"/>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chemeClr val="accent6">
                    <a:lumMod val="75000"/>
                  </a:schemeClr>
                </a:solidFill>
                <a:latin typeface="Calibri"/>
                <a:ea typeface="Calibri"/>
                <a:cs typeface="Calibri"/>
                <a:sym typeface="Calibri"/>
              </a:rPr>
              <a:t>String Manipulation Instructions</a:t>
            </a:r>
            <a:endParaRPr sz="1400" b="0" i="0" u="none" strike="noStrike" cap="none" dirty="0">
              <a:solidFill>
                <a:schemeClr val="accent6">
                  <a:lumMod val="75000"/>
                </a:schemeClr>
              </a:solidFill>
              <a:sym typeface="Arial"/>
            </a:endParaRPr>
          </a:p>
        </p:txBody>
      </p:sp>
      <p:sp>
        <p:nvSpPr>
          <p:cNvPr id="818" name="Google Shape;818;p72"/>
          <p:cNvSpPr txBox="1"/>
          <p:nvPr/>
        </p:nvSpPr>
        <p:spPr>
          <a:xfrm>
            <a:off x="609600" y="1714500"/>
            <a:ext cx="10972800" cy="4610100"/>
          </a:xfrm>
          <a:prstGeom prst="rect">
            <a:avLst/>
          </a:prstGeom>
          <a:noFill/>
          <a:ln>
            <a:noFill/>
          </a:ln>
        </p:spPr>
        <p:txBody>
          <a:bodyPr spcFirstLastPara="1" wrap="square" lIns="90000" tIns="46800" rIns="90000" bIns="46800" anchor="t" anchorCtr="0">
            <a:noAutofit/>
          </a:bodyPr>
          <a:lstStyle/>
          <a:p>
            <a:pPr marL="261938" marR="0" lvl="0" indent="-261938" algn="l" rtl="0">
              <a:lnSpc>
                <a:spcPct val="100000"/>
              </a:lnSpc>
              <a:spcBef>
                <a:spcPts val="0"/>
              </a:spcBef>
              <a:spcAft>
                <a:spcPts val="0"/>
              </a:spcAft>
              <a:buClr>
                <a:srgbClr val="FFC000"/>
              </a:buClr>
              <a:buSzPts val="2600"/>
              <a:buFont typeface="Noto Sans Symbols"/>
              <a:buChar char="⚫"/>
            </a:pPr>
            <a:r>
              <a:rPr lang="en-US" sz="2600" b="1" i="0" u="none" strike="noStrike" cap="none" dirty="0">
                <a:solidFill>
                  <a:srgbClr val="FF0000"/>
                </a:solidFill>
                <a:latin typeface="Constantia"/>
                <a:ea typeface="Constantia"/>
                <a:cs typeface="Constantia"/>
                <a:sym typeface="Constantia"/>
              </a:rPr>
              <a:t>REP (Repeat):</a:t>
            </a:r>
            <a:endParaRPr sz="1400" b="0" i="0" u="none" strike="noStrike" cap="none" dirty="0">
              <a:solidFill>
                <a:srgbClr val="FF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a:solidFill>
                  <a:srgbClr val="FF0000"/>
                </a:solidFill>
                <a:latin typeface="Constantia"/>
                <a:ea typeface="Constantia"/>
                <a:cs typeface="Constantia"/>
                <a:sym typeface="Constantia"/>
              </a:rPr>
              <a:t>This is an instruction prefix.</a:t>
            </a:r>
            <a:endParaRPr sz="1400" b="0" i="0" u="none" strike="noStrike" cap="none" dirty="0">
              <a:solidFill>
                <a:srgbClr val="FF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a:solidFill>
                  <a:srgbClr val="FF0000"/>
                </a:solidFill>
                <a:latin typeface="Constantia"/>
                <a:ea typeface="Constantia"/>
                <a:cs typeface="Constantia"/>
                <a:sym typeface="Constantia"/>
              </a:rPr>
              <a:t>It causes the repetition of the instruction until CX becomes zero.</a:t>
            </a:r>
            <a:endParaRPr sz="1400" b="0" i="0" u="none" strike="noStrike" cap="none" dirty="0">
              <a:solidFill>
                <a:srgbClr val="FF0000"/>
              </a:solidFill>
              <a:sym typeface="Arial"/>
            </a:endParaRPr>
          </a:p>
          <a:p>
            <a:pPr marL="628650" marR="0" lvl="1" indent="-239712" algn="l" rtl="0">
              <a:lnSpc>
                <a:spcPct val="100000"/>
              </a:lnSpc>
              <a:spcBef>
                <a:spcPts val="1800"/>
              </a:spcBef>
              <a:spcAft>
                <a:spcPts val="0"/>
              </a:spcAft>
              <a:buClr>
                <a:srgbClr val="FFC000"/>
              </a:buClr>
              <a:buSzPts val="2400"/>
              <a:buFont typeface="Noto Sans Symbols"/>
              <a:buChar char="⚫"/>
            </a:pPr>
            <a:r>
              <a:rPr lang="en-US" sz="2400" b="0" i="0" u="none" strike="noStrike" cap="none" dirty="0">
                <a:solidFill>
                  <a:srgbClr val="FF0000"/>
                </a:solidFill>
                <a:latin typeface="Constantia"/>
                <a:ea typeface="Constantia"/>
                <a:cs typeface="Constantia"/>
                <a:sym typeface="Constantia"/>
              </a:rPr>
              <a:t>E.g.: REP MOVSB </a:t>
            </a:r>
            <a:endParaRPr sz="1400" b="0" i="0" u="none" strike="noStrike" cap="none" dirty="0">
              <a:solidFill>
                <a:srgbClr val="FF0000"/>
              </a:solidFill>
              <a:sym typeface="Arial"/>
            </a:endParaRPr>
          </a:p>
          <a:p>
            <a:pPr marL="903288" marR="0" lvl="2" indent="-236536" algn="l" rtl="0">
              <a:lnSpc>
                <a:spcPct val="100000"/>
              </a:lnSpc>
              <a:spcBef>
                <a:spcPts val="1725"/>
              </a:spcBef>
              <a:spcAft>
                <a:spcPts val="0"/>
              </a:spcAft>
              <a:buClr>
                <a:srgbClr val="FFC000"/>
              </a:buClr>
              <a:buSzPts val="2100"/>
              <a:buFont typeface="Noto Sans Symbols"/>
              <a:buChar char="⚫"/>
            </a:pPr>
            <a:r>
              <a:rPr lang="en-US" sz="2100" b="0" i="0" u="none" strike="noStrike" cap="none" dirty="0">
                <a:solidFill>
                  <a:srgbClr val="FF0000"/>
                </a:solidFill>
                <a:latin typeface="Constantia"/>
                <a:ea typeface="Constantia"/>
                <a:cs typeface="Constantia"/>
                <a:sym typeface="Constantia"/>
              </a:rPr>
              <a:t>It copies byte by byte contents.</a:t>
            </a:r>
            <a:endParaRPr sz="1400" b="0" i="0" u="none" strike="noStrike" cap="none" dirty="0">
              <a:solidFill>
                <a:srgbClr val="FF0000"/>
              </a:solidFill>
              <a:sym typeface="Arial"/>
            </a:endParaRPr>
          </a:p>
          <a:p>
            <a:pPr marL="903288" marR="0" lvl="2" indent="-236536" algn="l" rtl="0">
              <a:lnSpc>
                <a:spcPct val="100000"/>
              </a:lnSpc>
              <a:spcBef>
                <a:spcPts val="1725"/>
              </a:spcBef>
              <a:spcAft>
                <a:spcPts val="0"/>
              </a:spcAft>
              <a:buClr>
                <a:srgbClr val="FFC000"/>
              </a:buClr>
              <a:buSzPts val="2100"/>
              <a:buFont typeface="Noto Sans Symbols"/>
              <a:buChar char="⚫"/>
            </a:pPr>
            <a:r>
              <a:rPr lang="en-US" sz="2100" b="0" i="0" u="none" strike="noStrike" cap="none" dirty="0">
                <a:solidFill>
                  <a:srgbClr val="FF0000"/>
                </a:solidFill>
                <a:latin typeface="Constantia"/>
                <a:ea typeface="Constantia"/>
                <a:cs typeface="Constantia"/>
                <a:sym typeface="Constantia"/>
              </a:rPr>
              <a:t>REP repeats the operation  MOVSB until CX becomes zero.</a:t>
            </a:r>
            <a:endParaRPr sz="1400" b="0" i="0" u="none" strike="noStrike" cap="none" dirty="0">
              <a:solidFill>
                <a:srgbClr val="FF0000"/>
              </a:solidFill>
              <a:sym typeface="Arial"/>
            </a:endParaRPr>
          </a:p>
        </p:txBody>
      </p:sp>
      <p:sp>
        <p:nvSpPr>
          <p:cNvPr id="819" name="Google Shape;819;p72"/>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62</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73"/>
          <p:cNvSpPr txBox="1"/>
          <p:nvPr/>
        </p:nvSpPr>
        <p:spPr>
          <a:xfrm>
            <a:off x="10566401" y="6356350"/>
            <a:ext cx="1003300" cy="3556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1800"/>
              <a:buFont typeface="Century Gothic"/>
              <a:buNone/>
            </a:pPr>
            <a:fld id="{00000000-1234-1234-1234-123412341234}" type="slidenum">
              <a:rPr lang="en-US" sz="1800" b="0" i="0" u="none" strike="noStrike" cap="none">
                <a:solidFill>
                  <a:srgbClr val="000000"/>
                </a:solidFill>
                <a:latin typeface="Century Gothic"/>
                <a:ea typeface="Century Gothic"/>
                <a:cs typeface="Century Gothic"/>
                <a:sym typeface="Century Gothic"/>
              </a:rPr>
              <a:t>63</a:t>
            </a:fld>
            <a:endParaRPr sz="1800" b="0" i="0" u="none" strike="noStrike" cap="none">
              <a:solidFill>
                <a:srgbClr val="000000"/>
              </a:solidFill>
              <a:latin typeface="Century Gothic"/>
              <a:ea typeface="Century Gothic"/>
              <a:cs typeface="Century Gothic"/>
              <a:sym typeface="Century Gothic"/>
            </a:endParaRPr>
          </a:p>
        </p:txBody>
      </p:sp>
      <p:sp>
        <p:nvSpPr>
          <p:cNvPr id="828" name="Google Shape;828;p73"/>
          <p:cNvSpPr txBox="1"/>
          <p:nvPr/>
        </p:nvSpPr>
        <p:spPr>
          <a:xfrm>
            <a:off x="82551" y="65089"/>
            <a:ext cx="3251200" cy="340735"/>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FFFF"/>
              </a:buClr>
              <a:buSzPts val="1600"/>
              <a:buFont typeface="Arial"/>
              <a:buNone/>
            </a:pPr>
            <a:r>
              <a:rPr lang="en-US" sz="1600" b="1" i="0" u="none" strike="noStrike" cap="none">
                <a:solidFill>
                  <a:srgbClr val="FFFFFF"/>
                </a:solidFill>
                <a:latin typeface="Arial"/>
                <a:ea typeface="Arial"/>
                <a:cs typeface="Arial"/>
                <a:sym typeface="Arial"/>
              </a:rPr>
              <a:t>8086 Microprocessor</a:t>
            </a:r>
            <a:endParaRPr sz="1400" b="0" i="0" u="none" strike="noStrike" cap="none">
              <a:solidFill>
                <a:srgbClr val="000000"/>
              </a:solidFill>
              <a:latin typeface="Arial"/>
              <a:ea typeface="Arial"/>
              <a:cs typeface="Arial"/>
              <a:sym typeface="Arial"/>
            </a:endParaRPr>
          </a:p>
        </p:txBody>
      </p:sp>
      <p:graphicFrame>
        <p:nvGraphicFramePr>
          <p:cNvPr id="829" name="Google Shape;829;p73"/>
          <p:cNvGraphicFramePr/>
          <p:nvPr/>
        </p:nvGraphicFramePr>
        <p:xfrm>
          <a:off x="711200" y="2133601"/>
          <a:ext cx="10873325" cy="3933825"/>
        </p:xfrm>
        <a:graphic>
          <a:graphicData uri="http://schemas.openxmlformats.org/drawingml/2006/table">
            <a:tbl>
              <a:tblPr>
                <a:noFill/>
                <a:tableStyleId>{E6DCE0E3-F7EA-4585-BB5F-C700E1D9A5F3}</a:tableStyleId>
              </a:tblPr>
              <a:tblGrid>
                <a:gridCol w="4165600">
                  <a:extLst>
                    <a:ext uri="{9D8B030D-6E8A-4147-A177-3AD203B41FA5}">
                      <a16:colId xmlns:a16="http://schemas.microsoft.com/office/drawing/2014/main" val="20000"/>
                    </a:ext>
                  </a:extLst>
                </a:gridCol>
                <a:gridCol w="6707725">
                  <a:extLst>
                    <a:ext uri="{9D8B030D-6E8A-4147-A177-3AD203B41FA5}">
                      <a16:colId xmlns:a16="http://schemas.microsoft.com/office/drawing/2014/main" val="20001"/>
                    </a:ext>
                  </a:extLst>
                </a:gridCol>
              </a:tblGrid>
              <a:tr h="3933825">
                <a:tc>
                  <a:txBody>
                    <a:bodyPr/>
                    <a:lstStyle/>
                    <a:p>
                      <a:pPr marL="0" marR="0" lvl="0" indent="0" algn="l" rtl="0">
                        <a:lnSpc>
                          <a:spcPct val="97000"/>
                        </a:lnSpc>
                        <a:spcBef>
                          <a:spcPts val="0"/>
                        </a:spcBef>
                        <a:spcAft>
                          <a:spcPts val="0"/>
                        </a:spcAft>
                        <a:buClr>
                          <a:srgbClr val="FF0000"/>
                        </a:buClr>
                        <a:buSzPts val="1800"/>
                        <a:buFont typeface="Constantia"/>
                        <a:buNone/>
                      </a:pPr>
                      <a:r>
                        <a:rPr lang="en-US" sz="1800" b="1" i="0" u="none" strike="noStrike" cap="none">
                          <a:solidFill>
                            <a:srgbClr val="FF0000"/>
                          </a:solidFill>
                          <a:latin typeface="Constantia"/>
                          <a:ea typeface="Constantia"/>
                          <a:cs typeface="Constantia"/>
                          <a:sym typeface="Constantia"/>
                        </a:rPr>
                        <a:t>REP</a:t>
                      </a:r>
                      <a:endParaRPr sz="1400" u="none" strike="noStrike" cap="none"/>
                    </a:p>
                    <a:p>
                      <a:pPr marL="0" marR="0" lvl="0" indent="0" algn="l" rtl="0">
                        <a:lnSpc>
                          <a:spcPct val="97000"/>
                        </a:lnSpc>
                        <a:spcBef>
                          <a:spcPts val="0"/>
                        </a:spcBef>
                        <a:spcAft>
                          <a:spcPts val="0"/>
                        </a:spcAft>
                        <a:buClr>
                          <a:schemeClr val="lt1"/>
                        </a:buClr>
                        <a:buSzPts val="1800"/>
                        <a:buFont typeface="Century Gothic"/>
                        <a:buNone/>
                      </a:pPr>
                      <a:endParaRPr sz="1800" b="1" i="0" u="none" strike="noStrike" cap="none">
                        <a:solidFill>
                          <a:srgbClr val="FF0000"/>
                        </a:solidFill>
                        <a:latin typeface="Constantia"/>
                        <a:ea typeface="Constantia"/>
                        <a:cs typeface="Constantia"/>
                        <a:sym typeface="Constantia"/>
                      </a:endParaRPr>
                    </a:p>
                    <a:p>
                      <a:pPr marL="0" marR="0" lvl="0" indent="0" algn="l" rtl="0">
                        <a:lnSpc>
                          <a:spcPct val="97000"/>
                        </a:lnSpc>
                        <a:spcBef>
                          <a:spcPts val="0"/>
                        </a:spcBef>
                        <a:spcAft>
                          <a:spcPts val="0"/>
                        </a:spcAft>
                        <a:buClr>
                          <a:srgbClr val="000000"/>
                        </a:buClr>
                        <a:buSzPts val="1800"/>
                        <a:buFont typeface="Constantia"/>
                        <a:buNone/>
                      </a:pPr>
                      <a:r>
                        <a:rPr lang="en-US" sz="1800" b="1" i="0" u="none" strike="noStrike" cap="none">
                          <a:solidFill>
                            <a:srgbClr val="000000"/>
                          </a:solidFill>
                          <a:latin typeface="Constantia"/>
                          <a:ea typeface="Constantia"/>
                          <a:cs typeface="Constantia"/>
                          <a:sym typeface="Constantia"/>
                        </a:rPr>
                        <a:t>REPZ/ REPE</a:t>
                      </a:r>
                      <a:endParaRPr sz="1400" u="none" strike="noStrike" cap="none"/>
                    </a:p>
                    <a:p>
                      <a:pPr marL="0" marR="0" lvl="0" indent="0" algn="l" rtl="0">
                        <a:lnSpc>
                          <a:spcPct val="97000"/>
                        </a:lnSpc>
                        <a:spcBef>
                          <a:spcPts val="0"/>
                        </a:spcBef>
                        <a:spcAft>
                          <a:spcPts val="0"/>
                        </a:spcAft>
                        <a:buClr>
                          <a:schemeClr val="lt1"/>
                        </a:buClr>
                        <a:buSzPts val="1800"/>
                        <a:buFont typeface="Century Gothic"/>
                        <a:buNone/>
                      </a:pPr>
                      <a:endParaRPr sz="1800" b="1" i="0" u="none" strike="noStrike" cap="none">
                        <a:solidFill>
                          <a:srgbClr val="000000"/>
                        </a:solidFill>
                        <a:latin typeface="Constantia"/>
                        <a:ea typeface="Constantia"/>
                        <a:cs typeface="Constantia"/>
                        <a:sym typeface="Constantia"/>
                      </a:endParaRPr>
                    </a:p>
                    <a:p>
                      <a:pPr marL="0" marR="0" lvl="0" indent="0" algn="l" rtl="0">
                        <a:lnSpc>
                          <a:spcPct val="97000"/>
                        </a:lnSpc>
                        <a:spcBef>
                          <a:spcPts val="0"/>
                        </a:spcBef>
                        <a:spcAft>
                          <a:spcPts val="0"/>
                        </a:spcAft>
                        <a:buClr>
                          <a:srgbClr val="C00000"/>
                        </a:buClr>
                        <a:buSzPts val="1800"/>
                        <a:buFont typeface="Constantia"/>
                        <a:buNone/>
                      </a:pPr>
                      <a:r>
                        <a:rPr lang="en-US" sz="1800" b="1" i="0" u="none" strike="noStrike" cap="none">
                          <a:solidFill>
                            <a:srgbClr val="C00000"/>
                          </a:solidFill>
                          <a:latin typeface="Constantia"/>
                          <a:ea typeface="Constantia"/>
                          <a:cs typeface="Constantia"/>
                          <a:sym typeface="Constantia"/>
                        </a:rPr>
                        <a:t>(Repeat CMPS or SCAS until ZF = 0)</a:t>
                      </a:r>
                      <a:endParaRPr sz="1400" u="none" strike="noStrike" cap="none"/>
                    </a:p>
                    <a:p>
                      <a:pPr marL="0" marR="0" lvl="0" indent="0" algn="l" rtl="0">
                        <a:lnSpc>
                          <a:spcPct val="97000"/>
                        </a:lnSpc>
                        <a:spcBef>
                          <a:spcPts val="0"/>
                        </a:spcBef>
                        <a:spcAft>
                          <a:spcPts val="0"/>
                        </a:spcAft>
                        <a:buClr>
                          <a:schemeClr val="lt1"/>
                        </a:buClr>
                        <a:buSzPts val="1800"/>
                        <a:buFont typeface="Century Gothic"/>
                        <a:buNone/>
                      </a:pPr>
                      <a:endParaRPr sz="1800" b="1" i="0" u="none" strike="noStrike" cap="none">
                        <a:solidFill>
                          <a:srgbClr val="000000"/>
                        </a:solidFill>
                        <a:latin typeface="Constantia"/>
                        <a:ea typeface="Constantia"/>
                        <a:cs typeface="Constantia"/>
                        <a:sym typeface="Constantia"/>
                      </a:endParaRPr>
                    </a:p>
                    <a:p>
                      <a:pPr marL="0" marR="0" lvl="0" indent="0" algn="l" rtl="0">
                        <a:lnSpc>
                          <a:spcPct val="97000"/>
                        </a:lnSpc>
                        <a:spcBef>
                          <a:spcPts val="0"/>
                        </a:spcBef>
                        <a:spcAft>
                          <a:spcPts val="0"/>
                        </a:spcAft>
                        <a:buClr>
                          <a:schemeClr val="lt1"/>
                        </a:buClr>
                        <a:buSzPts val="1800"/>
                        <a:buFont typeface="Century Gothic"/>
                        <a:buNone/>
                      </a:pPr>
                      <a:endParaRPr sz="1800" b="1" i="0" u="none" strike="noStrike" cap="none">
                        <a:solidFill>
                          <a:srgbClr val="000000"/>
                        </a:solidFill>
                        <a:latin typeface="Constantia"/>
                        <a:ea typeface="Constantia"/>
                        <a:cs typeface="Constantia"/>
                        <a:sym typeface="Constantia"/>
                      </a:endParaRPr>
                    </a:p>
                    <a:p>
                      <a:pPr marL="0" marR="0" lvl="0" indent="0" algn="l" rtl="0">
                        <a:lnSpc>
                          <a:spcPct val="97000"/>
                        </a:lnSpc>
                        <a:spcBef>
                          <a:spcPts val="0"/>
                        </a:spcBef>
                        <a:spcAft>
                          <a:spcPts val="0"/>
                        </a:spcAft>
                        <a:buClr>
                          <a:schemeClr val="lt1"/>
                        </a:buClr>
                        <a:buSzPts val="1800"/>
                        <a:buFont typeface="Century Gothic"/>
                        <a:buNone/>
                      </a:pPr>
                      <a:endParaRPr sz="1800" b="1" i="0" u="none" strike="noStrike" cap="none">
                        <a:solidFill>
                          <a:srgbClr val="000000"/>
                        </a:solidFill>
                        <a:latin typeface="Constantia"/>
                        <a:ea typeface="Constantia"/>
                        <a:cs typeface="Constantia"/>
                        <a:sym typeface="Constantia"/>
                      </a:endParaRPr>
                    </a:p>
                    <a:p>
                      <a:pPr marL="0" marR="0" lvl="0" indent="0" algn="l" rtl="0">
                        <a:lnSpc>
                          <a:spcPct val="97000"/>
                        </a:lnSpc>
                        <a:spcBef>
                          <a:spcPts val="0"/>
                        </a:spcBef>
                        <a:spcAft>
                          <a:spcPts val="0"/>
                        </a:spcAft>
                        <a:buClr>
                          <a:srgbClr val="000000"/>
                        </a:buClr>
                        <a:buSzPts val="1800"/>
                        <a:buFont typeface="Constantia"/>
                        <a:buNone/>
                      </a:pPr>
                      <a:r>
                        <a:rPr lang="en-US" sz="1800" b="1" i="0" u="none" strike="noStrike" cap="none">
                          <a:solidFill>
                            <a:srgbClr val="000000"/>
                          </a:solidFill>
                          <a:latin typeface="Constantia"/>
                          <a:ea typeface="Constantia"/>
                          <a:cs typeface="Constantia"/>
                          <a:sym typeface="Constantia"/>
                        </a:rPr>
                        <a:t>REPNZ/ REPNE</a:t>
                      </a:r>
                      <a:endParaRPr sz="1400" u="none" strike="noStrike" cap="none"/>
                    </a:p>
                    <a:p>
                      <a:pPr marL="0" marR="0" lvl="0" indent="0" algn="l" rtl="0">
                        <a:lnSpc>
                          <a:spcPct val="97000"/>
                        </a:lnSpc>
                        <a:spcBef>
                          <a:spcPts val="0"/>
                        </a:spcBef>
                        <a:spcAft>
                          <a:spcPts val="0"/>
                        </a:spcAft>
                        <a:buClr>
                          <a:schemeClr val="lt1"/>
                        </a:buClr>
                        <a:buSzPts val="1800"/>
                        <a:buFont typeface="Century Gothic"/>
                        <a:buNone/>
                      </a:pPr>
                      <a:endParaRPr sz="1800" b="1" i="0" u="none" strike="noStrike" cap="none">
                        <a:solidFill>
                          <a:srgbClr val="000000"/>
                        </a:solidFill>
                        <a:latin typeface="Constantia"/>
                        <a:ea typeface="Constantia"/>
                        <a:cs typeface="Constantia"/>
                        <a:sym typeface="Constantia"/>
                      </a:endParaRPr>
                    </a:p>
                    <a:p>
                      <a:pPr marL="0" marR="0" lvl="0" indent="0" algn="l" rtl="0">
                        <a:lnSpc>
                          <a:spcPct val="97000"/>
                        </a:lnSpc>
                        <a:spcBef>
                          <a:spcPts val="0"/>
                        </a:spcBef>
                        <a:spcAft>
                          <a:spcPts val="0"/>
                        </a:spcAft>
                        <a:buClr>
                          <a:srgbClr val="C00000"/>
                        </a:buClr>
                        <a:buSzPts val="1800"/>
                        <a:buFont typeface="Constantia"/>
                        <a:buNone/>
                      </a:pPr>
                      <a:r>
                        <a:rPr lang="en-US" sz="1800" b="1" i="0" u="none" strike="noStrike" cap="none">
                          <a:solidFill>
                            <a:srgbClr val="C00000"/>
                          </a:solidFill>
                          <a:latin typeface="Constantia"/>
                          <a:ea typeface="Constantia"/>
                          <a:cs typeface="Constantia"/>
                          <a:sym typeface="Constantia"/>
                        </a:rPr>
                        <a:t>(Repeat CMPS or SCAS until ZF = 1)</a:t>
                      </a:r>
                      <a:endParaRPr sz="1400" u="none" strike="noStrike" cap="none"/>
                    </a:p>
                    <a:p>
                      <a:pPr marL="0" marR="0" lvl="0" indent="0" algn="l" rtl="0">
                        <a:lnSpc>
                          <a:spcPct val="97000"/>
                        </a:lnSpc>
                        <a:spcBef>
                          <a:spcPts val="0"/>
                        </a:spcBef>
                        <a:spcAft>
                          <a:spcPts val="0"/>
                        </a:spcAft>
                        <a:buClr>
                          <a:schemeClr val="lt1"/>
                        </a:buClr>
                        <a:buSzPts val="1800"/>
                        <a:buFont typeface="Century Gothic"/>
                        <a:buNone/>
                      </a:pPr>
                      <a:endParaRPr sz="1800" b="1" i="0" u="none" strike="noStrike" cap="none">
                        <a:solidFill>
                          <a:srgbClr val="C00000"/>
                        </a:solidFill>
                        <a:latin typeface="Constantia"/>
                        <a:ea typeface="Constantia"/>
                        <a:cs typeface="Constantia"/>
                        <a:sym typeface="Constantia"/>
                      </a:endParaRPr>
                    </a:p>
                  </a:txBody>
                  <a:tcPr marL="120000" marR="120000" marT="53600" marB="4680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18700" cap="flat" cmpd="sng">
                      <a:solidFill>
                        <a:srgbClr val="FFFFFF"/>
                      </a:solidFill>
                      <a:prstDash val="solid"/>
                      <a:round/>
                      <a:headEnd type="none" w="sm" len="sm"/>
                      <a:tailEnd type="none" w="sm" len="sm"/>
                    </a:lnB>
                    <a:solidFill>
                      <a:srgbClr val="C2FFF0"/>
                    </a:solidFill>
                  </a:tcPr>
                </a:tc>
                <a:tc>
                  <a:txBody>
                    <a:bodyPr/>
                    <a:lstStyle/>
                    <a:p>
                      <a:pPr marL="0" marR="0" lvl="0" indent="0" algn="l" rtl="0">
                        <a:lnSpc>
                          <a:spcPct val="97000"/>
                        </a:lnSpc>
                        <a:spcBef>
                          <a:spcPts val="0"/>
                        </a:spcBef>
                        <a:spcAft>
                          <a:spcPts val="0"/>
                        </a:spcAft>
                        <a:buClr>
                          <a:schemeClr val="lt1"/>
                        </a:buClr>
                        <a:buSzPts val="1800"/>
                        <a:buFont typeface="Century Gothic"/>
                        <a:buNone/>
                      </a:pPr>
                      <a:endParaRPr sz="1800" b="1" i="0" u="none" strike="noStrike" cap="none">
                        <a:solidFill>
                          <a:srgbClr val="000000"/>
                        </a:solidFill>
                        <a:latin typeface="Constantia"/>
                        <a:ea typeface="Constantia"/>
                        <a:cs typeface="Constantia"/>
                        <a:sym typeface="Constantia"/>
                      </a:endParaRPr>
                    </a:p>
                    <a:p>
                      <a:pPr marL="0" marR="0" lvl="0" indent="0" algn="l" rtl="0">
                        <a:lnSpc>
                          <a:spcPct val="97000"/>
                        </a:lnSpc>
                        <a:spcBef>
                          <a:spcPts val="0"/>
                        </a:spcBef>
                        <a:spcAft>
                          <a:spcPts val="0"/>
                        </a:spcAft>
                        <a:buClr>
                          <a:schemeClr val="lt1"/>
                        </a:buClr>
                        <a:buSzPts val="1800"/>
                        <a:buFont typeface="Century Gothic"/>
                        <a:buNone/>
                      </a:pPr>
                      <a:endParaRPr sz="1800" b="1" i="0" u="none" strike="noStrike" cap="none">
                        <a:solidFill>
                          <a:srgbClr val="000000"/>
                        </a:solidFill>
                        <a:latin typeface="Constantia"/>
                        <a:ea typeface="Constantia"/>
                        <a:cs typeface="Constantia"/>
                        <a:sym typeface="Constantia"/>
                      </a:endParaRPr>
                    </a:p>
                    <a:p>
                      <a:pPr marL="0" marR="0" lvl="0" indent="0" algn="l" rtl="0">
                        <a:lnSpc>
                          <a:spcPct val="97000"/>
                        </a:lnSpc>
                        <a:spcBef>
                          <a:spcPts val="0"/>
                        </a:spcBef>
                        <a:spcAft>
                          <a:spcPts val="0"/>
                        </a:spcAft>
                        <a:buClr>
                          <a:srgbClr val="000000"/>
                        </a:buClr>
                        <a:buSzPts val="1800"/>
                        <a:buFont typeface="Constantia"/>
                        <a:buNone/>
                      </a:pPr>
                      <a:r>
                        <a:rPr lang="en-US" sz="1800" b="1" i="0" u="none" strike="noStrike" cap="none">
                          <a:solidFill>
                            <a:srgbClr val="000000"/>
                          </a:solidFill>
                          <a:latin typeface="Constantia"/>
                          <a:ea typeface="Constantia"/>
                          <a:cs typeface="Constantia"/>
                          <a:sym typeface="Constantia"/>
                        </a:rPr>
                        <a:t>While CX </a:t>
                      </a:r>
                      <a:r>
                        <a:rPr lang="en-US" sz="1800" b="1" i="0" u="none" strike="noStrike" cap="none">
                          <a:solidFill>
                            <a:srgbClr val="000000"/>
                          </a:solidFill>
                          <a:latin typeface="Noto Sans Symbols"/>
                          <a:ea typeface="Noto Sans Symbols"/>
                          <a:cs typeface="Noto Sans Symbols"/>
                          <a:sym typeface="Noto Sans Symbols"/>
                        </a:rPr>
                        <a:t>≠</a:t>
                      </a:r>
                      <a:r>
                        <a:rPr lang="en-US" sz="1800" b="1" i="0" u="none" strike="noStrike" cap="none">
                          <a:solidFill>
                            <a:srgbClr val="000000"/>
                          </a:solidFill>
                          <a:latin typeface="Constantia"/>
                          <a:ea typeface="Constantia"/>
                          <a:cs typeface="Constantia"/>
                          <a:sym typeface="Constantia"/>
                        </a:rPr>
                        <a:t> 0 and ZF = 1, repeat execution of string instruction and</a:t>
                      </a:r>
                      <a:endParaRPr sz="1400" u="none" strike="noStrike" cap="none"/>
                    </a:p>
                    <a:p>
                      <a:pPr marL="0" marR="0" lvl="0" indent="0" algn="l" rtl="0">
                        <a:lnSpc>
                          <a:spcPct val="97000"/>
                        </a:lnSpc>
                        <a:spcBef>
                          <a:spcPts val="0"/>
                        </a:spcBef>
                        <a:spcAft>
                          <a:spcPts val="0"/>
                        </a:spcAft>
                        <a:buClr>
                          <a:srgbClr val="000000"/>
                        </a:buClr>
                        <a:buSzPts val="1800"/>
                        <a:buFont typeface="Constantia"/>
                        <a:buNone/>
                      </a:pPr>
                      <a:r>
                        <a:rPr lang="en-US" sz="1800" b="1" i="0" u="none" strike="noStrike" cap="none">
                          <a:solidFill>
                            <a:srgbClr val="000000"/>
                          </a:solidFill>
                          <a:latin typeface="Constantia"/>
                          <a:ea typeface="Constantia"/>
                          <a:cs typeface="Constantia"/>
                          <a:sym typeface="Constantia"/>
                        </a:rPr>
                        <a:t>(CX) </a:t>
                      </a:r>
                      <a:r>
                        <a:rPr lang="en-US" sz="1800" b="1" i="0" u="none" strike="noStrike" cap="none">
                          <a:solidFill>
                            <a:srgbClr val="000000"/>
                          </a:solidFill>
                          <a:latin typeface="Noto Sans Symbols"/>
                          <a:ea typeface="Noto Sans Symbols"/>
                          <a:cs typeface="Noto Sans Symbols"/>
                          <a:sym typeface="Noto Sans Symbols"/>
                        </a:rPr>
                        <a:t>←</a:t>
                      </a:r>
                      <a:r>
                        <a:rPr lang="en-US" sz="1800" b="1" i="0" u="none" strike="noStrike" cap="none">
                          <a:solidFill>
                            <a:srgbClr val="000000"/>
                          </a:solidFill>
                          <a:latin typeface="Constantia"/>
                          <a:ea typeface="Constantia"/>
                          <a:cs typeface="Constantia"/>
                          <a:sym typeface="Constantia"/>
                        </a:rPr>
                        <a:t> (CX) – 1</a:t>
                      </a:r>
                      <a:endParaRPr sz="1400" u="none" strike="noStrike" cap="none"/>
                    </a:p>
                    <a:p>
                      <a:pPr marL="0" marR="0" lvl="0" indent="0" algn="l" rtl="0">
                        <a:lnSpc>
                          <a:spcPct val="97000"/>
                        </a:lnSpc>
                        <a:spcBef>
                          <a:spcPts val="0"/>
                        </a:spcBef>
                        <a:spcAft>
                          <a:spcPts val="0"/>
                        </a:spcAft>
                        <a:buClr>
                          <a:schemeClr val="lt1"/>
                        </a:buClr>
                        <a:buSzPts val="1800"/>
                        <a:buFont typeface="Century Gothic"/>
                        <a:buNone/>
                      </a:pPr>
                      <a:endParaRPr sz="1800" b="1" i="0" u="none" strike="noStrike" cap="none">
                        <a:solidFill>
                          <a:srgbClr val="000000"/>
                        </a:solidFill>
                        <a:latin typeface="Constantia"/>
                        <a:ea typeface="Constantia"/>
                        <a:cs typeface="Constantia"/>
                        <a:sym typeface="Constantia"/>
                      </a:endParaRPr>
                    </a:p>
                    <a:p>
                      <a:pPr marL="0" marR="0" lvl="0" indent="0" algn="l" rtl="0">
                        <a:lnSpc>
                          <a:spcPct val="97000"/>
                        </a:lnSpc>
                        <a:spcBef>
                          <a:spcPts val="0"/>
                        </a:spcBef>
                        <a:spcAft>
                          <a:spcPts val="0"/>
                        </a:spcAft>
                        <a:buClr>
                          <a:schemeClr val="lt1"/>
                        </a:buClr>
                        <a:buSzPts val="1800"/>
                        <a:buFont typeface="Century Gothic"/>
                        <a:buNone/>
                      </a:pPr>
                      <a:endParaRPr sz="1800" b="1" i="0" u="none" strike="noStrike" cap="none">
                        <a:solidFill>
                          <a:srgbClr val="000000"/>
                        </a:solidFill>
                        <a:latin typeface="Constantia"/>
                        <a:ea typeface="Constantia"/>
                        <a:cs typeface="Constantia"/>
                        <a:sym typeface="Constantia"/>
                      </a:endParaRPr>
                    </a:p>
                    <a:p>
                      <a:pPr marL="0" marR="0" lvl="0" indent="0" algn="l" rtl="0">
                        <a:lnSpc>
                          <a:spcPct val="97000"/>
                        </a:lnSpc>
                        <a:spcBef>
                          <a:spcPts val="0"/>
                        </a:spcBef>
                        <a:spcAft>
                          <a:spcPts val="0"/>
                        </a:spcAft>
                        <a:buClr>
                          <a:schemeClr val="lt1"/>
                        </a:buClr>
                        <a:buSzPts val="1800"/>
                        <a:buFont typeface="Century Gothic"/>
                        <a:buNone/>
                      </a:pPr>
                      <a:endParaRPr sz="1800" b="1" i="0" u="none" strike="noStrike" cap="none">
                        <a:solidFill>
                          <a:srgbClr val="000000"/>
                        </a:solidFill>
                        <a:latin typeface="Constantia"/>
                        <a:ea typeface="Constantia"/>
                        <a:cs typeface="Constantia"/>
                        <a:sym typeface="Constantia"/>
                      </a:endParaRPr>
                    </a:p>
                    <a:p>
                      <a:pPr marL="0" marR="0" lvl="0" indent="0" algn="l" rtl="0">
                        <a:lnSpc>
                          <a:spcPct val="97000"/>
                        </a:lnSpc>
                        <a:spcBef>
                          <a:spcPts val="0"/>
                        </a:spcBef>
                        <a:spcAft>
                          <a:spcPts val="0"/>
                        </a:spcAft>
                        <a:buClr>
                          <a:schemeClr val="lt1"/>
                        </a:buClr>
                        <a:buSzPts val="1800"/>
                        <a:buFont typeface="Century Gothic"/>
                        <a:buNone/>
                      </a:pPr>
                      <a:endParaRPr sz="1800" b="1" i="0" u="none" strike="noStrike" cap="none">
                        <a:solidFill>
                          <a:srgbClr val="000000"/>
                        </a:solidFill>
                        <a:latin typeface="Constantia"/>
                        <a:ea typeface="Constantia"/>
                        <a:cs typeface="Constantia"/>
                        <a:sym typeface="Constantia"/>
                      </a:endParaRPr>
                    </a:p>
                    <a:p>
                      <a:pPr marL="0" marR="0" lvl="0" indent="0" algn="l" rtl="0">
                        <a:lnSpc>
                          <a:spcPct val="97000"/>
                        </a:lnSpc>
                        <a:spcBef>
                          <a:spcPts val="0"/>
                        </a:spcBef>
                        <a:spcAft>
                          <a:spcPts val="0"/>
                        </a:spcAft>
                        <a:buClr>
                          <a:srgbClr val="000000"/>
                        </a:buClr>
                        <a:buSzPts val="1800"/>
                        <a:buFont typeface="Constantia"/>
                        <a:buNone/>
                      </a:pPr>
                      <a:r>
                        <a:rPr lang="en-US" sz="1800" b="1" i="0" u="none" strike="noStrike" cap="none">
                          <a:solidFill>
                            <a:srgbClr val="000000"/>
                          </a:solidFill>
                          <a:latin typeface="Constantia"/>
                          <a:ea typeface="Constantia"/>
                          <a:cs typeface="Constantia"/>
                          <a:sym typeface="Constantia"/>
                        </a:rPr>
                        <a:t>While CX </a:t>
                      </a:r>
                      <a:r>
                        <a:rPr lang="en-US" sz="1800" b="1" i="0" u="none" strike="noStrike" cap="none">
                          <a:solidFill>
                            <a:srgbClr val="000000"/>
                          </a:solidFill>
                          <a:latin typeface="Noto Sans Symbols"/>
                          <a:ea typeface="Noto Sans Symbols"/>
                          <a:cs typeface="Noto Sans Symbols"/>
                          <a:sym typeface="Noto Sans Symbols"/>
                        </a:rPr>
                        <a:t>≠</a:t>
                      </a:r>
                      <a:r>
                        <a:rPr lang="en-US" sz="1800" b="1" i="0" u="none" strike="noStrike" cap="none">
                          <a:solidFill>
                            <a:srgbClr val="000000"/>
                          </a:solidFill>
                          <a:latin typeface="Constantia"/>
                          <a:ea typeface="Constantia"/>
                          <a:cs typeface="Constantia"/>
                          <a:sym typeface="Constantia"/>
                        </a:rPr>
                        <a:t> 0 and ZF = 0, repeat execution of string instruction and</a:t>
                      </a:r>
                      <a:endParaRPr sz="1400" u="none" strike="noStrike" cap="none"/>
                    </a:p>
                    <a:p>
                      <a:pPr marL="0" marR="0" lvl="0" indent="0" algn="l" rtl="0">
                        <a:lnSpc>
                          <a:spcPct val="97000"/>
                        </a:lnSpc>
                        <a:spcBef>
                          <a:spcPts val="0"/>
                        </a:spcBef>
                        <a:spcAft>
                          <a:spcPts val="0"/>
                        </a:spcAft>
                        <a:buClr>
                          <a:srgbClr val="000000"/>
                        </a:buClr>
                        <a:buSzPts val="1800"/>
                        <a:buFont typeface="Constantia"/>
                        <a:buNone/>
                      </a:pPr>
                      <a:r>
                        <a:rPr lang="en-US" sz="1800" b="1" i="0" u="none" strike="noStrike" cap="none">
                          <a:solidFill>
                            <a:srgbClr val="000000"/>
                          </a:solidFill>
                          <a:latin typeface="Constantia"/>
                          <a:ea typeface="Constantia"/>
                          <a:cs typeface="Constantia"/>
                          <a:sym typeface="Constantia"/>
                        </a:rPr>
                        <a:t>(CX) </a:t>
                      </a:r>
                      <a:r>
                        <a:rPr lang="en-US" sz="1800" b="1" i="0" u="none" strike="noStrike" cap="none">
                          <a:solidFill>
                            <a:srgbClr val="000000"/>
                          </a:solidFill>
                          <a:latin typeface="Noto Sans Symbols"/>
                          <a:ea typeface="Noto Sans Symbols"/>
                          <a:cs typeface="Noto Sans Symbols"/>
                          <a:sym typeface="Noto Sans Symbols"/>
                        </a:rPr>
                        <a:t>←</a:t>
                      </a:r>
                      <a:r>
                        <a:rPr lang="en-US" sz="1800" b="1" i="0" u="none" strike="noStrike" cap="none">
                          <a:solidFill>
                            <a:srgbClr val="000000"/>
                          </a:solidFill>
                          <a:latin typeface="Constantia"/>
                          <a:ea typeface="Constantia"/>
                          <a:cs typeface="Constantia"/>
                          <a:sym typeface="Constantia"/>
                        </a:rPr>
                        <a:t> (CX) - 1</a:t>
                      </a:r>
                      <a:endParaRPr sz="1400" u="none" strike="noStrike" cap="none"/>
                    </a:p>
                    <a:p>
                      <a:pPr marL="0" marR="0" lvl="0" indent="0" algn="l" rtl="0">
                        <a:lnSpc>
                          <a:spcPct val="97000"/>
                        </a:lnSpc>
                        <a:spcBef>
                          <a:spcPts val="0"/>
                        </a:spcBef>
                        <a:spcAft>
                          <a:spcPts val="0"/>
                        </a:spcAft>
                        <a:buClr>
                          <a:schemeClr val="lt1"/>
                        </a:buClr>
                        <a:buSzPts val="1800"/>
                        <a:buFont typeface="Century Gothic"/>
                        <a:buNone/>
                      </a:pPr>
                      <a:endParaRPr sz="1800" b="1" i="0" u="none" strike="noStrike" cap="none">
                        <a:solidFill>
                          <a:srgbClr val="000000"/>
                        </a:solidFill>
                        <a:latin typeface="Constantia"/>
                        <a:ea typeface="Constantia"/>
                        <a:cs typeface="Constantia"/>
                        <a:sym typeface="Constantia"/>
                      </a:endParaRPr>
                    </a:p>
                  </a:txBody>
                  <a:tcPr marL="120000" marR="120000" marT="53600" marB="4680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18700" cap="flat" cmpd="sng">
                      <a:solidFill>
                        <a:srgbClr val="FFFFFF"/>
                      </a:solidFill>
                      <a:prstDash val="solid"/>
                      <a:round/>
                      <a:headEnd type="none" w="sm" len="sm"/>
                      <a:tailEnd type="none" w="sm" len="sm"/>
                    </a:lnB>
                    <a:solidFill>
                      <a:srgbClr val="C2FFF0"/>
                    </a:solidFill>
                  </a:tcPr>
                </a:tc>
                <a:extLst>
                  <a:ext uri="{0D108BD9-81ED-4DB2-BD59-A6C34878D82A}">
                    <a16:rowId xmlns:a16="http://schemas.microsoft.com/office/drawing/2014/main" val="10000"/>
                  </a:ext>
                </a:extLst>
              </a:tr>
            </a:tbl>
          </a:graphicData>
        </a:graphic>
      </p:graphicFrame>
      <p:sp>
        <p:nvSpPr>
          <p:cNvPr id="830" name="Google Shape;830;p73"/>
          <p:cNvSpPr txBox="1"/>
          <p:nvPr/>
        </p:nvSpPr>
        <p:spPr>
          <a:xfrm>
            <a:off x="609600" y="1038226"/>
            <a:ext cx="10972800" cy="866775"/>
          </a:xfrm>
          <a:prstGeom prst="rect">
            <a:avLst/>
          </a:prstGeom>
          <a:noFill/>
          <a:ln>
            <a:noFill/>
          </a:ln>
        </p:spPr>
        <p:txBody>
          <a:bodyPr spcFirstLastPara="1" wrap="square" lIns="0" tIns="46800" rIns="0" bIns="0" anchor="b" anchorCtr="0">
            <a:noAutofit/>
          </a:bodyPr>
          <a:lstStyle/>
          <a:p>
            <a:pPr marL="0" marR="0" lvl="0" indent="0" algn="ctr" rtl="0">
              <a:lnSpc>
                <a:spcPct val="100000"/>
              </a:lnSpc>
              <a:spcBef>
                <a:spcPts val="0"/>
              </a:spcBef>
              <a:spcAft>
                <a:spcPts val="0"/>
              </a:spcAft>
              <a:buClr>
                <a:srgbClr val="444D26"/>
              </a:buClr>
              <a:buSzPts val="5000"/>
              <a:buFont typeface="Calibri"/>
              <a:buNone/>
            </a:pPr>
            <a:r>
              <a:rPr lang="en-US" sz="5000" b="1" i="0" u="none" strike="noStrike" cap="none" dirty="0">
                <a:solidFill>
                  <a:schemeClr val="accent6"/>
                </a:solidFill>
                <a:latin typeface="Calibri"/>
                <a:ea typeface="Calibri"/>
                <a:cs typeface="Calibri"/>
                <a:sym typeface="Calibri"/>
              </a:rPr>
              <a:t>String Manipulation Instructions</a:t>
            </a:r>
            <a:endParaRPr sz="1400" b="0" i="0" u="none" strike="noStrike" cap="none" dirty="0">
              <a:solidFill>
                <a:schemeClr val="accent6"/>
              </a:solidFill>
              <a:sym typeface="Arial"/>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0277cbed06_0_0"/>
          <p:cNvSpPr txBox="1"/>
          <p:nvPr/>
        </p:nvSpPr>
        <p:spPr>
          <a:xfrm>
            <a:off x="1260775" y="3034150"/>
            <a:ext cx="10598700" cy="1508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chemeClr val="accent6"/>
                </a:solidFill>
                <a:latin typeface="Century Gothic"/>
                <a:ea typeface="Century Gothic"/>
                <a:cs typeface="Century Gothic"/>
                <a:sym typeface="Century Gothic"/>
              </a:rPr>
              <a:t>Assembler Directives and Assembly Language Programming, Macros, Procedures</a:t>
            </a:r>
            <a:endParaRPr sz="2400" b="1" i="0" u="none" strike="noStrike" cap="none" dirty="0">
              <a:solidFill>
                <a:schemeClr val="accent6"/>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chemeClr val="accent1"/>
                </a:solidFill>
                <a:latin typeface="Century Gothic"/>
                <a:ea typeface="Century Gothic"/>
                <a:cs typeface="Century Gothic"/>
                <a:sym typeface="Century Gothic"/>
              </a:rPr>
              <a:t/>
            </a:r>
            <a:br>
              <a:rPr lang="en-US" sz="2400" b="1" i="0" u="none" strike="noStrike" cap="none" dirty="0">
                <a:solidFill>
                  <a:schemeClr val="accent1"/>
                </a:solidFill>
                <a:latin typeface="Century Gothic"/>
                <a:ea typeface="Century Gothic"/>
                <a:cs typeface="Century Gothic"/>
                <a:sym typeface="Century Gothic"/>
              </a:rPr>
            </a:br>
            <a:endParaRPr sz="1400" b="1" i="0" u="none" strike="noStrike" cap="none" dirty="0">
              <a:solidFill>
                <a:schemeClr val="accen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20277cbed06_0_4"/>
          <p:cNvSpPr txBox="1"/>
          <p:nvPr/>
        </p:nvSpPr>
        <p:spPr>
          <a:xfrm>
            <a:off x="0" y="0"/>
            <a:ext cx="12192000" cy="6355800"/>
          </a:xfrm>
          <a:prstGeom prst="rect">
            <a:avLst/>
          </a:prstGeom>
          <a:noFill/>
          <a:ln>
            <a:noFill/>
          </a:ln>
        </p:spPr>
        <p:txBody>
          <a:bodyPr spcFirstLastPara="1" wrap="square" lIns="91425" tIns="91425" rIns="91425" bIns="91425" anchor="t" anchorCtr="0">
            <a:spAutoFit/>
          </a:bodyPr>
          <a:lstStyle/>
          <a:p>
            <a:pPr marL="241300" marR="241300" lvl="0" indent="0" algn="l" rtl="0">
              <a:lnSpc>
                <a:spcPct val="110000"/>
              </a:lnSpc>
              <a:spcBef>
                <a:spcPts val="0"/>
              </a:spcBef>
              <a:spcAft>
                <a:spcPts val="0"/>
              </a:spcAft>
              <a:buNone/>
            </a:pPr>
            <a:r>
              <a:rPr lang="en-US" sz="2050" b="1" dirty="0">
                <a:solidFill>
                  <a:srgbClr val="0000FF"/>
                </a:solidFill>
              </a:rPr>
              <a:t>8086- Assembler directives</a:t>
            </a:r>
            <a:endParaRPr sz="2050" b="1" dirty="0">
              <a:solidFill>
                <a:srgbClr val="0000FF"/>
              </a:solidFill>
            </a:endParaRPr>
          </a:p>
          <a:p>
            <a:pPr marL="241300" marR="241300" lvl="0" indent="0" algn="l" rtl="0">
              <a:lnSpc>
                <a:spcPct val="115000"/>
              </a:lnSpc>
              <a:spcBef>
                <a:spcPts val="0"/>
              </a:spcBef>
              <a:spcAft>
                <a:spcPts val="0"/>
              </a:spcAft>
              <a:buNone/>
            </a:pPr>
            <a:endParaRPr sz="2050" b="1" dirty="0">
              <a:solidFill>
                <a:srgbClr val="222222"/>
              </a:solidFill>
            </a:endParaRPr>
          </a:p>
          <a:p>
            <a:pPr marL="139700" marR="139700" lvl="0" indent="0" algn="l" rtl="0">
              <a:lnSpc>
                <a:spcPct val="140000"/>
              </a:lnSpc>
              <a:spcBef>
                <a:spcPts val="1200"/>
              </a:spcBef>
              <a:spcAft>
                <a:spcPts val="0"/>
              </a:spcAft>
              <a:buNone/>
            </a:pPr>
            <a:r>
              <a:rPr lang="en-US" sz="1600" dirty="0" smtClean="0">
                <a:solidFill>
                  <a:schemeClr val="dk2"/>
                </a:solidFill>
              </a:rPr>
              <a:t>Assembler </a:t>
            </a:r>
            <a:r>
              <a:rPr lang="en-US" sz="1600" dirty="0">
                <a:solidFill>
                  <a:schemeClr val="dk2"/>
                </a:solidFill>
              </a:rPr>
              <a:t>directives are the directions to the assembler   which indicate how an operand or section of the program is to be processed. These are also called pseudo operations which are not executable by the microprocessor. The following section explains the basic assembler directives for 8086.</a:t>
            </a:r>
            <a:endParaRPr sz="1600" dirty="0">
              <a:solidFill>
                <a:schemeClr val="dk2"/>
              </a:solidFill>
            </a:endParaRPr>
          </a:p>
          <a:p>
            <a:pPr marL="139700" marR="139700" lvl="0" indent="0" algn="l" rtl="0">
              <a:lnSpc>
                <a:spcPct val="140000"/>
              </a:lnSpc>
              <a:spcBef>
                <a:spcPts val="1200"/>
              </a:spcBef>
              <a:spcAft>
                <a:spcPts val="0"/>
              </a:spcAft>
              <a:buNone/>
            </a:pPr>
            <a:r>
              <a:rPr lang="en-US" sz="1600" b="1" dirty="0">
                <a:solidFill>
                  <a:schemeClr val="bg2"/>
                </a:solidFill>
              </a:rPr>
              <a:t>ASSEMBLER DIRECTIVES:</a:t>
            </a:r>
            <a:endParaRPr sz="1600" b="1" dirty="0">
              <a:solidFill>
                <a:schemeClr val="bg2"/>
              </a:solidFill>
            </a:endParaRPr>
          </a:p>
          <a:p>
            <a:pPr marL="139700" marR="139700" lvl="0" indent="0" algn="l" rtl="0">
              <a:lnSpc>
                <a:spcPct val="140000"/>
              </a:lnSpc>
              <a:spcBef>
                <a:spcPts val="1200"/>
              </a:spcBef>
              <a:spcAft>
                <a:spcPts val="0"/>
              </a:spcAft>
              <a:buNone/>
            </a:pPr>
            <a:r>
              <a:rPr lang="en-US" sz="1600" dirty="0">
                <a:solidFill>
                  <a:schemeClr val="dk2"/>
                </a:solidFill>
              </a:rPr>
              <a:t>The various directives are explained below.</a:t>
            </a:r>
            <a:endParaRPr sz="1600" dirty="0">
              <a:solidFill>
                <a:schemeClr val="dk2"/>
              </a:solidFill>
            </a:endParaRPr>
          </a:p>
          <a:p>
            <a:pPr marL="139700" marR="139700" lvl="0" indent="0" algn="l" rtl="0">
              <a:lnSpc>
                <a:spcPct val="140000"/>
              </a:lnSpc>
              <a:spcBef>
                <a:spcPts val="1200"/>
              </a:spcBef>
              <a:spcAft>
                <a:spcPts val="0"/>
              </a:spcAft>
              <a:buNone/>
            </a:pPr>
            <a:r>
              <a:rPr lang="en-US" sz="1600" b="1" dirty="0">
                <a:solidFill>
                  <a:schemeClr val="accent6"/>
                </a:solidFill>
              </a:rPr>
              <a:t>1. ASSUME : </a:t>
            </a:r>
            <a:r>
              <a:rPr lang="en-US" sz="1600" dirty="0">
                <a:solidFill>
                  <a:schemeClr val="dk2"/>
                </a:solidFill>
              </a:rPr>
              <a:t>The ASSUME directive is used to inform the assembler the name of the logical segment it should use for a specified segment.</a:t>
            </a:r>
            <a:endParaRPr sz="1600" dirty="0">
              <a:solidFill>
                <a:schemeClr val="dk2"/>
              </a:solidFill>
            </a:endParaRPr>
          </a:p>
          <a:p>
            <a:pPr marL="139700" marR="139700" lvl="0" indent="0" algn="l" rtl="0">
              <a:lnSpc>
                <a:spcPct val="140000"/>
              </a:lnSpc>
              <a:spcBef>
                <a:spcPts val="1200"/>
              </a:spcBef>
              <a:spcAft>
                <a:spcPts val="0"/>
              </a:spcAft>
              <a:buNone/>
            </a:pPr>
            <a:r>
              <a:rPr lang="en-US" sz="1600" dirty="0">
                <a:solidFill>
                  <a:schemeClr val="dk2"/>
                </a:solidFill>
              </a:rPr>
              <a:t>Ex:  ASSUME   DS: DATA tells the assembler that for any program instruction which refers to the data segment ,it should use the logical segment called DATA.</a:t>
            </a:r>
            <a:endParaRPr sz="1600" dirty="0">
              <a:solidFill>
                <a:schemeClr val="dk2"/>
              </a:solidFill>
            </a:endParaRPr>
          </a:p>
          <a:p>
            <a:pPr marL="139700" marR="139700" lvl="0" indent="0" algn="l" rtl="0">
              <a:lnSpc>
                <a:spcPct val="140000"/>
              </a:lnSpc>
              <a:spcBef>
                <a:spcPts val="1200"/>
              </a:spcBef>
              <a:spcAft>
                <a:spcPts val="0"/>
              </a:spcAft>
              <a:buNone/>
            </a:pPr>
            <a:r>
              <a:rPr lang="en-US" sz="1600" b="1" dirty="0">
                <a:solidFill>
                  <a:schemeClr val="accent6"/>
                </a:solidFill>
              </a:rPr>
              <a:t>2.DB </a:t>
            </a:r>
            <a:r>
              <a:rPr lang="en-US" sz="1600" dirty="0">
                <a:solidFill>
                  <a:schemeClr val="dk2"/>
                </a:solidFill>
              </a:rPr>
              <a:t> -Define byte. It is used to declare a byte variable or set aside one or more storage locations of type byte in memory.</a:t>
            </a:r>
            <a:endParaRPr sz="1600" dirty="0">
              <a:solidFill>
                <a:schemeClr val="dk2"/>
              </a:solidFill>
            </a:endParaRPr>
          </a:p>
          <a:p>
            <a:pPr marL="139700" marR="139700" lvl="0" indent="0" algn="l" rtl="0">
              <a:lnSpc>
                <a:spcPct val="140000"/>
              </a:lnSpc>
              <a:spcBef>
                <a:spcPts val="1200"/>
              </a:spcBef>
              <a:spcAft>
                <a:spcPts val="1200"/>
              </a:spcAft>
              <a:buNone/>
            </a:pPr>
            <a:r>
              <a:rPr lang="en-US" sz="1600" dirty="0">
                <a:solidFill>
                  <a:schemeClr val="dk2"/>
                </a:solidFill>
              </a:rPr>
              <a:t>For example, CURRENT_VALUE DB 36H tells the assembler to reserve   1 byte of memory for a variable named CURRENT_ VALUE and to put the value   36 H in that memory location when the program is loaded into RAM .</a:t>
            </a:r>
            <a:endParaRPr sz="1600" dirty="0">
              <a:solidFill>
                <a:schemeClr val="dk2"/>
              </a:solidFill>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g20277cbed06_0_8"/>
          <p:cNvSpPr txBox="1"/>
          <p:nvPr/>
        </p:nvSpPr>
        <p:spPr>
          <a:xfrm>
            <a:off x="0" y="0"/>
            <a:ext cx="12192000" cy="7269652"/>
          </a:xfrm>
          <a:prstGeom prst="rect">
            <a:avLst/>
          </a:prstGeom>
          <a:noFill/>
          <a:ln>
            <a:noFill/>
          </a:ln>
        </p:spPr>
        <p:txBody>
          <a:bodyPr spcFirstLastPara="1" wrap="square" lIns="91425" tIns="91425" rIns="91425" bIns="91425" anchor="t" anchorCtr="0">
            <a:spAutoFit/>
          </a:bodyPr>
          <a:lstStyle/>
          <a:p>
            <a:pPr marL="0" lvl="0" indent="0" algn="l" rtl="0">
              <a:lnSpc>
                <a:spcPct val="140000"/>
              </a:lnSpc>
              <a:spcBef>
                <a:spcPts val="0"/>
              </a:spcBef>
              <a:spcAft>
                <a:spcPts val="0"/>
              </a:spcAft>
              <a:buNone/>
            </a:pPr>
            <a:r>
              <a:rPr lang="en-US" b="1" dirty="0">
                <a:solidFill>
                  <a:schemeClr val="accent6"/>
                </a:solidFill>
              </a:rPr>
              <a:t>3. DW </a:t>
            </a:r>
            <a:r>
              <a:rPr lang="en-US" dirty="0">
                <a:solidFill>
                  <a:schemeClr val="dk2"/>
                </a:solidFill>
              </a:rPr>
              <a:t>-Define word. It tells the assembler to define a variable of type word or to reserve storage locations of type word in memory.</a:t>
            </a:r>
            <a:endParaRPr dirty="0">
              <a:solidFill>
                <a:schemeClr val="dk2"/>
              </a:solidFill>
            </a:endParaRPr>
          </a:p>
          <a:p>
            <a:pPr marL="0" lvl="0" indent="0" algn="l" rtl="0">
              <a:lnSpc>
                <a:spcPct val="140000"/>
              </a:lnSpc>
              <a:spcBef>
                <a:spcPts val="1200"/>
              </a:spcBef>
              <a:spcAft>
                <a:spcPts val="0"/>
              </a:spcAft>
              <a:buNone/>
            </a:pPr>
            <a:r>
              <a:rPr lang="en-US" b="1" dirty="0">
                <a:solidFill>
                  <a:schemeClr val="accent6"/>
                </a:solidFill>
              </a:rPr>
              <a:t>4. DD(define double word) </a:t>
            </a:r>
            <a:r>
              <a:rPr lang="en-US" dirty="0">
                <a:solidFill>
                  <a:schemeClr val="dk2"/>
                </a:solidFill>
              </a:rPr>
              <a:t>:This directive is used to declare a variable of type double word or restore memory locations which can be accessed as type double word.</a:t>
            </a:r>
            <a:endParaRPr dirty="0">
              <a:solidFill>
                <a:schemeClr val="dk2"/>
              </a:solidFill>
            </a:endParaRPr>
          </a:p>
          <a:p>
            <a:pPr marL="0" lvl="0" indent="0" algn="l" rtl="0">
              <a:lnSpc>
                <a:spcPct val="140000"/>
              </a:lnSpc>
              <a:spcBef>
                <a:spcPts val="1200"/>
              </a:spcBef>
              <a:spcAft>
                <a:spcPts val="0"/>
              </a:spcAft>
              <a:buNone/>
            </a:pPr>
            <a:r>
              <a:rPr lang="en-US" b="1" dirty="0">
                <a:solidFill>
                  <a:schemeClr val="accent6"/>
                </a:solidFill>
              </a:rPr>
              <a:t>5.DQ (define </a:t>
            </a:r>
            <a:r>
              <a:rPr lang="en-US" b="1" dirty="0" err="1">
                <a:solidFill>
                  <a:schemeClr val="accent6"/>
                </a:solidFill>
              </a:rPr>
              <a:t>quadword</a:t>
            </a:r>
            <a:r>
              <a:rPr lang="en-US" b="1" dirty="0">
                <a:solidFill>
                  <a:schemeClr val="accent6"/>
                </a:solidFill>
              </a:rPr>
              <a:t>) </a:t>
            </a:r>
            <a:r>
              <a:rPr lang="en-US" dirty="0">
                <a:solidFill>
                  <a:schemeClr val="dk2"/>
                </a:solidFill>
              </a:rPr>
              <a:t>:This directive is used to tell the assembler to declare a variable  4 words in length  or to reserve 4 words of storage in memory </a:t>
            </a:r>
            <a:endParaRPr dirty="0">
              <a:solidFill>
                <a:schemeClr val="dk2"/>
              </a:solidFill>
            </a:endParaRPr>
          </a:p>
          <a:p>
            <a:pPr marL="0" lvl="0" indent="0" algn="l" rtl="0">
              <a:lnSpc>
                <a:spcPct val="140000"/>
              </a:lnSpc>
              <a:spcBef>
                <a:spcPts val="1200"/>
              </a:spcBef>
              <a:spcAft>
                <a:spcPts val="0"/>
              </a:spcAft>
              <a:buNone/>
            </a:pPr>
            <a:r>
              <a:rPr lang="en-US" b="1" dirty="0">
                <a:solidFill>
                  <a:schemeClr val="accent6"/>
                </a:solidFill>
              </a:rPr>
              <a:t>6.DT (define ten bytes):</a:t>
            </a:r>
            <a:r>
              <a:rPr lang="en-US" dirty="0">
                <a:solidFill>
                  <a:schemeClr val="dk2"/>
                </a:solidFill>
              </a:rPr>
              <a:t>It is used to inform the assembler to define a variable which is 10 bytes in length or to reserve 10 bytes of storage  in memory.</a:t>
            </a:r>
            <a:endParaRPr dirty="0">
              <a:solidFill>
                <a:schemeClr val="dk2"/>
              </a:solidFill>
            </a:endParaRPr>
          </a:p>
          <a:p>
            <a:pPr marL="0" lvl="0" indent="0" algn="l" rtl="0">
              <a:lnSpc>
                <a:spcPct val="140000"/>
              </a:lnSpc>
              <a:spcBef>
                <a:spcPts val="1200"/>
              </a:spcBef>
              <a:spcAft>
                <a:spcPts val="0"/>
              </a:spcAft>
              <a:buNone/>
            </a:pPr>
            <a:r>
              <a:rPr lang="en-US" b="1" dirty="0">
                <a:solidFill>
                  <a:schemeClr val="accent6"/>
                </a:solidFill>
              </a:rPr>
              <a:t>7. EQU –</a:t>
            </a:r>
            <a:r>
              <a:rPr lang="en-US" dirty="0">
                <a:solidFill>
                  <a:schemeClr val="dk2"/>
                </a:solidFill>
              </a:rPr>
              <a:t>Equate It is used to give a name   to some value or symbol. Every time the assembler finds the given name in the program, it will replace the name with the value or symbol we have equated with that name</a:t>
            </a:r>
            <a:endParaRPr dirty="0">
              <a:solidFill>
                <a:schemeClr val="dk2"/>
              </a:solidFill>
            </a:endParaRPr>
          </a:p>
          <a:p>
            <a:pPr marL="0" lvl="0" indent="0" algn="l" rtl="0">
              <a:lnSpc>
                <a:spcPct val="140000"/>
              </a:lnSpc>
              <a:spcBef>
                <a:spcPts val="1200"/>
              </a:spcBef>
              <a:spcAft>
                <a:spcPts val="0"/>
              </a:spcAft>
              <a:buNone/>
            </a:pPr>
            <a:r>
              <a:rPr lang="en-US" b="1" dirty="0">
                <a:solidFill>
                  <a:schemeClr val="accent6"/>
                </a:solidFill>
              </a:rPr>
              <a:t>8.ORG  </a:t>
            </a:r>
            <a:r>
              <a:rPr lang="en-US" dirty="0">
                <a:solidFill>
                  <a:schemeClr val="dk2"/>
                </a:solidFill>
              </a:rPr>
              <a:t> -Originate  : The ORG statement changes the starting offset address of the data.</a:t>
            </a:r>
            <a:endParaRPr dirty="0">
              <a:solidFill>
                <a:schemeClr val="dk2"/>
              </a:solidFill>
            </a:endParaRPr>
          </a:p>
          <a:p>
            <a:pPr marL="0" lvl="0" indent="0" algn="l" rtl="0">
              <a:lnSpc>
                <a:spcPct val="140000"/>
              </a:lnSpc>
              <a:spcBef>
                <a:spcPts val="1200"/>
              </a:spcBef>
              <a:spcAft>
                <a:spcPts val="0"/>
              </a:spcAft>
              <a:buNone/>
            </a:pPr>
            <a:r>
              <a:rPr lang="en-US" dirty="0">
                <a:solidFill>
                  <a:schemeClr val="dk2"/>
                </a:solidFill>
              </a:rPr>
              <a:t>It allows to set the location counter to a desired value at any point in the </a:t>
            </a:r>
            <a:r>
              <a:rPr lang="en-US" dirty="0" err="1">
                <a:solidFill>
                  <a:schemeClr val="dk2"/>
                </a:solidFill>
              </a:rPr>
              <a:t>program.For</a:t>
            </a:r>
            <a:r>
              <a:rPr lang="en-US" dirty="0">
                <a:solidFill>
                  <a:schemeClr val="dk2"/>
                </a:solidFill>
              </a:rPr>
              <a:t> example the statement ORG   3000H  tells the assembler to set the location counter to 3000H.</a:t>
            </a:r>
            <a:endParaRPr dirty="0">
              <a:solidFill>
                <a:schemeClr val="dk2"/>
              </a:solidFill>
            </a:endParaRPr>
          </a:p>
          <a:p>
            <a:pPr marL="0" lvl="0" indent="0" algn="l" rtl="0">
              <a:lnSpc>
                <a:spcPct val="140000"/>
              </a:lnSpc>
              <a:spcBef>
                <a:spcPts val="1200"/>
              </a:spcBef>
              <a:spcAft>
                <a:spcPts val="0"/>
              </a:spcAft>
              <a:buNone/>
            </a:pPr>
            <a:r>
              <a:rPr lang="en-US" b="1" dirty="0">
                <a:solidFill>
                  <a:schemeClr val="accent6"/>
                </a:solidFill>
              </a:rPr>
              <a:t>9 .PROC- </a:t>
            </a:r>
            <a:r>
              <a:rPr lang="en-US" dirty="0">
                <a:solidFill>
                  <a:schemeClr val="dk2"/>
                </a:solidFill>
              </a:rPr>
              <a:t>Procedure: It is used to identify the start of a procedure.  Or  subroutine.</a:t>
            </a:r>
            <a:endParaRPr dirty="0">
              <a:solidFill>
                <a:schemeClr val="dk2"/>
              </a:solidFill>
            </a:endParaRPr>
          </a:p>
          <a:p>
            <a:pPr marL="0" lvl="0" indent="0" algn="l" rtl="0">
              <a:lnSpc>
                <a:spcPct val="140000"/>
              </a:lnSpc>
              <a:spcBef>
                <a:spcPts val="1200"/>
              </a:spcBef>
              <a:spcAft>
                <a:spcPts val="0"/>
              </a:spcAft>
              <a:buNone/>
            </a:pPr>
            <a:r>
              <a:rPr lang="en-US" b="1" dirty="0">
                <a:solidFill>
                  <a:schemeClr val="accent6"/>
                </a:solidFill>
              </a:rPr>
              <a:t>10. END- </a:t>
            </a:r>
            <a:r>
              <a:rPr lang="en-US" dirty="0">
                <a:solidFill>
                  <a:schemeClr val="dk2"/>
                </a:solidFill>
              </a:rPr>
              <a:t>End program .This directive indicates the assembler that this is the end of the program </a:t>
            </a:r>
            <a:r>
              <a:rPr lang="en-US" dirty="0" err="1">
                <a:solidFill>
                  <a:schemeClr val="dk2"/>
                </a:solidFill>
              </a:rPr>
              <a:t>module.The</a:t>
            </a:r>
            <a:r>
              <a:rPr lang="en-US" dirty="0">
                <a:solidFill>
                  <a:schemeClr val="dk2"/>
                </a:solidFill>
              </a:rPr>
              <a:t> assembler ignores any statements after an END directive.</a:t>
            </a:r>
            <a:endParaRPr dirty="0">
              <a:solidFill>
                <a:schemeClr val="dk2"/>
              </a:solidFill>
            </a:endParaRPr>
          </a:p>
          <a:p>
            <a:pPr marL="0" lvl="0" indent="0" algn="l" rtl="0">
              <a:lnSpc>
                <a:spcPct val="140000"/>
              </a:lnSpc>
              <a:spcBef>
                <a:spcPts val="1200"/>
              </a:spcBef>
              <a:spcAft>
                <a:spcPts val="0"/>
              </a:spcAft>
              <a:buNone/>
            </a:pPr>
            <a:r>
              <a:rPr lang="en-US" b="1" dirty="0">
                <a:solidFill>
                  <a:schemeClr val="accent6"/>
                </a:solidFill>
              </a:rPr>
              <a:t>11. ENDP-   </a:t>
            </a:r>
            <a:r>
              <a:rPr lang="en-US" dirty="0">
                <a:solidFill>
                  <a:schemeClr val="dk2"/>
                </a:solidFill>
              </a:rPr>
              <a:t>End procedure: It indicates the end of the procedure (subroutine) to the assembler.</a:t>
            </a:r>
            <a:endParaRPr dirty="0">
              <a:solidFill>
                <a:schemeClr val="dk2"/>
              </a:solidFill>
            </a:endParaRPr>
          </a:p>
          <a:p>
            <a:pPr marL="0" lvl="0" indent="0" algn="l" rtl="0">
              <a:lnSpc>
                <a:spcPct val="140000"/>
              </a:lnSpc>
              <a:spcBef>
                <a:spcPts val="1200"/>
              </a:spcBef>
              <a:spcAft>
                <a:spcPts val="0"/>
              </a:spcAft>
              <a:buNone/>
            </a:pPr>
            <a:r>
              <a:rPr lang="en-US" b="1" dirty="0">
                <a:solidFill>
                  <a:schemeClr val="accent6"/>
                </a:solidFill>
              </a:rPr>
              <a:t>12.ENDS</a:t>
            </a:r>
            <a:r>
              <a:rPr lang="en-US" dirty="0">
                <a:solidFill>
                  <a:schemeClr val="dk2"/>
                </a:solidFill>
              </a:rPr>
              <a:t>-End Segment: This directive is used with the name of the segment to indicate the end of that logical segment.</a:t>
            </a:r>
            <a:endParaRPr dirty="0">
              <a:solidFill>
                <a:schemeClr val="dk2"/>
              </a:solidFill>
            </a:endParaRPr>
          </a:p>
          <a:p>
            <a:pPr marL="0" lvl="0" indent="0" algn="l" rtl="0">
              <a:lnSpc>
                <a:spcPct val="140000"/>
              </a:lnSpc>
              <a:spcBef>
                <a:spcPts val="1200"/>
              </a:spcBef>
              <a:spcAft>
                <a:spcPts val="0"/>
              </a:spcAft>
              <a:buNone/>
            </a:pPr>
            <a:r>
              <a:rPr lang="en-US" dirty="0">
                <a:solidFill>
                  <a:schemeClr val="dk2"/>
                </a:solidFill>
              </a:rPr>
              <a:t>Ex: CODE  SEGMENT : Start of logical segment containing </a:t>
            </a:r>
            <a:r>
              <a:rPr lang="en-US" dirty="0" smtClean="0">
                <a:solidFill>
                  <a:schemeClr val="dk2"/>
                </a:solidFill>
              </a:rPr>
              <a:t>code</a:t>
            </a:r>
            <a:r>
              <a:rPr lang="en-US" dirty="0">
                <a:solidFill>
                  <a:schemeClr val="dk2"/>
                </a:solidFill>
              </a:rPr>
              <a:t> </a:t>
            </a:r>
            <a:r>
              <a:rPr lang="en-US" dirty="0" smtClean="0">
                <a:solidFill>
                  <a:schemeClr val="dk2"/>
                </a:solidFill>
              </a:rPr>
              <a:t>                   </a:t>
            </a:r>
            <a:r>
              <a:rPr lang="en-US" dirty="0" err="1" smtClean="0">
                <a:solidFill>
                  <a:schemeClr val="dk2"/>
                </a:solidFill>
              </a:rPr>
              <a:t>CODE</a:t>
            </a:r>
            <a:r>
              <a:rPr lang="en-US" dirty="0" smtClean="0">
                <a:solidFill>
                  <a:schemeClr val="dk2"/>
                </a:solidFill>
              </a:rPr>
              <a:t> </a:t>
            </a:r>
            <a:r>
              <a:rPr lang="en-US" dirty="0">
                <a:solidFill>
                  <a:schemeClr val="dk2"/>
                </a:solidFill>
              </a:rPr>
              <a:t>ENDS           : End of the segment named CODE.</a:t>
            </a:r>
            <a:endParaRPr dirty="0">
              <a:solidFill>
                <a:schemeClr val="dk2"/>
              </a:solidFill>
            </a:endParaRPr>
          </a:p>
          <a:p>
            <a:pPr marL="0" lvl="0" indent="0" algn="l" rtl="0">
              <a:lnSpc>
                <a:spcPct val="140000"/>
              </a:lnSpc>
              <a:spcBef>
                <a:spcPts val="1200"/>
              </a:spcBef>
              <a:spcAft>
                <a:spcPts val="1200"/>
              </a:spcAft>
              <a:buNone/>
            </a:pPr>
            <a:endParaRPr sz="1200" dirty="0">
              <a:solidFill>
                <a:schemeClr val="dk2"/>
              </a:solidFill>
              <a:highlight>
                <a:srgbClr val="FFFFFF"/>
              </a:highlight>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Shape 853"/>
        <p:cNvGrpSpPr/>
        <p:nvPr/>
      </p:nvGrpSpPr>
      <p:grpSpPr>
        <a:xfrm>
          <a:off x="0" y="0"/>
          <a:ext cx="0" cy="0"/>
          <a:chOff x="0" y="0"/>
          <a:chExt cx="0" cy="0"/>
        </a:xfrm>
      </p:grpSpPr>
      <p:sp>
        <p:nvSpPr>
          <p:cNvPr id="854" name="Google Shape;854;g1f26eaa0d76_0_7"/>
          <p:cNvSpPr txBox="1"/>
          <p:nvPr/>
        </p:nvSpPr>
        <p:spPr>
          <a:xfrm>
            <a:off x="420475" y="1797875"/>
            <a:ext cx="10564200" cy="363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u="sng">
                <a:solidFill>
                  <a:schemeClr val="hlink"/>
                </a:solidFill>
                <a:hlinkClick r:id="rId3"/>
              </a:rPr>
              <a:t>https://www.brainkart.com/article/Instruction-set-and-assembler-directives-of-8086-Microprocessor_7846/</a:t>
            </a:r>
            <a:endParaRPr sz="3200">
              <a:solidFill>
                <a:srgbClr val="FFC000"/>
              </a:solidFill>
            </a:endParaRPr>
          </a:p>
          <a:p>
            <a:pPr marL="0" lvl="0" indent="0" algn="l" rtl="0">
              <a:spcBef>
                <a:spcPts val="0"/>
              </a:spcBef>
              <a:spcAft>
                <a:spcPts val="0"/>
              </a:spcAft>
              <a:buNone/>
            </a:pPr>
            <a:endParaRPr sz="3200">
              <a:solidFill>
                <a:srgbClr val="FFC000"/>
              </a:solidFill>
            </a:endParaRPr>
          </a:p>
          <a:p>
            <a:pPr marL="0" lvl="0" indent="0" algn="l" rtl="0">
              <a:spcBef>
                <a:spcPts val="0"/>
              </a:spcBef>
              <a:spcAft>
                <a:spcPts val="0"/>
              </a:spcAft>
              <a:buNone/>
            </a:pPr>
            <a:endParaRPr sz="3200">
              <a:solidFill>
                <a:srgbClr val="FFC000"/>
              </a:solidFill>
            </a:endParaRPr>
          </a:p>
          <a:p>
            <a:pPr marL="0" lvl="0" indent="0" algn="l" rtl="0">
              <a:spcBef>
                <a:spcPts val="0"/>
              </a:spcBef>
              <a:spcAft>
                <a:spcPts val="0"/>
              </a:spcAft>
              <a:buNone/>
            </a:pPr>
            <a:endParaRPr sz="3200">
              <a:solidFill>
                <a:srgbClr val="FFC000"/>
              </a:solidFill>
            </a:endParaRPr>
          </a:p>
          <a:p>
            <a:pPr marL="0" lvl="0" indent="0" algn="l" rtl="0">
              <a:spcBef>
                <a:spcPts val="0"/>
              </a:spcBef>
              <a:spcAft>
                <a:spcPts val="0"/>
              </a:spcAft>
              <a:buNone/>
            </a:pPr>
            <a:r>
              <a:rPr lang="en-US" sz="3200" u="sng">
                <a:solidFill>
                  <a:schemeClr val="hlink"/>
                </a:solidFill>
                <a:hlinkClick r:id="rId4"/>
              </a:rPr>
              <a:t>https://www.includehelp.com/embedded-system/</a:t>
            </a:r>
            <a:r>
              <a:rPr lang="en-US" sz="3200">
                <a:solidFill>
                  <a:srgbClr val="FFC000"/>
                </a:solidFill>
              </a:rPr>
              <a:t>   </a:t>
            </a:r>
            <a:endParaRPr sz="3200">
              <a:solidFill>
                <a:srgbClr val="FFC000"/>
              </a:solidFill>
            </a:endParaRPr>
          </a:p>
          <a:p>
            <a:pPr marL="0" lvl="0" indent="0" algn="l" rtl="0">
              <a:spcBef>
                <a:spcPts val="0"/>
              </a:spcBef>
              <a:spcAft>
                <a:spcPts val="0"/>
              </a:spcAft>
              <a:buNone/>
            </a:pPr>
            <a:r>
              <a:rPr lang="en-US" sz="3200">
                <a:solidFill>
                  <a:srgbClr val="FFC000"/>
                </a:solidFill>
              </a:rPr>
              <a:t>go to 8086</a:t>
            </a:r>
            <a:endParaRPr sz="3200">
              <a:solidFill>
                <a:srgbClr val="FFC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g20c27cafcce_0_4"/>
          <p:cNvSpPr txBox="1"/>
          <p:nvPr/>
        </p:nvSpPr>
        <p:spPr>
          <a:xfrm>
            <a:off x="0" y="706582"/>
            <a:ext cx="12192000" cy="573230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800" dirty="0">
                <a:solidFill>
                  <a:schemeClr val="dk2"/>
                </a:solidFill>
              </a:rPr>
              <a:t>Large Programs are split into various small independent tasks which can be easily designed and implemented. This is known as </a:t>
            </a:r>
            <a:r>
              <a:rPr lang="en-US" sz="1800" b="1" dirty="0">
                <a:solidFill>
                  <a:schemeClr val="dk2"/>
                </a:solidFill>
              </a:rPr>
              <a:t>modular programming.</a:t>
            </a:r>
            <a:endParaRPr sz="1800" b="1" dirty="0">
              <a:solidFill>
                <a:schemeClr val="dk2"/>
              </a:solidFill>
            </a:endParaRPr>
          </a:p>
          <a:p>
            <a:pPr marL="0" lvl="0" indent="0" algn="l" rtl="0">
              <a:lnSpc>
                <a:spcPct val="115000"/>
              </a:lnSpc>
              <a:spcBef>
                <a:spcPts val="1200"/>
              </a:spcBef>
              <a:spcAft>
                <a:spcPts val="0"/>
              </a:spcAft>
              <a:buNone/>
            </a:pPr>
            <a:r>
              <a:rPr lang="en-US" sz="1800" dirty="0">
                <a:solidFill>
                  <a:schemeClr val="dk2"/>
                </a:solidFill>
              </a:rPr>
              <a:t>The </a:t>
            </a:r>
            <a:r>
              <a:rPr lang="en-US" sz="1800" b="1" dirty="0">
                <a:solidFill>
                  <a:schemeClr val="dk2"/>
                </a:solidFill>
              </a:rPr>
              <a:t>concept of modular programming</a:t>
            </a:r>
            <a:r>
              <a:rPr lang="en-US" sz="1800" dirty="0">
                <a:solidFill>
                  <a:schemeClr val="dk2"/>
                </a:solidFill>
              </a:rPr>
              <a:t> provides various advantages over the ancient method of programming. Some of them are listed as follows:</a:t>
            </a:r>
            <a:endParaRPr sz="1800" dirty="0">
              <a:solidFill>
                <a:schemeClr val="dk2"/>
              </a:solidFill>
            </a:endParaRPr>
          </a:p>
          <a:p>
            <a:pPr marL="457200" lvl="0" indent="-368300" algn="l" rtl="0">
              <a:lnSpc>
                <a:spcPct val="115000"/>
              </a:lnSpc>
              <a:spcBef>
                <a:spcPts val="1200"/>
              </a:spcBef>
              <a:spcAft>
                <a:spcPts val="0"/>
              </a:spcAft>
              <a:buClr>
                <a:schemeClr val="dk2"/>
              </a:buClr>
              <a:buSzPts val="2200"/>
              <a:buChar char="●"/>
            </a:pPr>
            <a:r>
              <a:rPr lang="en-US" sz="1800" dirty="0">
                <a:solidFill>
                  <a:schemeClr val="dk2"/>
                </a:solidFill>
              </a:rPr>
              <a:t>The program code becomes simple to understand.</a:t>
            </a:r>
            <a:endParaRPr sz="1800" dirty="0">
              <a:solidFill>
                <a:schemeClr val="dk2"/>
              </a:solidFill>
            </a:endParaRPr>
          </a:p>
          <a:p>
            <a:pPr marL="457200" lvl="0" indent="-368300" algn="l" rtl="0">
              <a:lnSpc>
                <a:spcPct val="115000"/>
              </a:lnSpc>
              <a:spcBef>
                <a:spcPts val="0"/>
              </a:spcBef>
              <a:spcAft>
                <a:spcPts val="0"/>
              </a:spcAft>
              <a:buClr>
                <a:schemeClr val="dk2"/>
              </a:buClr>
              <a:buSzPts val="2200"/>
              <a:buChar char="●"/>
            </a:pPr>
            <a:r>
              <a:rPr lang="en-US" sz="1800" dirty="0">
                <a:solidFill>
                  <a:schemeClr val="dk2"/>
                </a:solidFill>
              </a:rPr>
              <a:t>Reduced development time and reduced burden on developers as the different person can work on each module now as a team.</a:t>
            </a:r>
            <a:endParaRPr sz="1800" dirty="0">
              <a:solidFill>
                <a:schemeClr val="dk2"/>
              </a:solidFill>
            </a:endParaRPr>
          </a:p>
          <a:p>
            <a:pPr marL="457200" lvl="0" indent="-368300" algn="l" rtl="0">
              <a:lnSpc>
                <a:spcPct val="115000"/>
              </a:lnSpc>
              <a:spcBef>
                <a:spcPts val="0"/>
              </a:spcBef>
              <a:spcAft>
                <a:spcPts val="0"/>
              </a:spcAft>
              <a:buClr>
                <a:schemeClr val="dk2"/>
              </a:buClr>
              <a:buSzPts val="2200"/>
              <a:buChar char="●"/>
            </a:pPr>
            <a:r>
              <a:rPr lang="en-US" sz="1800" dirty="0">
                <a:solidFill>
                  <a:schemeClr val="dk2"/>
                </a:solidFill>
              </a:rPr>
              <a:t>Debugging process becomes easier.</a:t>
            </a:r>
            <a:endParaRPr sz="1800" dirty="0">
              <a:solidFill>
                <a:schemeClr val="dk2"/>
              </a:solidFill>
            </a:endParaRPr>
          </a:p>
          <a:p>
            <a:pPr marL="457200" lvl="0" indent="-368300" algn="l" rtl="0">
              <a:lnSpc>
                <a:spcPct val="115000"/>
              </a:lnSpc>
              <a:spcBef>
                <a:spcPts val="0"/>
              </a:spcBef>
              <a:spcAft>
                <a:spcPts val="0"/>
              </a:spcAft>
              <a:buClr>
                <a:schemeClr val="dk2"/>
              </a:buClr>
              <a:buSzPts val="2200"/>
              <a:buChar char="●"/>
            </a:pPr>
            <a:r>
              <a:rPr lang="en-US" sz="1800" dirty="0">
                <a:solidFill>
                  <a:schemeClr val="dk2"/>
                </a:solidFill>
              </a:rPr>
              <a:t>In case of any error or crash, it is easy to locate and fix the error.</a:t>
            </a:r>
            <a:endParaRPr sz="1800" dirty="0">
              <a:solidFill>
                <a:schemeClr val="dk2"/>
              </a:solidFill>
            </a:endParaRPr>
          </a:p>
          <a:p>
            <a:pPr marL="457200" lvl="0" indent="-368300" algn="l" rtl="0">
              <a:lnSpc>
                <a:spcPct val="115000"/>
              </a:lnSpc>
              <a:spcBef>
                <a:spcPts val="0"/>
              </a:spcBef>
              <a:spcAft>
                <a:spcPts val="0"/>
              </a:spcAft>
              <a:buClr>
                <a:schemeClr val="dk2"/>
              </a:buClr>
              <a:buSzPts val="2200"/>
              <a:buChar char="●"/>
            </a:pPr>
            <a:r>
              <a:rPr lang="en-US" sz="1800" dirty="0">
                <a:solidFill>
                  <a:schemeClr val="dk2"/>
                </a:solidFill>
              </a:rPr>
              <a:t>The code reusability can be implemented through the concept of modular programming. By doing so, we can avoid writing the same sequence of instructions again and again in the program. This same sequence can be written separately and can be used whenever needed.</a:t>
            </a:r>
            <a:endParaRPr sz="1800" dirty="0">
              <a:solidFill>
                <a:schemeClr val="dk2"/>
              </a:solidFill>
            </a:endParaRPr>
          </a:p>
          <a:p>
            <a:pPr marL="0" lvl="0" indent="0" algn="l" rtl="0">
              <a:lnSpc>
                <a:spcPct val="115000"/>
              </a:lnSpc>
              <a:spcBef>
                <a:spcPts val="1200"/>
              </a:spcBef>
              <a:spcAft>
                <a:spcPts val="1200"/>
              </a:spcAft>
              <a:buNone/>
            </a:pPr>
            <a:r>
              <a:rPr lang="en-US" sz="1800" dirty="0">
                <a:solidFill>
                  <a:schemeClr val="dk2"/>
                </a:solidFill>
              </a:rPr>
              <a:t>The code reusability is a very important feature that </a:t>
            </a:r>
            <a:r>
              <a:rPr lang="en-US" sz="1800" b="1" dirty="0">
                <a:solidFill>
                  <a:schemeClr val="dk2"/>
                </a:solidFill>
              </a:rPr>
              <a:t>modular programming</a:t>
            </a:r>
            <a:r>
              <a:rPr lang="en-US" sz="1800" dirty="0">
                <a:solidFill>
                  <a:schemeClr val="dk2"/>
                </a:solidFill>
              </a:rPr>
              <a:t> offers us. In the 8086 microprocessor, we implement it using procedures and macros. </a:t>
            </a:r>
            <a:r>
              <a:rPr lang="en-US" sz="1800" b="1" dirty="0">
                <a:solidFill>
                  <a:schemeClr val="dk2"/>
                </a:solidFill>
              </a:rPr>
              <a:t>The procedures and macros are the set of instructions which are written separately in a code</a:t>
            </a:r>
            <a:r>
              <a:rPr lang="en-US" sz="1800" dirty="0">
                <a:solidFill>
                  <a:schemeClr val="dk2"/>
                </a:solidFill>
              </a:rPr>
              <a:t>. This can be called from anywhere in the mainstream of code.</a:t>
            </a:r>
            <a:endParaRPr sz="1800" dirty="0">
              <a:solidFill>
                <a:schemeClr val="dk2"/>
              </a:solidFill>
            </a:endParaRPr>
          </a:p>
        </p:txBody>
      </p:sp>
      <p:sp>
        <p:nvSpPr>
          <p:cNvPr id="2" name="Rectangle 1"/>
          <p:cNvSpPr/>
          <p:nvPr/>
        </p:nvSpPr>
        <p:spPr>
          <a:xfrm>
            <a:off x="4329330" y="100118"/>
            <a:ext cx="3533340" cy="480901"/>
          </a:xfrm>
          <a:prstGeom prst="rect">
            <a:avLst/>
          </a:prstGeom>
        </p:spPr>
        <p:txBody>
          <a:bodyPr wrap="none">
            <a:spAutoFit/>
          </a:bodyPr>
          <a:lstStyle/>
          <a:p>
            <a:pPr lvl="0">
              <a:lnSpc>
                <a:spcPct val="115000"/>
              </a:lnSpc>
              <a:spcBef>
                <a:spcPts val="1200"/>
              </a:spcBef>
            </a:pPr>
            <a:r>
              <a:rPr lang="en-US" sz="2400" b="1" dirty="0" smtClean="0">
                <a:solidFill>
                  <a:schemeClr val="accent6"/>
                </a:solidFill>
              </a:rPr>
              <a:t>Modular </a:t>
            </a:r>
            <a:r>
              <a:rPr lang="en-US" sz="2400" b="1" dirty="0">
                <a:solidFill>
                  <a:schemeClr val="accent6"/>
                </a:solidFill>
              </a:rPr>
              <a:t>programming.</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0c27cafcce_0_11"/>
          <p:cNvSpPr txBox="1"/>
          <p:nvPr/>
        </p:nvSpPr>
        <p:spPr>
          <a:xfrm>
            <a:off x="0" y="0"/>
            <a:ext cx="8931300" cy="63591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2550" b="1" dirty="0">
                <a:solidFill>
                  <a:schemeClr val="accent6"/>
                </a:solidFill>
              </a:rPr>
              <a:t>Procedures in the 8086 microprocessor</a:t>
            </a:r>
            <a:endParaRPr sz="2550" b="1" dirty="0">
              <a:solidFill>
                <a:schemeClr val="accent6"/>
              </a:solidFill>
            </a:endParaRPr>
          </a:p>
        </p:txBody>
      </p:sp>
      <p:sp>
        <p:nvSpPr>
          <p:cNvPr id="867" name="Google Shape;867;g20c27cafcce_0_11"/>
          <p:cNvSpPr txBox="1"/>
          <p:nvPr/>
        </p:nvSpPr>
        <p:spPr>
          <a:xfrm>
            <a:off x="376975" y="577200"/>
            <a:ext cx="10700100" cy="40482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2"/>
              </a:buClr>
              <a:buSzPts val="1800"/>
              <a:buChar char="●"/>
            </a:pPr>
            <a:r>
              <a:rPr lang="en-US" sz="1800">
                <a:solidFill>
                  <a:schemeClr val="dk2"/>
                </a:solidFill>
              </a:rPr>
              <a:t>In a program, we very frequently face situations where there is a need to perform the same set of task again and again.</a:t>
            </a:r>
            <a:endParaRPr sz="2100">
              <a:solidFill>
                <a:schemeClr val="dk2"/>
              </a:solidFill>
            </a:endParaRPr>
          </a:p>
          <a:p>
            <a:pPr marL="457200" lvl="0" indent="-342900" algn="l" rtl="0">
              <a:spcBef>
                <a:spcPts val="0"/>
              </a:spcBef>
              <a:spcAft>
                <a:spcPts val="0"/>
              </a:spcAft>
              <a:buClr>
                <a:schemeClr val="dk2"/>
              </a:buClr>
              <a:buSzPts val="1800"/>
              <a:buChar char="●"/>
            </a:pPr>
            <a:r>
              <a:rPr lang="en-US" sz="1800">
                <a:solidFill>
                  <a:schemeClr val="dk2"/>
                </a:solidFill>
              </a:rPr>
              <a:t>So, for that instead of writing the same sequence of instructions, again and again, they are written separately in a subprogram. This subprogram is called a procedure. </a:t>
            </a:r>
            <a:endParaRPr sz="1800">
              <a:solidFill>
                <a:schemeClr val="dk2"/>
              </a:solidFill>
            </a:endParaRPr>
          </a:p>
          <a:p>
            <a:pPr marL="457200" lvl="0" indent="0" algn="l" rtl="0">
              <a:spcBef>
                <a:spcPts val="0"/>
              </a:spcBef>
              <a:spcAft>
                <a:spcPts val="0"/>
              </a:spcAft>
              <a:buNone/>
            </a:pPr>
            <a:endParaRPr sz="1800">
              <a:solidFill>
                <a:schemeClr val="dk2"/>
              </a:solidFill>
            </a:endParaRPr>
          </a:p>
          <a:p>
            <a:pPr marL="457200" lvl="0" indent="-342900" algn="l" rtl="0">
              <a:spcBef>
                <a:spcPts val="0"/>
              </a:spcBef>
              <a:spcAft>
                <a:spcPts val="0"/>
              </a:spcAft>
              <a:buClr>
                <a:schemeClr val="dk2"/>
              </a:buClr>
              <a:buSzPts val="1800"/>
              <a:buChar char="●"/>
            </a:pPr>
            <a:r>
              <a:rPr lang="en-US" sz="1800">
                <a:solidFill>
                  <a:schemeClr val="dk2"/>
                </a:solidFill>
              </a:rPr>
              <a:t>With the help of procedures, we can very well implement the concept of modular programming in our code. </a:t>
            </a:r>
            <a:endParaRPr sz="1800">
              <a:solidFill>
                <a:schemeClr val="dk2"/>
              </a:solidFill>
            </a:endParaRPr>
          </a:p>
          <a:p>
            <a:pPr marL="457200" lvl="0" indent="0" algn="l" rtl="0">
              <a:spcBef>
                <a:spcPts val="0"/>
              </a:spcBef>
              <a:spcAft>
                <a:spcPts val="0"/>
              </a:spcAft>
              <a:buNone/>
            </a:pPr>
            <a:endParaRPr sz="1800">
              <a:solidFill>
                <a:schemeClr val="dk2"/>
              </a:solidFill>
            </a:endParaRPr>
          </a:p>
          <a:p>
            <a:pPr marL="457200" lvl="0" indent="-342900" algn="l" rtl="0">
              <a:spcBef>
                <a:spcPts val="0"/>
              </a:spcBef>
              <a:spcAft>
                <a:spcPts val="0"/>
              </a:spcAft>
              <a:buClr>
                <a:schemeClr val="dk2"/>
              </a:buClr>
              <a:buSzPts val="1800"/>
              <a:buChar char="●"/>
            </a:pPr>
            <a:r>
              <a:rPr lang="en-US" sz="1800">
                <a:solidFill>
                  <a:schemeClr val="dk2"/>
                </a:solidFill>
              </a:rPr>
              <a:t>Also, whenever we need to execute the instructions mentioned in the procedure, we can simply make a CALL to it. </a:t>
            </a:r>
            <a:endParaRPr sz="1800">
              <a:solidFill>
                <a:schemeClr val="dk2"/>
              </a:solidFill>
            </a:endParaRPr>
          </a:p>
          <a:p>
            <a:pPr marL="457200" lvl="0" indent="0" algn="l" rtl="0">
              <a:spcBef>
                <a:spcPts val="0"/>
              </a:spcBef>
              <a:spcAft>
                <a:spcPts val="0"/>
              </a:spcAft>
              <a:buNone/>
            </a:pPr>
            <a:endParaRPr sz="1800">
              <a:solidFill>
                <a:schemeClr val="dk2"/>
              </a:solidFill>
            </a:endParaRPr>
          </a:p>
          <a:p>
            <a:pPr marL="457200" lvl="0" indent="-342900" algn="l" rtl="0">
              <a:spcBef>
                <a:spcPts val="0"/>
              </a:spcBef>
              <a:spcAft>
                <a:spcPts val="0"/>
              </a:spcAft>
              <a:buClr>
                <a:schemeClr val="dk2"/>
              </a:buClr>
              <a:buSzPts val="1800"/>
              <a:buChar char="●"/>
            </a:pPr>
            <a:r>
              <a:rPr lang="en-US" sz="1800">
                <a:solidFill>
                  <a:schemeClr val="dk2"/>
                </a:solidFill>
              </a:rPr>
              <a:t>Therefore, with the help of procedures, the duplicity in the instructions can be avoided.</a:t>
            </a:r>
            <a:endParaRPr sz="1800">
              <a:solidFill>
                <a:schemeClr val="dk2"/>
              </a:solidFill>
            </a:endParaRPr>
          </a:p>
          <a:p>
            <a:pPr marL="45720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en-US" sz="1700">
                <a:solidFill>
                  <a:schemeClr val="dk2"/>
                </a:solidFill>
              </a:rPr>
              <a:t>The </a:t>
            </a:r>
            <a:r>
              <a:rPr lang="en-US" sz="1700" b="1">
                <a:solidFill>
                  <a:schemeClr val="dk2"/>
                </a:solidFill>
              </a:rPr>
              <a:t>Syntax for a procedure</a:t>
            </a:r>
            <a:r>
              <a:rPr lang="en-US" sz="1700">
                <a:solidFill>
                  <a:schemeClr val="dk2"/>
                </a:solidFill>
              </a:rPr>
              <a:t> is as follows:</a:t>
            </a:r>
            <a:endParaRPr sz="2300">
              <a:solidFill>
                <a:schemeClr val="dk2"/>
              </a:solidFill>
            </a:endParaRPr>
          </a:p>
        </p:txBody>
      </p:sp>
      <p:pic>
        <p:nvPicPr>
          <p:cNvPr id="868" name="Google Shape;868;g20c27cafcce_0_11"/>
          <p:cNvPicPr preferRelativeResize="0"/>
          <p:nvPr/>
        </p:nvPicPr>
        <p:blipFill>
          <a:blip r:embed="rId3">
            <a:alphaModFix/>
          </a:blip>
          <a:stretch>
            <a:fillRect/>
          </a:stretch>
        </p:blipFill>
        <p:spPr>
          <a:xfrm>
            <a:off x="4734075" y="4400825"/>
            <a:ext cx="5603675" cy="2384675"/>
          </a:xfrm>
          <a:prstGeom prst="rect">
            <a:avLst/>
          </a:prstGeom>
          <a:noFill/>
          <a:ln>
            <a:noFill/>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1f26eaa0d76_0_15"/>
          <p:cNvSpPr txBox="1"/>
          <p:nvPr/>
        </p:nvSpPr>
        <p:spPr>
          <a:xfrm>
            <a:off x="0" y="0"/>
            <a:ext cx="11251200" cy="5847600"/>
          </a:xfrm>
          <a:prstGeom prst="rect">
            <a:avLst/>
          </a:prstGeom>
          <a:noFill/>
          <a:ln>
            <a:noFill/>
          </a:ln>
        </p:spPr>
        <p:txBody>
          <a:bodyPr spcFirstLastPara="1" wrap="square" lIns="91425" tIns="91425" rIns="91425" bIns="91425" anchor="t" anchorCtr="0">
            <a:spAutoFit/>
          </a:bodyPr>
          <a:lstStyle/>
          <a:p>
            <a:pPr marL="457200" lvl="0" indent="-361950" algn="l" rtl="0">
              <a:lnSpc>
                <a:spcPct val="115000"/>
              </a:lnSpc>
              <a:spcBef>
                <a:spcPts val="1200"/>
              </a:spcBef>
              <a:spcAft>
                <a:spcPts val="0"/>
              </a:spcAft>
              <a:buClr>
                <a:schemeClr val="dk2"/>
              </a:buClr>
              <a:buSzPts val="2100"/>
              <a:buChar char="●"/>
            </a:pPr>
            <a:r>
              <a:rPr lang="en-US" sz="2100">
                <a:solidFill>
                  <a:schemeClr val="dk2"/>
                </a:solidFill>
              </a:rPr>
              <a:t>The </a:t>
            </a:r>
            <a:r>
              <a:rPr lang="en-US" sz="2100" b="1">
                <a:solidFill>
                  <a:schemeClr val="dk2"/>
                </a:solidFill>
              </a:rPr>
              <a:t>PROC</a:t>
            </a:r>
            <a:r>
              <a:rPr lang="en-US" sz="2100">
                <a:solidFill>
                  <a:schemeClr val="dk2"/>
                </a:solidFill>
              </a:rPr>
              <a:t> is a keyword to define that the set of instructions enclosed by the given name is a procedure. </a:t>
            </a:r>
            <a:endParaRPr sz="2100">
              <a:solidFill>
                <a:schemeClr val="dk2"/>
              </a:solidFill>
            </a:endParaRPr>
          </a:p>
          <a:p>
            <a:pPr marL="457200" lvl="0" indent="-361950" algn="l" rtl="0">
              <a:lnSpc>
                <a:spcPct val="115000"/>
              </a:lnSpc>
              <a:spcBef>
                <a:spcPts val="0"/>
              </a:spcBef>
              <a:spcAft>
                <a:spcPts val="0"/>
              </a:spcAft>
              <a:buClr>
                <a:schemeClr val="dk2"/>
              </a:buClr>
              <a:buSzPts val="2100"/>
              <a:buChar char="●"/>
            </a:pPr>
            <a:r>
              <a:rPr lang="en-US" sz="2100">
                <a:solidFill>
                  <a:schemeClr val="dk2"/>
                </a:solidFill>
              </a:rPr>
              <a:t>It is used in the starting instruction whenever we define a procedure. </a:t>
            </a:r>
            <a:endParaRPr sz="2100">
              <a:solidFill>
                <a:schemeClr val="dk2"/>
              </a:solidFill>
            </a:endParaRPr>
          </a:p>
          <a:p>
            <a:pPr marL="457200" lvl="0" indent="-361950" algn="l" rtl="0">
              <a:lnSpc>
                <a:spcPct val="115000"/>
              </a:lnSpc>
              <a:spcBef>
                <a:spcPts val="0"/>
              </a:spcBef>
              <a:spcAft>
                <a:spcPts val="0"/>
              </a:spcAft>
              <a:buClr>
                <a:schemeClr val="dk2"/>
              </a:buClr>
              <a:buSzPts val="2100"/>
              <a:buChar char="●"/>
            </a:pPr>
            <a:r>
              <a:rPr lang="en-US" sz="2100">
                <a:solidFill>
                  <a:schemeClr val="dk2"/>
                </a:solidFill>
              </a:rPr>
              <a:t>The </a:t>
            </a:r>
            <a:r>
              <a:rPr lang="en-US" sz="2100" b="1">
                <a:solidFill>
                  <a:schemeClr val="dk2"/>
                </a:solidFill>
              </a:rPr>
              <a:t>ENDP</a:t>
            </a:r>
            <a:r>
              <a:rPr lang="en-US" sz="2100">
                <a:solidFill>
                  <a:schemeClr val="dk2"/>
                </a:solidFill>
              </a:rPr>
              <a:t> keyword defines that the body of the procedure has been ended. </a:t>
            </a:r>
            <a:endParaRPr sz="2100">
              <a:solidFill>
                <a:schemeClr val="dk2"/>
              </a:solidFill>
            </a:endParaRPr>
          </a:p>
          <a:p>
            <a:pPr marL="457200" lvl="0" indent="-361950" algn="l" rtl="0">
              <a:lnSpc>
                <a:spcPct val="115000"/>
              </a:lnSpc>
              <a:spcBef>
                <a:spcPts val="0"/>
              </a:spcBef>
              <a:spcAft>
                <a:spcPts val="0"/>
              </a:spcAft>
              <a:buClr>
                <a:schemeClr val="dk2"/>
              </a:buClr>
              <a:buSzPts val="2100"/>
              <a:buChar char="●"/>
            </a:pPr>
            <a:r>
              <a:rPr lang="en-US" sz="2100">
                <a:solidFill>
                  <a:schemeClr val="dk2"/>
                </a:solidFill>
              </a:rPr>
              <a:t>All the instructions lying between these two keywords are the instructions that belong to the procedure and will be executed whenever a </a:t>
            </a:r>
            <a:r>
              <a:rPr lang="en-US" sz="2100" b="1">
                <a:solidFill>
                  <a:schemeClr val="dk2"/>
                </a:solidFill>
              </a:rPr>
              <a:t>CALL</a:t>
            </a:r>
            <a:r>
              <a:rPr lang="en-US" sz="2100">
                <a:solidFill>
                  <a:schemeClr val="dk2"/>
                </a:solidFill>
              </a:rPr>
              <a:t> to the procedure is made. </a:t>
            </a:r>
            <a:endParaRPr sz="2100">
              <a:solidFill>
                <a:schemeClr val="dk2"/>
              </a:solidFill>
            </a:endParaRPr>
          </a:p>
          <a:p>
            <a:pPr marL="457200" lvl="0" indent="-361950" algn="l" rtl="0">
              <a:lnSpc>
                <a:spcPct val="115000"/>
              </a:lnSpc>
              <a:spcBef>
                <a:spcPts val="0"/>
              </a:spcBef>
              <a:spcAft>
                <a:spcPts val="0"/>
              </a:spcAft>
              <a:buClr>
                <a:schemeClr val="dk2"/>
              </a:buClr>
              <a:buSzPts val="2100"/>
              <a:buChar char="●"/>
            </a:pPr>
            <a:r>
              <a:rPr lang="en-US" sz="2100">
                <a:solidFill>
                  <a:schemeClr val="dk2"/>
                </a:solidFill>
              </a:rPr>
              <a:t>The keyword near or far defines the range of code within which the procedure is defined. </a:t>
            </a:r>
            <a:endParaRPr sz="2100">
              <a:solidFill>
                <a:schemeClr val="dk2"/>
              </a:solidFill>
            </a:endParaRPr>
          </a:p>
          <a:p>
            <a:pPr marL="457200" lvl="0" indent="-361950" algn="l" rtl="0">
              <a:lnSpc>
                <a:spcPct val="115000"/>
              </a:lnSpc>
              <a:spcBef>
                <a:spcPts val="0"/>
              </a:spcBef>
              <a:spcAft>
                <a:spcPts val="0"/>
              </a:spcAft>
              <a:buClr>
                <a:schemeClr val="dk2"/>
              </a:buClr>
              <a:buSzPts val="2100"/>
              <a:buChar char="●"/>
            </a:pPr>
            <a:r>
              <a:rPr lang="en-US" sz="2100">
                <a:solidFill>
                  <a:schemeClr val="dk2"/>
                </a:solidFill>
              </a:rPr>
              <a:t>If it is defined in the same segment as the rest code, then near is used. If it is defined in some other segment, then the keyword far is used for it.</a:t>
            </a:r>
            <a:endParaRPr sz="2100">
              <a:solidFill>
                <a:schemeClr val="dk2"/>
              </a:solidFill>
            </a:endParaRPr>
          </a:p>
          <a:p>
            <a:pPr marL="0" lvl="0" indent="0" algn="l" rtl="0">
              <a:lnSpc>
                <a:spcPct val="115000"/>
              </a:lnSpc>
              <a:spcBef>
                <a:spcPts val="1200"/>
              </a:spcBef>
              <a:spcAft>
                <a:spcPts val="0"/>
              </a:spcAft>
              <a:buNone/>
            </a:pPr>
            <a:r>
              <a:rPr lang="en-US" sz="2100">
                <a:solidFill>
                  <a:schemeClr val="dk2"/>
                </a:solidFill>
              </a:rPr>
              <a:t>The CALL to a procedure can be made in the following way,</a:t>
            </a:r>
            <a:endParaRPr sz="2800">
              <a:solidFill>
                <a:schemeClr val="dk2"/>
              </a:solidFill>
            </a:endParaRPr>
          </a:p>
          <a:p>
            <a:pPr marL="0" lvl="0" indent="0" algn="l" rtl="0">
              <a:spcBef>
                <a:spcPts val="1200"/>
              </a:spcBef>
              <a:spcAft>
                <a:spcPts val="0"/>
              </a:spcAft>
              <a:buNone/>
            </a:pPr>
            <a:r>
              <a:rPr lang="en-US" sz="2050">
                <a:solidFill>
                  <a:schemeClr val="dk2"/>
                </a:solidFill>
                <a:latin typeface="Courier New"/>
                <a:ea typeface="Courier New"/>
                <a:cs typeface="Courier New"/>
                <a:sym typeface="Courier New"/>
              </a:rPr>
              <a:t>   CALL procedure_name</a:t>
            </a:r>
            <a:endParaRPr sz="2050">
              <a:solidFill>
                <a:schemeClr val="dk2"/>
              </a:solidFill>
              <a:latin typeface="Courier New"/>
              <a:ea typeface="Courier New"/>
              <a:cs typeface="Courier New"/>
              <a:sym typeface="Courier New"/>
            </a:endParaRPr>
          </a:p>
          <a:p>
            <a:pPr marL="50800" marR="50800" lvl="0" indent="0" algn="l" rtl="0">
              <a:lnSpc>
                <a:spcPct val="150000"/>
              </a:lnSpc>
              <a:spcBef>
                <a:spcPts val="0"/>
              </a:spcBef>
              <a:spcAft>
                <a:spcPts val="0"/>
              </a:spcAft>
              <a:buNone/>
            </a:pPr>
            <a:endParaRPr sz="2050">
              <a:solidFill>
                <a:schemeClr val="dk2"/>
              </a:solidFill>
              <a:highlight>
                <a:srgbClr val="EFEFEF"/>
              </a:highlight>
              <a:latin typeface="Courier New"/>
              <a:ea typeface="Courier New"/>
              <a:cs typeface="Courier New"/>
              <a:sym typeface="Courier New"/>
            </a:endParaRPr>
          </a:p>
          <a:p>
            <a:pPr marL="0" lvl="0" indent="0" algn="l" rtl="0">
              <a:lnSpc>
                <a:spcPct val="115000"/>
              </a:lnSpc>
              <a:spcBef>
                <a:spcPts val="1200"/>
              </a:spcBef>
              <a:spcAft>
                <a:spcPts val="1200"/>
              </a:spcAft>
              <a:buNone/>
            </a:pPr>
            <a:r>
              <a:rPr lang="en-US" sz="2100">
                <a:solidFill>
                  <a:schemeClr val="dk2"/>
                </a:solidFill>
              </a:rPr>
              <a:t>At the end of the procedure, the </a:t>
            </a:r>
            <a:r>
              <a:rPr lang="en-US" sz="2100" b="1">
                <a:solidFill>
                  <a:schemeClr val="dk2"/>
                </a:solidFill>
              </a:rPr>
              <a:t>RET</a:t>
            </a:r>
            <a:r>
              <a:rPr lang="en-US" sz="2100">
                <a:solidFill>
                  <a:schemeClr val="dk2"/>
                </a:solidFill>
              </a:rPr>
              <a:t> instruction is used. This instruction will cause the execution to be transferred to the program from which the call to the procedure was made.</a:t>
            </a:r>
            <a:endParaRPr sz="2100">
              <a:solidFill>
                <a:schemeClr val="dk2"/>
              </a:solidFill>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g1f26eaa0d76_0_11"/>
          <p:cNvSpPr txBox="1"/>
          <p:nvPr/>
        </p:nvSpPr>
        <p:spPr>
          <a:xfrm>
            <a:off x="0" y="0"/>
            <a:ext cx="8308800" cy="934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2150">
                <a:solidFill>
                  <a:srgbClr val="FFC000"/>
                </a:solidFill>
              </a:rPr>
              <a:t>Macros in the 8086 Microprocessor</a:t>
            </a:r>
            <a:endParaRPr sz="2150">
              <a:solidFill>
                <a:srgbClr val="FFC000"/>
              </a:solidFill>
            </a:endParaRPr>
          </a:p>
          <a:p>
            <a:pPr marL="0" lvl="0" indent="0" algn="l" rtl="0">
              <a:spcBef>
                <a:spcPts val="0"/>
              </a:spcBef>
              <a:spcAft>
                <a:spcPts val="0"/>
              </a:spcAft>
              <a:buNone/>
            </a:pPr>
            <a:endParaRPr sz="2400">
              <a:solidFill>
                <a:srgbClr val="FFC000"/>
              </a:solidFill>
              <a:latin typeface="Century Gothic"/>
              <a:ea typeface="Century Gothic"/>
              <a:cs typeface="Century Gothic"/>
              <a:sym typeface="Century Gothic"/>
            </a:endParaRPr>
          </a:p>
        </p:txBody>
      </p:sp>
      <p:sp>
        <p:nvSpPr>
          <p:cNvPr id="881" name="Google Shape;881;g1f26eaa0d76_0_11"/>
          <p:cNvSpPr txBox="1"/>
          <p:nvPr/>
        </p:nvSpPr>
        <p:spPr>
          <a:xfrm>
            <a:off x="568050" y="526475"/>
            <a:ext cx="11055900" cy="3475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900"/>
              <a:t>A </a:t>
            </a:r>
            <a:r>
              <a:rPr lang="en-US" sz="1900" b="1"/>
              <a:t>Macro</a:t>
            </a:r>
            <a:r>
              <a:rPr lang="en-US" sz="1900"/>
              <a:t> is a set of instructions grouped under a single unit. It is another method for implementing modular programming in the 8086 microprocessors (The first one was using Procedures).</a:t>
            </a:r>
            <a:endParaRPr sz="1900"/>
          </a:p>
          <a:p>
            <a:pPr marL="0" lvl="0" indent="0" algn="l" rtl="0">
              <a:lnSpc>
                <a:spcPct val="115000"/>
              </a:lnSpc>
              <a:spcBef>
                <a:spcPts val="1200"/>
              </a:spcBef>
              <a:spcAft>
                <a:spcPts val="0"/>
              </a:spcAft>
              <a:buNone/>
            </a:pPr>
            <a:r>
              <a:rPr lang="en-US" sz="1900"/>
              <a:t>The </a:t>
            </a:r>
            <a:r>
              <a:rPr lang="en-US" sz="1900" b="1"/>
              <a:t>Macro</a:t>
            </a:r>
            <a:r>
              <a:rPr lang="en-US" sz="1900"/>
              <a:t> is different from the Procedure in a way that unlike calling and returning the control as in procedures, the processor generates the code in the program every time whenever and wherever a call to the </a:t>
            </a:r>
            <a:r>
              <a:rPr lang="en-US" sz="1900" b="1"/>
              <a:t>Macro</a:t>
            </a:r>
            <a:r>
              <a:rPr lang="en-US" sz="1900"/>
              <a:t> is made.</a:t>
            </a:r>
            <a:endParaRPr sz="1900"/>
          </a:p>
          <a:p>
            <a:pPr marL="0" lvl="0" indent="0" algn="l" rtl="0">
              <a:lnSpc>
                <a:spcPct val="115000"/>
              </a:lnSpc>
              <a:spcBef>
                <a:spcPts val="1200"/>
              </a:spcBef>
              <a:spcAft>
                <a:spcPts val="1200"/>
              </a:spcAft>
              <a:buNone/>
            </a:pPr>
            <a:r>
              <a:rPr lang="en-US" sz="1900"/>
              <a:t>A </a:t>
            </a:r>
            <a:r>
              <a:rPr lang="en-US" sz="1900" b="1"/>
              <a:t>Macro</a:t>
            </a:r>
            <a:r>
              <a:rPr lang="en-US" sz="1900"/>
              <a:t> can be defined in a program using the following assembler directives: </a:t>
            </a:r>
            <a:r>
              <a:rPr lang="en-US" sz="1900" b="1"/>
              <a:t>MACRO</a:t>
            </a:r>
            <a:r>
              <a:rPr lang="en-US" sz="1900"/>
              <a:t> (used after the name of Macro before starting the body of the Macro) and </a:t>
            </a:r>
            <a:r>
              <a:rPr lang="en-US" sz="1900" b="1"/>
              <a:t>ENDM</a:t>
            </a:r>
            <a:r>
              <a:rPr lang="en-US" sz="1900"/>
              <a:t> (at the end of the Macro). All the instructions that belong to the Macro lie within these two assembler directives. The following is the syntax for defining a </a:t>
            </a:r>
            <a:r>
              <a:rPr lang="en-US" sz="1900" b="1"/>
              <a:t>Macro in the 8086 Microprocessor</a:t>
            </a:r>
            <a:r>
              <a:rPr lang="en-US" sz="1900"/>
              <a:t>:</a:t>
            </a:r>
            <a:endParaRPr sz="1900"/>
          </a:p>
        </p:txBody>
      </p:sp>
      <p:sp>
        <p:nvSpPr>
          <p:cNvPr id="882" name="Google Shape;882;g1f26eaa0d76_0_11"/>
          <p:cNvSpPr txBox="1"/>
          <p:nvPr/>
        </p:nvSpPr>
        <p:spPr>
          <a:xfrm>
            <a:off x="869100" y="4001975"/>
            <a:ext cx="11055900" cy="292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350" b="1">
                <a:solidFill>
                  <a:schemeClr val="accent6"/>
                </a:solidFill>
                <a:highlight>
                  <a:schemeClr val="dk1"/>
                </a:highlight>
                <a:latin typeface="Courier New"/>
                <a:ea typeface="Courier New"/>
                <a:cs typeface="Courier New"/>
                <a:sym typeface="Courier New"/>
              </a:rPr>
              <a:t>Macro_name  MACRO  [ list of parameters ]</a:t>
            </a:r>
            <a:endParaRPr sz="1350" b="1">
              <a:solidFill>
                <a:schemeClr val="accent6"/>
              </a:solidFill>
              <a:highlight>
                <a:schemeClr val="dk1"/>
              </a:highlight>
              <a:latin typeface="Courier New"/>
              <a:ea typeface="Courier New"/>
              <a:cs typeface="Courier New"/>
              <a:sym typeface="Courier New"/>
            </a:endParaRPr>
          </a:p>
          <a:p>
            <a:pPr marL="0" lvl="0" indent="0" algn="l" rtl="0">
              <a:spcBef>
                <a:spcPts val="0"/>
              </a:spcBef>
              <a:spcAft>
                <a:spcPts val="0"/>
              </a:spcAft>
              <a:buNone/>
            </a:pPr>
            <a:r>
              <a:rPr lang="en-US" sz="1350" b="1">
                <a:solidFill>
                  <a:schemeClr val="accent6"/>
                </a:solidFill>
                <a:highlight>
                  <a:schemeClr val="dk1"/>
                </a:highlight>
                <a:latin typeface="Courier New"/>
                <a:ea typeface="Courier New"/>
                <a:cs typeface="Courier New"/>
                <a:sym typeface="Courier New"/>
              </a:rPr>
              <a:t>        Instruction 1</a:t>
            </a:r>
            <a:endParaRPr sz="1350" b="1">
              <a:solidFill>
                <a:schemeClr val="accent6"/>
              </a:solidFill>
              <a:highlight>
                <a:schemeClr val="dk1"/>
              </a:highlight>
              <a:latin typeface="Courier New"/>
              <a:ea typeface="Courier New"/>
              <a:cs typeface="Courier New"/>
              <a:sym typeface="Courier New"/>
            </a:endParaRPr>
          </a:p>
          <a:p>
            <a:pPr marL="0" lvl="0" indent="0" algn="l" rtl="0">
              <a:spcBef>
                <a:spcPts val="0"/>
              </a:spcBef>
              <a:spcAft>
                <a:spcPts val="0"/>
              </a:spcAft>
              <a:buNone/>
            </a:pPr>
            <a:r>
              <a:rPr lang="en-US" sz="1350" b="1">
                <a:solidFill>
                  <a:schemeClr val="accent6"/>
                </a:solidFill>
                <a:highlight>
                  <a:schemeClr val="dk1"/>
                </a:highlight>
                <a:latin typeface="Courier New"/>
                <a:ea typeface="Courier New"/>
                <a:cs typeface="Courier New"/>
                <a:sym typeface="Courier New"/>
              </a:rPr>
              <a:t>        Instruction 2</a:t>
            </a:r>
            <a:endParaRPr sz="1350" b="1">
              <a:solidFill>
                <a:schemeClr val="accent6"/>
              </a:solidFill>
              <a:highlight>
                <a:schemeClr val="dk1"/>
              </a:highlight>
              <a:latin typeface="Courier New"/>
              <a:ea typeface="Courier New"/>
              <a:cs typeface="Courier New"/>
              <a:sym typeface="Courier New"/>
            </a:endParaRPr>
          </a:p>
          <a:p>
            <a:pPr marL="0" lvl="0" indent="0" algn="l" rtl="0">
              <a:spcBef>
                <a:spcPts val="0"/>
              </a:spcBef>
              <a:spcAft>
                <a:spcPts val="0"/>
              </a:spcAft>
              <a:buNone/>
            </a:pPr>
            <a:r>
              <a:rPr lang="en-US" sz="1350" b="1">
                <a:solidFill>
                  <a:schemeClr val="accent6"/>
                </a:solidFill>
                <a:highlight>
                  <a:schemeClr val="dk1"/>
                </a:highlight>
                <a:latin typeface="Courier New"/>
                <a:ea typeface="Courier New"/>
                <a:cs typeface="Courier New"/>
                <a:sym typeface="Courier New"/>
              </a:rPr>
              <a:t>        - - - - - - - - - - -</a:t>
            </a:r>
            <a:endParaRPr sz="1350" b="1">
              <a:solidFill>
                <a:schemeClr val="accent6"/>
              </a:solidFill>
              <a:highlight>
                <a:schemeClr val="dk1"/>
              </a:highlight>
              <a:latin typeface="Courier New"/>
              <a:ea typeface="Courier New"/>
              <a:cs typeface="Courier New"/>
              <a:sym typeface="Courier New"/>
            </a:endParaRPr>
          </a:p>
          <a:p>
            <a:pPr marL="0" lvl="0" indent="0" algn="l" rtl="0">
              <a:spcBef>
                <a:spcPts val="0"/>
              </a:spcBef>
              <a:spcAft>
                <a:spcPts val="0"/>
              </a:spcAft>
              <a:buNone/>
            </a:pPr>
            <a:r>
              <a:rPr lang="en-US" sz="1350" b="1">
                <a:solidFill>
                  <a:schemeClr val="accent6"/>
                </a:solidFill>
                <a:highlight>
                  <a:schemeClr val="dk1"/>
                </a:highlight>
                <a:latin typeface="Courier New"/>
                <a:ea typeface="Courier New"/>
                <a:cs typeface="Courier New"/>
                <a:sym typeface="Courier New"/>
              </a:rPr>
              <a:t>        - - - - - - - - - - -</a:t>
            </a:r>
            <a:endParaRPr sz="1350" b="1">
              <a:solidFill>
                <a:schemeClr val="accent6"/>
              </a:solidFill>
              <a:highlight>
                <a:schemeClr val="dk1"/>
              </a:highlight>
              <a:latin typeface="Courier New"/>
              <a:ea typeface="Courier New"/>
              <a:cs typeface="Courier New"/>
              <a:sym typeface="Courier New"/>
            </a:endParaRPr>
          </a:p>
          <a:p>
            <a:pPr marL="0" lvl="0" indent="0" algn="l" rtl="0">
              <a:spcBef>
                <a:spcPts val="0"/>
              </a:spcBef>
              <a:spcAft>
                <a:spcPts val="0"/>
              </a:spcAft>
              <a:buNone/>
            </a:pPr>
            <a:r>
              <a:rPr lang="en-US" sz="1350" b="1">
                <a:solidFill>
                  <a:schemeClr val="accent6"/>
                </a:solidFill>
                <a:highlight>
                  <a:schemeClr val="dk1"/>
                </a:highlight>
                <a:latin typeface="Courier New"/>
                <a:ea typeface="Courier New"/>
                <a:cs typeface="Courier New"/>
                <a:sym typeface="Courier New"/>
              </a:rPr>
              <a:t>        - - - - - - - - - - -</a:t>
            </a:r>
            <a:endParaRPr sz="1350" b="1">
              <a:solidFill>
                <a:schemeClr val="accent6"/>
              </a:solidFill>
              <a:highlight>
                <a:schemeClr val="dk1"/>
              </a:highlight>
              <a:latin typeface="Courier New"/>
              <a:ea typeface="Courier New"/>
              <a:cs typeface="Courier New"/>
              <a:sym typeface="Courier New"/>
            </a:endParaRPr>
          </a:p>
          <a:p>
            <a:pPr marL="0" lvl="0" indent="0" algn="l" rtl="0">
              <a:spcBef>
                <a:spcPts val="0"/>
              </a:spcBef>
              <a:spcAft>
                <a:spcPts val="0"/>
              </a:spcAft>
              <a:buNone/>
            </a:pPr>
            <a:r>
              <a:rPr lang="en-US" sz="1350" b="1">
                <a:solidFill>
                  <a:schemeClr val="accent6"/>
                </a:solidFill>
                <a:highlight>
                  <a:schemeClr val="dk1"/>
                </a:highlight>
                <a:latin typeface="Courier New"/>
                <a:ea typeface="Courier New"/>
                <a:cs typeface="Courier New"/>
                <a:sym typeface="Courier New"/>
              </a:rPr>
              <a:t>        Instruction n</a:t>
            </a:r>
            <a:endParaRPr sz="1350" b="1">
              <a:solidFill>
                <a:schemeClr val="accent6"/>
              </a:solidFill>
              <a:highlight>
                <a:schemeClr val="dk1"/>
              </a:highlight>
              <a:latin typeface="Courier New"/>
              <a:ea typeface="Courier New"/>
              <a:cs typeface="Courier New"/>
              <a:sym typeface="Courier New"/>
            </a:endParaRPr>
          </a:p>
          <a:p>
            <a:pPr marL="0" lvl="0" indent="0" algn="l" rtl="0">
              <a:spcBef>
                <a:spcPts val="0"/>
              </a:spcBef>
              <a:spcAft>
                <a:spcPts val="0"/>
              </a:spcAft>
              <a:buNone/>
            </a:pPr>
            <a:r>
              <a:rPr lang="en-US" sz="1350" b="1">
                <a:solidFill>
                  <a:schemeClr val="accent6"/>
                </a:solidFill>
                <a:highlight>
                  <a:schemeClr val="dk1"/>
                </a:highlight>
                <a:latin typeface="Courier New"/>
                <a:ea typeface="Courier New"/>
                <a:cs typeface="Courier New"/>
                <a:sym typeface="Courier New"/>
              </a:rPr>
              <a:t>    ENDM</a:t>
            </a:r>
            <a:endParaRPr sz="1350" b="1">
              <a:solidFill>
                <a:schemeClr val="accent6"/>
              </a:solidFill>
              <a:highlight>
                <a:schemeClr val="dk1"/>
              </a:highlight>
              <a:latin typeface="Courier New"/>
              <a:ea typeface="Courier New"/>
              <a:cs typeface="Courier New"/>
              <a:sym typeface="Courier New"/>
            </a:endParaRPr>
          </a:p>
          <a:p>
            <a:pPr marL="50800" marR="50800" lvl="0" indent="0" algn="l" rtl="0">
              <a:lnSpc>
                <a:spcPct val="150000"/>
              </a:lnSpc>
              <a:spcBef>
                <a:spcPts val="0"/>
              </a:spcBef>
              <a:spcAft>
                <a:spcPts val="0"/>
              </a:spcAft>
              <a:buNone/>
            </a:pPr>
            <a:endParaRPr sz="1350">
              <a:highlight>
                <a:srgbClr val="EFEFEF"/>
              </a:highlight>
              <a:latin typeface="Courier New"/>
              <a:ea typeface="Courier New"/>
              <a:cs typeface="Courier New"/>
              <a:sym typeface="Courier New"/>
            </a:endParaRPr>
          </a:p>
          <a:p>
            <a:pPr marL="0" lvl="0" indent="0" algn="l" rtl="0">
              <a:lnSpc>
                <a:spcPct val="115000"/>
              </a:lnSpc>
              <a:spcBef>
                <a:spcPts val="1200"/>
              </a:spcBef>
              <a:spcAft>
                <a:spcPts val="0"/>
              </a:spcAft>
              <a:buNone/>
            </a:pPr>
            <a:r>
              <a:rPr lang="en-US"/>
              <a:t>And a call to Macro is made just by mentioning the name of the Macro:</a:t>
            </a:r>
            <a:endParaRPr/>
          </a:p>
          <a:p>
            <a:pPr marL="50800" marR="50800" lvl="0" indent="0" algn="l" rtl="0">
              <a:lnSpc>
                <a:spcPct val="150000"/>
              </a:lnSpc>
              <a:spcBef>
                <a:spcPts val="1200"/>
              </a:spcBef>
              <a:spcAft>
                <a:spcPts val="0"/>
              </a:spcAft>
              <a:buNone/>
            </a:pPr>
            <a:r>
              <a:rPr lang="en-US" sz="1350">
                <a:highlight>
                  <a:schemeClr val="dk1"/>
                </a:highlight>
                <a:latin typeface="Courier New"/>
                <a:ea typeface="Courier New"/>
                <a:cs typeface="Courier New"/>
                <a:sym typeface="Courier New"/>
              </a:rPr>
              <a:t>   </a:t>
            </a:r>
            <a:r>
              <a:rPr lang="en-US" sz="1350" b="1">
                <a:solidFill>
                  <a:schemeClr val="accent6"/>
                </a:solidFill>
                <a:highlight>
                  <a:schemeClr val="dk1"/>
                </a:highlight>
                <a:latin typeface="Courier New"/>
                <a:ea typeface="Courier New"/>
                <a:cs typeface="Courier New"/>
                <a:sym typeface="Courier New"/>
              </a:rPr>
              <a:t>Macro_name [ list of parameters]</a:t>
            </a:r>
            <a:endParaRPr sz="1350" b="1">
              <a:solidFill>
                <a:schemeClr val="accent6"/>
              </a:solidFill>
              <a:highlight>
                <a:schemeClr val="dk1"/>
              </a:highlight>
              <a:latin typeface="Courier New"/>
              <a:ea typeface="Courier New"/>
              <a:cs typeface="Courier New"/>
              <a:sym typeface="Courier New"/>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0f3346b9df_0_780"/>
          <p:cNvSpPr txBox="1"/>
          <p:nvPr/>
        </p:nvSpPr>
        <p:spPr>
          <a:xfrm>
            <a:off x="0" y="0"/>
            <a:ext cx="11776500" cy="6960000"/>
          </a:xfrm>
          <a:prstGeom prst="rect">
            <a:avLst/>
          </a:prstGeom>
          <a:noFill/>
          <a:ln>
            <a:noFill/>
          </a:ln>
        </p:spPr>
        <p:txBody>
          <a:bodyPr spcFirstLastPara="1" wrap="square" lIns="91425" tIns="91425" rIns="91425" bIns="91425" anchor="t" anchorCtr="0">
            <a:spAutoFit/>
          </a:bodyPr>
          <a:lstStyle/>
          <a:p>
            <a:pPr marL="0" lvl="0" indent="0" algn="l" rtl="0">
              <a:lnSpc>
                <a:spcPct val="125000"/>
              </a:lnSpc>
              <a:spcBef>
                <a:spcPts val="1800"/>
              </a:spcBef>
              <a:spcAft>
                <a:spcPts val="0"/>
              </a:spcAft>
              <a:buNone/>
            </a:pPr>
            <a:r>
              <a:rPr lang="en-US" sz="1750"/>
              <a:t>Example</a:t>
            </a:r>
            <a:endParaRPr sz="1750"/>
          </a:p>
          <a:p>
            <a:pPr marL="0" lvl="0" indent="0" algn="just" rtl="0">
              <a:lnSpc>
                <a:spcPct val="160000"/>
              </a:lnSpc>
              <a:spcBef>
                <a:spcPts val="600"/>
              </a:spcBef>
              <a:spcAft>
                <a:spcPts val="0"/>
              </a:spcAft>
              <a:buNone/>
            </a:pPr>
            <a:r>
              <a:rPr lang="en-US" sz="1200">
                <a:latin typeface="Nunito"/>
                <a:ea typeface="Nunito"/>
                <a:cs typeface="Nunito"/>
                <a:sym typeface="Nunito"/>
              </a:rPr>
              <a:t>Following example shows defining and using macros −</a:t>
            </a:r>
            <a:endParaRPr sz="1000">
              <a:solidFill>
                <a:srgbClr val="FFFFFF"/>
              </a:solidFill>
              <a:highlight>
                <a:srgbClr val="113B6A"/>
              </a:highlight>
            </a:endParaRPr>
          </a:p>
          <a:p>
            <a:pPr marL="0" lvl="0" indent="0" algn="l" rtl="0">
              <a:spcBef>
                <a:spcPts val="700"/>
              </a:spcBef>
              <a:spcAft>
                <a:spcPts val="0"/>
              </a:spcAft>
              <a:buNone/>
            </a:pPr>
            <a:r>
              <a:rPr lang="en-US" sz="1150">
                <a:solidFill>
                  <a:srgbClr val="666600"/>
                </a:solidFill>
                <a:highlight>
                  <a:srgbClr val="EEEEEE"/>
                </a:highlight>
              </a:rPr>
              <a:t>;</a:t>
            </a:r>
            <a:r>
              <a:rPr lang="en-US" sz="1150">
                <a:highlight>
                  <a:srgbClr val="EEEEEE"/>
                </a:highlight>
              </a:rPr>
              <a:t> </a:t>
            </a:r>
            <a:r>
              <a:rPr lang="en-US" sz="1150">
                <a:highlight>
                  <a:schemeClr val="dk1"/>
                </a:highlight>
              </a:rPr>
              <a:t>A macro </a:t>
            </a:r>
            <a:r>
              <a:rPr lang="en-US" sz="1150">
                <a:solidFill>
                  <a:srgbClr val="000088"/>
                </a:solidFill>
                <a:highlight>
                  <a:schemeClr val="dk1"/>
                </a:highlight>
              </a:rPr>
              <a:t>with</a:t>
            </a:r>
            <a:r>
              <a:rPr lang="en-US" sz="1150">
                <a:highlight>
                  <a:schemeClr val="dk1"/>
                </a:highlight>
              </a:rPr>
              <a:t> two parameters</a:t>
            </a:r>
            <a:endParaRPr sz="1150">
              <a:highlight>
                <a:schemeClr val="dk1"/>
              </a:highlight>
            </a:endParaRPr>
          </a:p>
          <a:p>
            <a:pPr marL="0" lvl="0" indent="0" algn="l" rtl="0">
              <a:spcBef>
                <a:spcPts val="0"/>
              </a:spcBef>
              <a:spcAft>
                <a:spcPts val="0"/>
              </a:spcAft>
              <a:buNone/>
            </a:pPr>
            <a:r>
              <a:rPr lang="en-US" sz="1150">
                <a:solidFill>
                  <a:srgbClr val="666600"/>
                </a:solidFill>
                <a:highlight>
                  <a:schemeClr val="dk1"/>
                </a:highlight>
              </a:rPr>
              <a:t>;</a:t>
            </a:r>
            <a:r>
              <a:rPr lang="en-US" sz="1150">
                <a:highlight>
                  <a:schemeClr val="dk1"/>
                </a:highlight>
              </a:rPr>
              <a:t> </a:t>
            </a:r>
            <a:r>
              <a:rPr lang="en-US" sz="1150">
                <a:solidFill>
                  <a:srgbClr val="660066"/>
                </a:solidFill>
                <a:highlight>
                  <a:schemeClr val="dk1"/>
                </a:highlight>
              </a:rPr>
              <a:t>Implements</a:t>
            </a:r>
            <a:r>
              <a:rPr lang="en-US" sz="1150">
                <a:highlight>
                  <a:schemeClr val="dk1"/>
                </a:highlight>
              </a:rPr>
              <a:t> the write system call</a:t>
            </a:r>
            <a:endParaRPr sz="1150">
              <a:highlight>
                <a:schemeClr val="dk1"/>
              </a:highlight>
            </a:endParaRPr>
          </a:p>
          <a:p>
            <a:pPr marL="0" lvl="0" indent="0" algn="l" rtl="0">
              <a:spcBef>
                <a:spcPts val="0"/>
              </a:spcBef>
              <a:spcAft>
                <a:spcPts val="0"/>
              </a:spcAft>
              <a:buNone/>
            </a:pPr>
            <a:r>
              <a:rPr lang="en-US" sz="1150">
                <a:highlight>
                  <a:schemeClr val="dk1"/>
                </a:highlight>
              </a:rPr>
              <a:t>   </a:t>
            </a:r>
            <a:r>
              <a:rPr lang="en-US" sz="1150">
                <a:solidFill>
                  <a:srgbClr val="666600"/>
                </a:solidFill>
                <a:highlight>
                  <a:schemeClr val="dk1"/>
                </a:highlight>
              </a:rPr>
              <a:t>%</a:t>
            </a:r>
            <a:r>
              <a:rPr lang="en-US" sz="1150">
                <a:highlight>
                  <a:schemeClr val="dk1"/>
                </a:highlight>
              </a:rPr>
              <a:t>macro write_string </a:t>
            </a:r>
            <a:r>
              <a:rPr lang="en-US" sz="1150">
                <a:solidFill>
                  <a:srgbClr val="006666"/>
                </a:solidFill>
                <a:highlight>
                  <a:schemeClr val="dk1"/>
                </a:highlight>
              </a:rPr>
              <a:t>2</a:t>
            </a:r>
            <a:r>
              <a:rPr lang="en-US" sz="1150">
                <a:highlight>
                  <a:schemeClr val="dk1"/>
                </a:highlight>
              </a:rPr>
              <a:t> </a:t>
            </a:r>
            <a:endParaRPr sz="1150">
              <a:highlight>
                <a:schemeClr val="dk1"/>
              </a:highlight>
            </a:endParaRPr>
          </a:p>
          <a:p>
            <a:pPr marL="0" lvl="0" indent="0" algn="l" rtl="0">
              <a:spcBef>
                <a:spcPts val="0"/>
              </a:spcBef>
              <a:spcAft>
                <a:spcPts val="0"/>
              </a:spcAft>
              <a:buNone/>
            </a:pPr>
            <a:r>
              <a:rPr lang="en-US" sz="1150">
                <a:highlight>
                  <a:schemeClr val="dk1"/>
                </a:highlight>
              </a:rPr>
              <a:t>      mov   eax</a:t>
            </a:r>
            <a:r>
              <a:rPr lang="en-US" sz="1150">
                <a:solidFill>
                  <a:srgbClr val="666600"/>
                </a:solidFill>
                <a:highlight>
                  <a:schemeClr val="dk1"/>
                </a:highlight>
              </a:rPr>
              <a:t>,</a:t>
            </a:r>
            <a:r>
              <a:rPr lang="en-US" sz="1150">
                <a:highlight>
                  <a:schemeClr val="dk1"/>
                </a:highlight>
              </a:rPr>
              <a:t> </a:t>
            </a:r>
            <a:r>
              <a:rPr lang="en-US" sz="1150">
                <a:solidFill>
                  <a:srgbClr val="006666"/>
                </a:solidFill>
                <a:highlight>
                  <a:schemeClr val="dk1"/>
                </a:highlight>
              </a:rPr>
              <a:t>4</a:t>
            </a:r>
            <a:endParaRPr sz="1150">
              <a:highlight>
                <a:schemeClr val="dk1"/>
              </a:highlight>
            </a:endParaRPr>
          </a:p>
          <a:p>
            <a:pPr marL="0" lvl="0" indent="0" algn="l" rtl="0">
              <a:spcBef>
                <a:spcPts val="0"/>
              </a:spcBef>
              <a:spcAft>
                <a:spcPts val="0"/>
              </a:spcAft>
              <a:buNone/>
            </a:pPr>
            <a:r>
              <a:rPr lang="en-US" sz="1150">
                <a:highlight>
                  <a:schemeClr val="dk1"/>
                </a:highlight>
              </a:rPr>
              <a:t>      mov   ebx</a:t>
            </a:r>
            <a:r>
              <a:rPr lang="en-US" sz="1150">
                <a:solidFill>
                  <a:srgbClr val="666600"/>
                </a:solidFill>
                <a:highlight>
                  <a:schemeClr val="dk1"/>
                </a:highlight>
              </a:rPr>
              <a:t>,</a:t>
            </a:r>
            <a:r>
              <a:rPr lang="en-US" sz="1150">
                <a:highlight>
                  <a:schemeClr val="dk1"/>
                </a:highlight>
              </a:rPr>
              <a:t> </a:t>
            </a:r>
            <a:r>
              <a:rPr lang="en-US" sz="1150">
                <a:solidFill>
                  <a:srgbClr val="006666"/>
                </a:solidFill>
                <a:highlight>
                  <a:schemeClr val="dk1"/>
                </a:highlight>
              </a:rPr>
              <a:t>1</a:t>
            </a:r>
            <a:endParaRPr sz="1150">
              <a:highlight>
                <a:schemeClr val="dk1"/>
              </a:highlight>
            </a:endParaRPr>
          </a:p>
          <a:p>
            <a:pPr marL="0" lvl="0" indent="0" algn="l" rtl="0">
              <a:spcBef>
                <a:spcPts val="0"/>
              </a:spcBef>
              <a:spcAft>
                <a:spcPts val="0"/>
              </a:spcAft>
              <a:buNone/>
            </a:pPr>
            <a:r>
              <a:rPr lang="en-US" sz="1150">
                <a:highlight>
                  <a:schemeClr val="dk1"/>
                </a:highlight>
              </a:rPr>
              <a:t>      mov   ecx</a:t>
            </a:r>
            <a:r>
              <a:rPr lang="en-US" sz="1150">
                <a:solidFill>
                  <a:srgbClr val="666600"/>
                </a:solidFill>
                <a:highlight>
                  <a:schemeClr val="dk1"/>
                </a:highlight>
              </a:rPr>
              <a:t>,</a:t>
            </a:r>
            <a:r>
              <a:rPr lang="en-US" sz="1150">
                <a:highlight>
                  <a:schemeClr val="dk1"/>
                </a:highlight>
              </a:rPr>
              <a:t> </a:t>
            </a:r>
            <a:r>
              <a:rPr lang="en-US" sz="1150">
                <a:solidFill>
                  <a:srgbClr val="666600"/>
                </a:solidFill>
                <a:highlight>
                  <a:schemeClr val="dk1"/>
                </a:highlight>
              </a:rPr>
              <a:t>%</a:t>
            </a:r>
            <a:r>
              <a:rPr lang="en-US" sz="1150">
                <a:solidFill>
                  <a:srgbClr val="006666"/>
                </a:solidFill>
                <a:highlight>
                  <a:schemeClr val="dk1"/>
                </a:highlight>
              </a:rPr>
              <a:t>1</a:t>
            </a:r>
            <a:endParaRPr sz="1150">
              <a:highlight>
                <a:schemeClr val="dk1"/>
              </a:highlight>
            </a:endParaRPr>
          </a:p>
          <a:p>
            <a:pPr marL="0" lvl="0" indent="0" algn="l" rtl="0">
              <a:spcBef>
                <a:spcPts val="0"/>
              </a:spcBef>
              <a:spcAft>
                <a:spcPts val="0"/>
              </a:spcAft>
              <a:buNone/>
            </a:pPr>
            <a:r>
              <a:rPr lang="en-US" sz="1150">
                <a:highlight>
                  <a:schemeClr val="dk1"/>
                </a:highlight>
              </a:rPr>
              <a:t>      mov   edx</a:t>
            </a:r>
            <a:r>
              <a:rPr lang="en-US" sz="1150">
                <a:solidFill>
                  <a:srgbClr val="666600"/>
                </a:solidFill>
                <a:highlight>
                  <a:schemeClr val="dk1"/>
                </a:highlight>
              </a:rPr>
              <a:t>,</a:t>
            </a:r>
            <a:r>
              <a:rPr lang="en-US" sz="1150">
                <a:highlight>
                  <a:schemeClr val="dk1"/>
                </a:highlight>
              </a:rPr>
              <a:t> </a:t>
            </a:r>
            <a:r>
              <a:rPr lang="en-US" sz="1150">
                <a:solidFill>
                  <a:srgbClr val="666600"/>
                </a:solidFill>
                <a:highlight>
                  <a:schemeClr val="dk1"/>
                </a:highlight>
              </a:rPr>
              <a:t>%</a:t>
            </a:r>
            <a:r>
              <a:rPr lang="en-US" sz="1150">
                <a:solidFill>
                  <a:srgbClr val="006666"/>
                </a:solidFill>
                <a:highlight>
                  <a:schemeClr val="dk1"/>
                </a:highlight>
              </a:rPr>
              <a:t>2</a:t>
            </a:r>
            <a:endParaRPr sz="1150">
              <a:highlight>
                <a:schemeClr val="dk1"/>
              </a:highlight>
            </a:endParaRPr>
          </a:p>
          <a:p>
            <a:pPr marL="0" lvl="0" indent="0" algn="l" rtl="0">
              <a:spcBef>
                <a:spcPts val="0"/>
              </a:spcBef>
              <a:spcAft>
                <a:spcPts val="0"/>
              </a:spcAft>
              <a:buNone/>
            </a:pPr>
            <a:r>
              <a:rPr lang="en-US" sz="1150">
                <a:highlight>
                  <a:schemeClr val="dk1"/>
                </a:highlight>
              </a:rPr>
              <a:t>      </a:t>
            </a:r>
            <a:r>
              <a:rPr lang="en-US" sz="1150">
                <a:solidFill>
                  <a:srgbClr val="000088"/>
                </a:solidFill>
                <a:highlight>
                  <a:schemeClr val="dk1"/>
                </a:highlight>
              </a:rPr>
              <a:t>int</a:t>
            </a:r>
            <a:r>
              <a:rPr lang="en-US" sz="1150">
                <a:highlight>
                  <a:schemeClr val="dk1"/>
                </a:highlight>
              </a:rPr>
              <a:t>   </a:t>
            </a:r>
            <a:r>
              <a:rPr lang="en-US" sz="1150">
                <a:solidFill>
                  <a:srgbClr val="006666"/>
                </a:solidFill>
                <a:highlight>
                  <a:schemeClr val="dk1"/>
                </a:highlight>
              </a:rPr>
              <a:t>80h</a:t>
            </a:r>
            <a:endParaRPr sz="1150">
              <a:highlight>
                <a:schemeClr val="dk1"/>
              </a:highlight>
            </a:endParaRPr>
          </a:p>
          <a:p>
            <a:pPr marL="0" lvl="0" indent="0" algn="l" rtl="0">
              <a:spcBef>
                <a:spcPts val="0"/>
              </a:spcBef>
              <a:spcAft>
                <a:spcPts val="0"/>
              </a:spcAft>
              <a:buNone/>
            </a:pPr>
            <a:r>
              <a:rPr lang="en-US" sz="1150">
                <a:highlight>
                  <a:schemeClr val="dk1"/>
                </a:highlight>
              </a:rPr>
              <a:t>   </a:t>
            </a:r>
            <a:r>
              <a:rPr lang="en-US" sz="1150">
                <a:solidFill>
                  <a:srgbClr val="666600"/>
                </a:solidFill>
                <a:highlight>
                  <a:schemeClr val="dk1"/>
                </a:highlight>
              </a:rPr>
              <a:t>%</a:t>
            </a:r>
            <a:r>
              <a:rPr lang="en-US" sz="1150">
                <a:highlight>
                  <a:schemeClr val="dk1"/>
                </a:highlight>
              </a:rPr>
              <a:t>endmacro</a:t>
            </a:r>
            <a:endParaRPr sz="1150">
              <a:highlight>
                <a:schemeClr val="dk1"/>
              </a:highlight>
            </a:endParaRPr>
          </a:p>
          <a:p>
            <a:pPr marL="0" lvl="0" indent="0" algn="l" rtl="0">
              <a:spcBef>
                <a:spcPts val="0"/>
              </a:spcBef>
              <a:spcAft>
                <a:spcPts val="0"/>
              </a:spcAft>
              <a:buNone/>
            </a:pPr>
            <a:r>
              <a:rPr lang="en-US" sz="1150">
                <a:highlight>
                  <a:schemeClr val="dk1"/>
                </a:highlight>
              </a:rPr>
              <a:t> </a:t>
            </a:r>
            <a:endParaRPr sz="1150">
              <a:highlight>
                <a:schemeClr val="dk1"/>
              </a:highlight>
            </a:endParaRPr>
          </a:p>
          <a:p>
            <a:pPr marL="0" lvl="0" indent="0" algn="l" rtl="0">
              <a:spcBef>
                <a:spcPts val="0"/>
              </a:spcBef>
              <a:spcAft>
                <a:spcPts val="0"/>
              </a:spcAft>
              <a:buNone/>
            </a:pPr>
            <a:r>
              <a:rPr lang="en-US" sz="1150">
                <a:highlight>
                  <a:schemeClr val="dk1"/>
                </a:highlight>
              </a:rPr>
              <a:t>section	</a:t>
            </a:r>
            <a:r>
              <a:rPr lang="en-US" sz="1150">
                <a:solidFill>
                  <a:srgbClr val="666600"/>
                </a:solidFill>
                <a:highlight>
                  <a:schemeClr val="dk1"/>
                </a:highlight>
              </a:rPr>
              <a:t>.</a:t>
            </a:r>
            <a:r>
              <a:rPr lang="en-US" sz="1150">
                <a:highlight>
                  <a:schemeClr val="dk1"/>
                </a:highlight>
              </a:rPr>
              <a:t>text</a:t>
            </a:r>
            <a:endParaRPr sz="1150">
              <a:highlight>
                <a:schemeClr val="dk1"/>
              </a:highlight>
            </a:endParaRPr>
          </a:p>
          <a:p>
            <a:pPr marL="0" lvl="0" indent="0" algn="l" rtl="0">
              <a:spcBef>
                <a:spcPts val="0"/>
              </a:spcBef>
              <a:spcAft>
                <a:spcPts val="0"/>
              </a:spcAft>
              <a:buNone/>
            </a:pPr>
            <a:r>
              <a:rPr lang="en-US" sz="1150">
                <a:highlight>
                  <a:schemeClr val="dk1"/>
                </a:highlight>
              </a:rPr>
              <a:t>   </a:t>
            </a:r>
            <a:r>
              <a:rPr lang="en-US" sz="1150">
                <a:solidFill>
                  <a:srgbClr val="000088"/>
                </a:solidFill>
                <a:highlight>
                  <a:schemeClr val="dk1"/>
                </a:highlight>
              </a:rPr>
              <a:t>global</a:t>
            </a:r>
            <a:r>
              <a:rPr lang="en-US" sz="1150">
                <a:highlight>
                  <a:schemeClr val="dk1"/>
                </a:highlight>
              </a:rPr>
              <a:t> _start            </a:t>
            </a:r>
            <a:r>
              <a:rPr lang="en-US" sz="1150">
                <a:solidFill>
                  <a:srgbClr val="666600"/>
                </a:solidFill>
                <a:highlight>
                  <a:schemeClr val="dk1"/>
                </a:highlight>
              </a:rPr>
              <a:t>;</a:t>
            </a:r>
            <a:r>
              <a:rPr lang="en-US" sz="1150">
                <a:highlight>
                  <a:schemeClr val="dk1"/>
                </a:highlight>
              </a:rPr>
              <a:t>must be declared </a:t>
            </a:r>
            <a:r>
              <a:rPr lang="en-US" sz="1150">
                <a:solidFill>
                  <a:srgbClr val="000088"/>
                </a:solidFill>
                <a:highlight>
                  <a:schemeClr val="dk1"/>
                </a:highlight>
              </a:rPr>
              <a:t>for</a:t>
            </a:r>
            <a:r>
              <a:rPr lang="en-US" sz="1150">
                <a:highlight>
                  <a:schemeClr val="dk1"/>
                </a:highlight>
              </a:rPr>
              <a:t> </a:t>
            </a:r>
            <a:r>
              <a:rPr lang="en-US" sz="1150">
                <a:solidFill>
                  <a:srgbClr val="000088"/>
                </a:solidFill>
                <a:highlight>
                  <a:schemeClr val="dk1"/>
                </a:highlight>
              </a:rPr>
              <a:t>using</a:t>
            </a:r>
            <a:r>
              <a:rPr lang="en-US" sz="1150">
                <a:highlight>
                  <a:schemeClr val="dk1"/>
                </a:highlight>
              </a:rPr>
              <a:t> gcc</a:t>
            </a:r>
            <a:endParaRPr sz="1150">
              <a:highlight>
                <a:schemeClr val="dk1"/>
              </a:highlight>
            </a:endParaRPr>
          </a:p>
          <a:p>
            <a:pPr marL="0" lvl="0" indent="0" algn="l" rtl="0">
              <a:spcBef>
                <a:spcPts val="0"/>
              </a:spcBef>
              <a:spcAft>
                <a:spcPts val="0"/>
              </a:spcAft>
              <a:buNone/>
            </a:pPr>
            <a:r>
              <a:rPr lang="en-US" sz="1150">
                <a:highlight>
                  <a:schemeClr val="dk1"/>
                </a:highlight>
              </a:rPr>
              <a:t>	</a:t>
            </a:r>
            <a:endParaRPr sz="1150">
              <a:highlight>
                <a:schemeClr val="dk1"/>
              </a:highlight>
            </a:endParaRPr>
          </a:p>
          <a:p>
            <a:pPr marL="0" lvl="0" indent="0" algn="l" rtl="0">
              <a:spcBef>
                <a:spcPts val="0"/>
              </a:spcBef>
              <a:spcAft>
                <a:spcPts val="0"/>
              </a:spcAft>
              <a:buNone/>
            </a:pPr>
            <a:r>
              <a:rPr lang="en-US" sz="1150">
                <a:highlight>
                  <a:schemeClr val="dk1"/>
                </a:highlight>
              </a:rPr>
              <a:t>_start</a:t>
            </a:r>
            <a:r>
              <a:rPr lang="en-US" sz="1150">
                <a:solidFill>
                  <a:srgbClr val="666600"/>
                </a:solidFill>
                <a:highlight>
                  <a:schemeClr val="dk1"/>
                </a:highlight>
              </a:rPr>
              <a:t>:</a:t>
            </a:r>
            <a:r>
              <a:rPr lang="en-US" sz="1150">
                <a:highlight>
                  <a:schemeClr val="dk1"/>
                </a:highlight>
              </a:rPr>
              <a:t>                     </a:t>
            </a:r>
            <a:r>
              <a:rPr lang="en-US" sz="1150">
                <a:solidFill>
                  <a:srgbClr val="666600"/>
                </a:solidFill>
                <a:highlight>
                  <a:schemeClr val="dk1"/>
                </a:highlight>
              </a:rPr>
              <a:t>;</a:t>
            </a:r>
            <a:r>
              <a:rPr lang="en-US" sz="1150">
                <a:highlight>
                  <a:schemeClr val="dk1"/>
                </a:highlight>
              </a:rPr>
              <a:t>tell linker entry point</a:t>
            </a:r>
            <a:endParaRPr sz="1150">
              <a:highlight>
                <a:schemeClr val="dk1"/>
              </a:highlight>
            </a:endParaRPr>
          </a:p>
          <a:p>
            <a:pPr marL="0" lvl="0" indent="0" algn="l" rtl="0">
              <a:spcBef>
                <a:spcPts val="0"/>
              </a:spcBef>
              <a:spcAft>
                <a:spcPts val="0"/>
              </a:spcAft>
              <a:buNone/>
            </a:pPr>
            <a:r>
              <a:rPr lang="en-US" sz="1150">
                <a:highlight>
                  <a:schemeClr val="dk1"/>
                </a:highlight>
              </a:rPr>
              <a:t>   write_string msg1</a:t>
            </a:r>
            <a:r>
              <a:rPr lang="en-US" sz="1150">
                <a:solidFill>
                  <a:srgbClr val="666600"/>
                </a:solidFill>
                <a:highlight>
                  <a:schemeClr val="dk1"/>
                </a:highlight>
              </a:rPr>
              <a:t>,</a:t>
            </a:r>
            <a:r>
              <a:rPr lang="en-US" sz="1150">
                <a:highlight>
                  <a:schemeClr val="dk1"/>
                </a:highlight>
              </a:rPr>
              <a:t> len1               </a:t>
            </a:r>
            <a:endParaRPr sz="1150">
              <a:highlight>
                <a:schemeClr val="dk1"/>
              </a:highlight>
            </a:endParaRPr>
          </a:p>
          <a:p>
            <a:pPr marL="0" lvl="0" indent="0" algn="l" rtl="0">
              <a:spcBef>
                <a:spcPts val="0"/>
              </a:spcBef>
              <a:spcAft>
                <a:spcPts val="0"/>
              </a:spcAft>
              <a:buNone/>
            </a:pPr>
            <a:r>
              <a:rPr lang="en-US" sz="1150">
                <a:highlight>
                  <a:schemeClr val="dk1"/>
                </a:highlight>
              </a:rPr>
              <a:t>   write_string msg2</a:t>
            </a:r>
            <a:r>
              <a:rPr lang="en-US" sz="1150">
                <a:solidFill>
                  <a:srgbClr val="666600"/>
                </a:solidFill>
                <a:highlight>
                  <a:schemeClr val="dk1"/>
                </a:highlight>
              </a:rPr>
              <a:t>,</a:t>
            </a:r>
            <a:r>
              <a:rPr lang="en-US" sz="1150">
                <a:highlight>
                  <a:schemeClr val="dk1"/>
                </a:highlight>
              </a:rPr>
              <a:t> len2    </a:t>
            </a:r>
            <a:endParaRPr sz="1150">
              <a:highlight>
                <a:schemeClr val="dk1"/>
              </a:highlight>
            </a:endParaRPr>
          </a:p>
          <a:p>
            <a:pPr marL="0" lvl="0" indent="0" algn="l" rtl="0">
              <a:spcBef>
                <a:spcPts val="0"/>
              </a:spcBef>
              <a:spcAft>
                <a:spcPts val="0"/>
              </a:spcAft>
              <a:buNone/>
            </a:pPr>
            <a:r>
              <a:rPr lang="en-US" sz="1150">
                <a:highlight>
                  <a:schemeClr val="dk1"/>
                </a:highlight>
              </a:rPr>
              <a:t>   write_string msg3</a:t>
            </a:r>
            <a:r>
              <a:rPr lang="en-US" sz="1150">
                <a:solidFill>
                  <a:srgbClr val="666600"/>
                </a:solidFill>
                <a:highlight>
                  <a:schemeClr val="dk1"/>
                </a:highlight>
              </a:rPr>
              <a:t>,</a:t>
            </a:r>
            <a:r>
              <a:rPr lang="en-US" sz="1150">
                <a:highlight>
                  <a:schemeClr val="dk1"/>
                </a:highlight>
              </a:rPr>
              <a:t> len3  </a:t>
            </a:r>
            <a:endParaRPr sz="1150">
              <a:highlight>
                <a:schemeClr val="dk1"/>
              </a:highlight>
            </a:endParaRPr>
          </a:p>
          <a:p>
            <a:pPr marL="0" lvl="0" indent="0" algn="l" rtl="0">
              <a:spcBef>
                <a:spcPts val="0"/>
              </a:spcBef>
              <a:spcAft>
                <a:spcPts val="0"/>
              </a:spcAft>
              <a:buNone/>
            </a:pPr>
            <a:r>
              <a:rPr lang="en-US" sz="1150">
                <a:highlight>
                  <a:schemeClr val="dk1"/>
                </a:highlight>
              </a:rPr>
              <a:t>	</a:t>
            </a:r>
            <a:endParaRPr sz="1150">
              <a:highlight>
                <a:schemeClr val="dk1"/>
              </a:highlight>
            </a:endParaRPr>
          </a:p>
          <a:p>
            <a:pPr marL="0" lvl="0" indent="0" algn="l" rtl="0">
              <a:spcBef>
                <a:spcPts val="0"/>
              </a:spcBef>
              <a:spcAft>
                <a:spcPts val="0"/>
              </a:spcAft>
              <a:buNone/>
            </a:pPr>
            <a:r>
              <a:rPr lang="en-US" sz="1150">
                <a:highlight>
                  <a:schemeClr val="dk1"/>
                </a:highlight>
              </a:rPr>
              <a:t>   mov eax</a:t>
            </a:r>
            <a:r>
              <a:rPr lang="en-US" sz="1150">
                <a:solidFill>
                  <a:srgbClr val="666600"/>
                </a:solidFill>
                <a:highlight>
                  <a:schemeClr val="dk1"/>
                </a:highlight>
              </a:rPr>
              <a:t>,</a:t>
            </a:r>
            <a:r>
              <a:rPr lang="en-US" sz="1150">
                <a:solidFill>
                  <a:srgbClr val="006666"/>
                </a:solidFill>
                <a:highlight>
                  <a:schemeClr val="dk1"/>
                </a:highlight>
              </a:rPr>
              <a:t>1</a:t>
            </a:r>
            <a:r>
              <a:rPr lang="en-US" sz="1150">
                <a:highlight>
                  <a:schemeClr val="dk1"/>
                </a:highlight>
              </a:rPr>
              <a:t>                </a:t>
            </a:r>
            <a:r>
              <a:rPr lang="en-US" sz="1150">
                <a:solidFill>
                  <a:srgbClr val="666600"/>
                </a:solidFill>
                <a:highlight>
                  <a:schemeClr val="dk1"/>
                </a:highlight>
              </a:rPr>
              <a:t>;</a:t>
            </a:r>
            <a:r>
              <a:rPr lang="en-US" sz="1150">
                <a:highlight>
                  <a:schemeClr val="dk1"/>
                </a:highlight>
              </a:rPr>
              <a:t>system call number </a:t>
            </a:r>
            <a:r>
              <a:rPr lang="en-US" sz="1150">
                <a:solidFill>
                  <a:srgbClr val="666600"/>
                </a:solidFill>
                <a:highlight>
                  <a:schemeClr val="dk1"/>
                </a:highlight>
              </a:rPr>
              <a:t>(</a:t>
            </a:r>
            <a:r>
              <a:rPr lang="en-US" sz="1150">
                <a:highlight>
                  <a:schemeClr val="dk1"/>
                </a:highlight>
              </a:rPr>
              <a:t>sys_exit</a:t>
            </a:r>
            <a:r>
              <a:rPr lang="en-US" sz="1150">
                <a:solidFill>
                  <a:srgbClr val="666600"/>
                </a:solidFill>
                <a:highlight>
                  <a:schemeClr val="dk1"/>
                </a:highlight>
              </a:rPr>
              <a:t>)</a:t>
            </a:r>
            <a:endParaRPr sz="1150">
              <a:highlight>
                <a:schemeClr val="dk1"/>
              </a:highlight>
            </a:endParaRPr>
          </a:p>
          <a:p>
            <a:pPr marL="0" lvl="0" indent="0" algn="l" rtl="0">
              <a:spcBef>
                <a:spcPts val="0"/>
              </a:spcBef>
              <a:spcAft>
                <a:spcPts val="0"/>
              </a:spcAft>
              <a:buNone/>
            </a:pPr>
            <a:r>
              <a:rPr lang="en-US" sz="1150">
                <a:highlight>
                  <a:schemeClr val="dk1"/>
                </a:highlight>
              </a:rPr>
              <a:t>   </a:t>
            </a:r>
            <a:r>
              <a:rPr lang="en-US" sz="1150">
                <a:solidFill>
                  <a:srgbClr val="000088"/>
                </a:solidFill>
                <a:highlight>
                  <a:schemeClr val="dk1"/>
                </a:highlight>
              </a:rPr>
              <a:t>int</a:t>
            </a:r>
            <a:r>
              <a:rPr lang="en-US" sz="1150">
                <a:highlight>
                  <a:schemeClr val="dk1"/>
                </a:highlight>
              </a:rPr>
              <a:t> </a:t>
            </a:r>
            <a:r>
              <a:rPr lang="en-US" sz="1150">
                <a:solidFill>
                  <a:srgbClr val="006666"/>
                </a:solidFill>
                <a:highlight>
                  <a:schemeClr val="dk1"/>
                </a:highlight>
              </a:rPr>
              <a:t>0x80</a:t>
            </a:r>
            <a:r>
              <a:rPr lang="en-US" sz="1150">
                <a:highlight>
                  <a:schemeClr val="dk1"/>
                </a:highlight>
              </a:rPr>
              <a:t>                 </a:t>
            </a:r>
            <a:r>
              <a:rPr lang="en-US" sz="1150">
                <a:solidFill>
                  <a:srgbClr val="666600"/>
                </a:solidFill>
                <a:highlight>
                  <a:schemeClr val="dk1"/>
                </a:highlight>
              </a:rPr>
              <a:t>;</a:t>
            </a:r>
            <a:r>
              <a:rPr lang="en-US" sz="1150">
                <a:highlight>
                  <a:schemeClr val="dk1"/>
                </a:highlight>
              </a:rPr>
              <a:t>call kernel</a:t>
            </a:r>
            <a:endParaRPr sz="1150">
              <a:highlight>
                <a:schemeClr val="dk1"/>
              </a:highlight>
            </a:endParaRPr>
          </a:p>
          <a:p>
            <a:pPr marL="0" lvl="0" indent="0" algn="l" rtl="0">
              <a:spcBef>
                <a:spcPts val="0"/>
              </a:spcBef>
              <a:spcAft>
                <a:spcPts val="0"/>
              </a:spcAft>
              <a:buNone/>
            </a:pPr>
            <a:endParaRPr sz="1150">
              <a:highlight>
                <a:schemeClr val="dk1"/>
              </a:highlight>
            </a:endParaRPr>
          </a:p>
          <a:p>
            <a:pPr marL="0" lvl="0" indent="0" algn="l" rtl="0">
              <a:spcBef>
                <a:spcPts val="0"/>
              </a:spcBef>
              <a:spcAft>
                <a:spcPts val="0"/>
              </a:spcAft>
              <a:buNone/>
            </a:pPr>
            <a:r>
              <a:rPr lang="en-US" sz="1150">
                <a:highlight>
                  <a:schemeClr val="dk1"/>
                </a:highlight>
              </a:rPr>
              <a:t>section	</a:t>
            </a:r>
            <a:r>
              <a:rPr lang="en-US" sz="1150">
                <a:solidFill>
                  <a:srgbClr val="666600"/>
                </a:solidFill>
                <a:highlight>
                  <a:schemeClr val="dk1"/>
                </a:highlight>
              </a:rPr>
              <a:t>.</a:t>
            </a:r>
            <a:r>
              <a:rPr lang="en-US" sz="1150">
                <a:highlight>
                  <a:schemeClr val="dk1"/>
                </a:highlight>
              </a:rPr>
              <a:t>data</a:t>
            </a:r>
            <a:endParaRPr sz="1150">
              <a:highlight>
                <a:schemeClr val="dk1"/>
              </a:highlight>
            </a:endParaRPr>
          </a:p>
          <a:p>
            <a:pPr marL="0" lvl="0" indent="0" algn="l" rtl="0">
              <a:spcBef>
                <a:spcPts val="0"/>
              </a:spcBef>
              <a:spcAft>
                <a:spcPts val="0"/>
              </a:spcAft>
              <a:buNone/>
            </a:pPr>
            <a:r>
              <a:rPr lang="en-US" sz="1150">
                <a:highlight>
                  <a:schemeClr val="dk1"/>
                </a:highlight>
              </a:rPr>
              <a:t>msg1 db	</a:t>
            </a:r>
            <a:r>
              <a:rPr lang="en-US" sz="1150">
                <a:solidFill>
                  <a:srgbClr val="008800"/>
                </a:solidFill>
                <a:highlight>
                  <a:schemeClr val="dk1"/>
                </a:highlight>
              </a:rPr>
              <a:t>'Hello, programmers!'</a:t>
            </a:r>
            <a:r>
              <a:rPr lang="en-US" sz="1150">
                <a:solidFill>
                  <a:srgbClr val="666600"/>
                </a:solidFill>
                <a:highlight>
                  <a:schemeClr val="dk1"/>
                </a:highlight>
              </a:rPr>
              <a:t>,</a:t>
            </a:r>
            <a:r>
              <a:rPr lang="en-US" sz="1150">
                <a:solidFill>
                  <a:srgbClr val="006666"/>
                </a:solidFill>
                <a:highlight>
                  <a:schemeClr val="dk1"/>
                </a:highlight>
              </a:rPr>
              <a:t>0xA</a:t>
            </a:r>
            <a:r>
              <a:rPr lang="en-US" sz="1150">
                <a:solidFill>
                  <a:srgbClr val="666600"/>
                </a:solidFill>
                <a:highlight>
                  <a:schemeClr val="dk1"/>
                </a:highlight>
              </a:rPr>
              <a:t>,</a:t>
            </a:r>
            <a:r>
              <a:rPr lang="en-US" sz="1150">
                <a:solidFill>
                  <a:srgbClr val="006666"/>
                </a:solidFill>
                <a:highlight>
                  <a:schemeClr val="dk1"/>
                </a:highlight>
              </a:rPr>
              <a:t>0xD</a:t>
            </a:r>
            <a:r>
              <a:rPr lang="en-US" sz="1150">
                <a:highlight>
                  <a:schemeClr val="dk1"/>
                </a:highlight>
              </a:rPr>
              <a:t> 	</a:t>
            </a:r>
            <a:endParaRPr sz="1150">
              <a:highlight>
                <a:schemeClr val="dk1"/>
              </a:highlight>
            </a:endParaRPr>
          </a:p>
          <a:p>
            <a:pPr marL="0" lvl="0" indent="0" algn="l" rtl="0">
              <a:spcBef>
                <a:spcPts val="0"/>
              </a:spcBef>
              <a:spcAft>
                <a:spcPts val="0"/>
              </a:spcAft>
              <a:buNone/>
            </a:pPr>
            <a:r>
              <a:rPr lang="en-US" sz="1150">
                <a:highlight>
                  <a:schemeClr val="dk1"/>
                </a:highlight>
              </a:rPr>
              <a:t>len1 equ $ </a:t>
            </a:r>
            <a:r>
              <a:rPr lang="en-US" sz="1150">
                <a:solidFill>
                  <a:srgbClr val="666600"/>
                </a:solidFill>
                <a:highlight>
                  <a:schemeClr val="dk1"/>
                </a:highlight>
              </a:rPr>
              <a:t>-</a:t>
            </a:r>
            <a:r>
              <a:rPr lang="en-US" sz="1150">
                <a:highlight>
                  <a:schemeClr val="dk1"/>
                </a:highlight>
              </a:rPr>
              <a:t> msg1			</a:t>
            </a:r>
            <a:endParaRPr sz="1150">
              <a:highlight>
                <a:schemeClr val="dk1"/>
              </a:highlight>
            </a:endParaRPr>
          </a:p>
          <a:p>
            <a:pPr marL="0" lvl="0" indent="0" algn="l" rtl="0">
              <a:spcBef>
                <a:spcPts val="0"/>
              </a:spcBef>
              <a:spcAft>
                <a:spcPts val="0"/>
              </a:spcAft>
              <a:buNone/>
            </a:pPr>
            <a:endParaRPr sz="1150">
              <a:highlight>
                <a:schemeClr val="dk1"/>
              </a:highlight>
            </a:endParaRPr>
          </a:p>
          <a:p>
            <a:pPr marL="0" lvl="0" indent="0" algn="l" rtl="0">
              <a:spcBef>
                <a:spcPts val="0"/>
              </a:spcBef>
              <a:spcAft>
                <a:spcPts val="0"/>
              </a:spcAft>
              <a:buNone/>
            </a:pPr>
            <a:r>
              <a:rPr lang="en-US" sz="1150">
                <a:highlight>
                  <a:schemeClr val="dk1"/>
                </a:highlight>
              </a:rPr>
              <a:t>msg2 db </a:t>
            </a:r>
            <a:r>
              <a:rPr lang="en-US" sz="1150">
                <a:solidFill>
                  <a:srgbClr val="008800"/>
                </a:solidFill>
                <a:highlight>
                  <a:schemeClr val="dk1"/>
                </a:highlight>
              </a:rPr>
              <a:t>'Welcome to the world of,'</a:t>
            </a:r>
            <a:r>
              <a:rPr lang="en-US" sz="1150">
                <a:solidFill>
                  <a:srgbClr val="666600"/>
                </a:solidFill>
                <a:highlight>
                  <a:schemeClr val="dk1"/>
                </a:highlight>
              </a:rPr>
              <a:t>,</a:t>
            </a:r>
            <a:r>
              <a:rPr lang="en-US" sz="1150">
                <a:highlight>
                  <a:schemeClr val="dk1"/>
                </a:highlight>
              </a:rPr>
              <a:t> </a:t>
            </a:r>
            <a:r>
              <a:rPr lang="en-US" sz="1150">
                <a:solidFill>
                  <a:srgbClr val="006666"/>
                </a:solidFill>
                <a:highlight>
                  <a:schemeClr val="dk1"/>
                </a:highlight>
              </a:rPr>
              <a:t>0xA</a:t>
            </a:r>
            <a:r>
              <a:rPr lang="en-US" sz="1150">
                <a:solidFill>
                  <a:srgbClr val="666600"/>
                </a:solidFill>
                <a:highlight>
                  <a:schemeClr val="dk1"/>
                </a:highlight>
              </a:rPr>
              <a:t>,</a:t>
            </a:r>
            <a:r>
              <a:rPr lang="en-US" sz="1150">
                <a:solidFill>
                  <a:srgbClr val="006666"/>
                </a:solidFill>
                <a:highlight>
                  <a:schemeClr val="dk1"/>
                </a:highlight>
              </a:rPr>
              <a:t>0xD</a:t>
            </a:r>
            <a:r>
              <a:rPr lang="en-US" sz="1150">
                <a:highlight>
                  <a:schemeClr val="dk1"/>
                </a:highlight>
              </a:rPr>
              <a:t> </a:t>
            </a:r>
            <a:endParaRPr sz="1150">
              <a:highlight>
                <a:schemeClr val="dk1"/>
              </a:highlight>
            </a:endParaRPr>
          </a:p>
          <a:p>
            <a:pPr marL="0" lvl="0" indent="0" algn="l" rtl="0">
              <a:spcBef>
                <a:spcPts val="0"/>
              </a:spcBef>
              <a:spcAft>
                <a:spcPts val="0"/>
              </a:spcAft>
              <a:buNone/>
            </a:pPr>
            <a:r>
              <a:rPr lang="en-US" sz="1150">
                <a:highlight>
                  <a:schemeClr val="dk1"/>
                </a:highlight>
              </a:rPr>
              <a:t>len2 equ $</a:t>
            </a:r>
            <a:r>
              <a:rPr lang="en-US" sz="1150">
                <a:solidFill>
                  <a:srgbClr val="666600"/>
                </a:solidFill>
                <a:highlight>
                  <a:schemeClr val="dk1"/>
                </a:highlight>
              </a:rPr>
              <a:t>-</a:t>
            </a:r>
            <a:r>
              <a:rPr lang="en-US" sz="1150">
                <a:highlight>
                  <a:schemeClr val="dk1"/>
                </a:highlight>
              </a:rPr>
              <a:t> msg2 </a:t>
            </a:r>
            <a:endParaRPr sz="1150">
              <a:highlight>
                <a:schemeClr val="dk1"/>
              </a:highlight>
            </a:endParaRPr>
          </a:p>
          <a:p>
            <a:pPr marL="0" lvl="0" indent="0" algn="l" rtl="0">
              <a:spcBef>
                <a:spcPts val="0"/>
              </a:spcBef>
              <a:spcAft>
                <a:spcPts val="0"/>
              </a:spcAft>
              <a:buNone/>
            </a:pPr>
            <a:endParaRPr sz="1150">
              <a:highlight>
                <a:schemeClr val="dk1"/>
              </a:highlight>
            </a:endParaRPr>
          </a:p>
          <a:p>
            <a:pPr marL="0" lvl="0" indent="0" algn="l" rtl="0">
              <a:spcBef>
                <a:spcPts val="0"/>
              </a:spcBef>
              <a:spcAft>
                <a:spcPts val="0"/>
              </a:spcAft>
              <a:buNone/>
            </a:pPr>
            <a:r>
              <a:rPr lang="en-US" sz="1150">
                <a:highlight>
                  <a:schemeClr val="dk1"/>
                </a:highlight>
              </a:rPr>
              <a:t>msg3 db </a:t>
            </a:r>
            <a:r>
              <a:rPr lang="en-US" sz="1150">
                <a:solidFill>
                  <a:srgbClr val="008800"/>
                </a:solidFill>
                <a:highlight>
                  <a:schemeClr val="dk1"/>
                </a:highlight>
              </a:rPr>
              <a:t>'Linux assembly programming! '</a:t>
            </a:r>
            <a:endParaRPr sz="1150">
              <a:highlight>
                <a:schemeClr val="dk1"/>
              </a:highlight>
            </a:endParaRPr>
          </a:p>
          <a:p>
            <a:pPr marL="25400" marR="25400" lvl="0" indent="0" algn="l" rtl="0">
              <a:lnSpc>
                <a:spcPct val="115000"/>
              </a:lnSpc>
              <a:spcBef>
                <a:spcPts val="0"/>
              </a:spcBef>
              <a:spcAft>
                <a:spcPts val="0"/>
              </a:spcAft>
              <a:buNone/>
            </a:pPr>
            <a:r>
              <a:rPr lang="en-US" sz="1150">
                <a:highlight>
                  <a:schemeClr val="dk1"/>
                </a:highlight>
              </a:rPr>
              <a:t>len3 equ $</a:t>
            </a:r>
            <a:r>
              <a:rPr lang="en-US" sz="1150">
                <a:solidFill>
                  <a:srgbClr val="666600"/>
                </a:solidFill>
                <a:highlight>
                  <a:schemeClr val="dk1"/>
                </a:highlight>
              </a:rPr>
              <a:t>-</a:t>
            </a:r>
            <a:r>
              <a:rPr lang="en-US" sz="1150">
                <a:highlight>
                  <a:schemeClr val="dk1"/>
                </a:highlight>
              </a:rPr>
              <a:t> msg3</a:t>
            </a:r>
            <a:endParaRPr sz="1150">
              <a:highlight>
                <a:schemeClr val="dk1"/>
              </a:highlight>
            </a:endParaRPr>
          </a:p>
          <a:p>
            <a:pPr marL="0" lvl="0" indent="0" algn="just" rtl="0">
              <a:lnSpc>
                <a:spcPct val="160000"/>
              </a:lnSpc>
              <a:spcBef>
                <a:spcPts val="600"/>
              </a:spcBef>
              <a:spcAft>
                <a:spcPts val="0"/>
              </a:spcAft>
              <a:buNone/>
            </a:pPr>
            <a:r>
              <a:rPr lang="en-US" sz="1200">
                <a:highlight>
                  <a:schemeClr val="dk1"/>
                </a:highlight>
                <a:latin typeface="Nunito"/>
                <a:ea typeface="Nunito"/>
                <a:cs typeface="Nunito"/>
                <a:sym typeface="Nunito"/>
              </a:rPr>
              <a:t>When the above code is compiled and executed, it produces the following result −</a:t>
            </a:r>
            <a:endParaRPr sz="1200">
              <a:highlight>
                <a:schemeClr val="dk1"/>
              </a:highlight>
              <a:latin typeface="Nunito"/>
              <a:ea typeface="Nunito"/>
              <a:cs typeface="Nunito"/>
              <a:sym typeface="Nunito"/>
            </a:endParaRPr>
          </a:p>
          <a:p>
            <a:pPr marL="0" lvl="0" indent="0" algn="l" rtl="0">
              <a:spcBef>
                <a:spcPts val="700"/>
              </a:spcBef>
              <a:spcAft>
                <a:spcPts val="0"/>
              </a:spcAft>
              <a:buNone/>
            </a:pPr>
            <a:r>
              <a:rPr lang="en-US" sz="1150">
                <a:highlight>
                  <a:schemeClr val="dk1"/>
                </a:highlight>
              </a:rPr>
              <a:t>Hello, programmers!              Welcome to the world of,                 Linux assembly programming!</a:t>
            </a:r>
            <a:endParaRPr sz="1150">
              <a:highlight>
                <a:schemeClr val="dk1"/>
              </a:highlight>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pic>
        <p:nvPicPr>
          <p:cNvPr id="894" name="Google Shape;894;g20fbd105335_0_0"/>
          <p:cNvPicPr preferRelativeResize="0"/>
          <p:nvPr/>
        </p:nvPicPr>
        <p:blipFill>
          <a:blip r:embed="rId3">
            <a:alphaModFix/>
          </a:blip>
          <a:stretch>
            <a:fillRect/>
          </a:stretch>
        </p:blipFill>
        <p:spPr>
          <a:xfrm>
            <a:off x="152400" y="152400"/>
            <a:ext cx="10155375" cy="6165275"/>
          </a:xfrm>
          <a:prstGeom prst="rect">
            <a:avLst/>
          </a:prstGeom>
          <a:noFill/>
          <a:ln>
            <a:noFill/>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pic>
        <p:nvPicPr>
          <p:cNvPr id="901" name="Google Shape;901;p74"/>
          <p:cNvPicPr preferRelativeResize="0"/>
          <p:nvPr/>
        </p:nvPicPr>
        <p:blipFill rotWithShape="1">
          <a:blip r:embed="rId3">
            <a:alphaModFix/>
          </a:blip>
          <a:srcRect/>
          <a:stretch/>
        </p:blipFill>
        <p:spPr>
          <a:xfrm>
            <a:off x="8642351" y="1903414"/>
            <a:ext cx="2159000" cy="1552575"/>
          </a:xfrm>
          <a:prstGeom prst="rect">
            <a:avLst/>
          </a:prstGeom>
          <a:noFill/>
          <a:ln>
            <a:noFill/>
          </a:ln>
        </p:spPr>
      </p:pic>
      <p:pic>
        <p:nvPicPr>
          <p:cNvPr id="902" name="Google Shape;902;p74"/>
          <p:cNvPicPr preferRelativeResize="0"/>
          <p:nvPr/>
        </p:nvPicPr>
        <p:blipFill rotWithShape="1">
          <a:blip r:embed="rId4">
            <a:alphaModFix/>
          </a:blip>
          <a:srcRect/>
          <a:stretch/>
        </p:blipFill>
        <p:spPr>
          <a:xfrm>
            <a:off x="2950634" y="2382838"/>
            <a:ext cx="5818717" cy="1135062"/>
          </a:xfrm>
          <a:prstGeom prst="rect">
            <a:avLst/>
          </a:prstGeom>
          <a:noFill/>
          <a:ln>
            <a:noFill/>
          </a:ln>
        </p:spPr>
      </p:pic>
      <p:sp>
        <p:nvSpPr>
          <p:cNvPr id="903" name="Google Shape;903;p74"/>
          <p:cNvSpPr txBox="1"/>
          <p:nvPr/>
        </p:nvSpPr>
        <p:spPr>
          <a:xfrm>
            <a:off x="10566400" y="6356351"/>
            <a:ext cx="1016000" cy="365125"/>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404924"/>
              </a:buClr>
              <a:buSzPts val="1200"/>
              <a:buFont typeface="Constantia"/>
              <a:buNone/>
            </a:pPr>
            <a:fld id="{00000000-1234-1234-1234-123412341234}" type="slidenum">
              <a:rPr lang="en-US" sz="1200" b="0" i="0" u="none" strike="noStrike" cap="none">
                <a:solidFill>
                  <a:srgbClr val="404924"/>
                </a:solidFill>
                <a:latin typeface="Constantia"/>
                <a:ea typeface="Constantia"/>
                <a:cs typeface="Constantia"/>
                <a:sym typeface="Constantia"/>
              </a:rPr>
              <a:t>74</a:t>
            </a:fld>
            <a:endParaRPr sz="1200" b="0" i="0" u="none" strike="noStrike" cap="none">
              <a:solidFill>
                <a:srgbClr val="404924"/>
              </a:solidFill>
              <a:latin typeface="Constantia"/>
              <a:ea typeface="Constantia"/>
              <a:cs typeface="Constantia"/>
              <a:sym typeface="Constantia"/>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828</TotalTime>
  <Words>5038</Words>
  <Application>Microsoft Office PowerPoint</Application>
  <PresentationFormat>Widescreen</PresentationFormat>
  <Paragraphs>736</Paragraphs>
  <Slides>74</Slides>
  <Notes>63</Notes>
  <HiddenSlides>1</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74</vt:i4>
      </vt:variant>
    </vt:vector>
  </HeadingPairs>
  <TitlesOfParts>
    <vt:vector size="87" baseType="lpstr">
      <vt:lpstr>Century Gothic</vt:lpstr>
      <vt:lpstr>Noto Sans Symbols</vt:lpstr>
      <vt:lpstr>Courier New</vt:lpstr>
      <vt:lpstr>inherit</vt:lpstr>
      <vt:lpstr>Times New Roman</vt:lpstr>
      <vt:lpstr>Constantia</vt:lpstr>
      <vt:lpstr>Calibri</vt:lpstr>
      <vt:lpstr>Consolas</vt:lpstr>
      <vt:lpstr>Arial</vt:lpstr>
      <vt:lpstr>Verdana</vt:lpstr>
      <vt:lpstr>Nunito</vt:lpstr>
      <vt:lpstr>Helvetica Neue Light</vt:lpstr>
      <vt:lpstr>Shift</vt:lpstr>
      <vt:lpstr>PowerPoint Presentation</vt:lpstr>
      <vt:lpstr>PowerPoint Presentation</vt:lpstr>
      <vt:lpstr>PowerPoint Presentation</vt:lpstr>
      <vt:lpstr>Types of addressing mode in 8086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Binu Joy</dc:creator>
  <cp:lastModifiedBy>danashree@gmail.com</cp:lastModifiedBy>
  <cp:revision>20</cp:revision>
  <dcterms:created xsi:type="dcterms:W3CDTF">2017-10-08T00:35:39Z</dcterms:created>
  <dcterms:modified xsi:type="dcterms:W3CDTF">2025-01-31T06:03:14Z</dcterms:modified>
</cp:coreProperties>
</file>